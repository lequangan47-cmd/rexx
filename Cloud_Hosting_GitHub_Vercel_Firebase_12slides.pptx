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9" r:id="rId7"/>
    <p:sldId id="270" r:id="rId8"/>
    <p:sldId id="262" r:id="rId9"/>
    <p:sldId id="263" r:id="rId10"/>
    <p:sldId id="271" r:id="rId11"/>
    <p:sldId id="272" r:id="rId12"/>
    <p:sldId id="264" r:id="rId13"/>
    <p:sldId id="265" r:id="rId14"/>
    <p:sldId id="266" r:id="rId15"/>
    <p:sldId id="273" r:id="rId16"/>
    <p:sldId id="275" r:id="rId17"/>
    <p:sldId id="274" r:id="rId18"/>
    <p:sldId id="276" r:id="rId19"/>
    <p:sldId id="277" r:id="rId20"/>
    <p:sldId id="278" r:id="rId21"/>
    <p:sldId id="279" r:id="rId22"/>
    <p:sldId id="280" r:id="rId23"/>
    <p:sldId id="281" r:id="rId24"/>
    <p:sldId id="282" r:id="rId25"/>
    <p:sldId id="267"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21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26:09.47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26:10.04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26:10.542"/>
    </inkml:context>
    <inkml:brush xml:id="br0">
      <inkml:brushProperty name="width" value="0.035" units="cm"/>
      <inkml:brushProperty name="height" value="0.035" units="cm"/>
      <inkml:brushProperty name="color" value="#E71224"/>
    </inkml:brush>
  </inkml:definitions>
  <inkml:trace contextRef="#ctx0" brushRef="#br0">15 0 24575,'-6'0'0,"-2"0"-8191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26:13.340"/>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600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thầy/cô và các bạn. Trong bài này, em trình bày một quy trình triển khai website đơn giản trên nền tảng điện toán đám mây.
Chúng ta sẽ đi theo một luồng cụ thể: lưu mã nguồn trên GitHub, triển khai website bằng Vercel và sử dụng Firebase làm cơ sở dữ liệu trên Cloud.
Mục tiêu là sau phần trình bày, người mới vẫn có thể hình dung và tự thực hiện được quy trình cơ bản.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bài này, em tập trung vào một ứng dụng cụ thể của điện toán đám mây là Cloud Hosting cho website.
Thay vì website chỉ chạy trên máy tính cá nhân, chúng ta đưa website lên hệ thống máy chủ của nhà cung cấp Cloud để người dùng có thể truy cập qua Internet.
Điểm thuận tiện là chúng ta không cần tự mua máy chủ, cài hệ điều hành hay tự vận hành toàn bộ hạ tầng.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trúc tổng quát của bài thực hành.
GitHub được dùng để lưu và quản lý mã nguồn. Vercel đảm nhiệm phần triển khai và hosting website. Firebase cung cấp dịch vụ Cloud, trong đó Firestore được dùng làm database.
Điểm cần nhớ là các thành phần không thay thế nhau mà phối hợp để tạo thành một ứng dụng hoàn chỉnh.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thực hành, chúng ta chỉ cần một project web đơn giản và các tài khoản cần thiết.
Ví dụ project có thể gồm index.html, style.css, script.js và README.md. Với project dùng framework thì cấu trúc có thể khác, nhưng quy trình Cloud vẫn tương tự.
Ở đây em ưu tiên cách làm dễ hiểu nhất cho người mới.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đầu tiên là đưa source code lên GitHub.
Với người mới, cách đơn giản nhất là tạo repository rồi dùng Add file và Upload files để kéo thả project. Không cần dùng CMD nếu chỉ cần thực hiện một lần.
Tuy nhiên, cần chú ý không upload thư mục node_modules hoặc các file chứa secret như .env.</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EFA52-CB85-4D8A-CCB1-49A2F1031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33A3A-AB11-89ED-7147-BF637BE3CA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B4EE7-7B64-2D43-566A-1311BAD3245A}"/>
              </a:ext>
            </a:extLst>
          </p:cNvPr>
          <p:cNvSpPr>
            <a:spLocks noGrp="1"/>
          </p:cNvSpPr>
          <p:nvPr>
            <p:ph type="body" idx="1"/>
          </p:nvPr>
        </p:nvSpPr>
        <p:spPr/>
        <p:txBody>
          <a:bodyPr/>
          <a:lstStyle/>
          <a:p>
            <a:r>
              <a:rPr lang="en-US" dirty="0"/>
              <a:t>Bước đầu tiên là đưa source code lên GitHub.
Với người mới, cách đơn giản nhất là tạo repository rồi dùng Add file và Upload files để kéo thả project. Không cần dùng CMD nếu chỉ cần thực hiện một lần.
Tuy nhiên, cần chú ý không upload thư mục node_modules hoặc các file chứa secret như .env.</a:t>
            </a:r>
          </a:p>
        </p:txBody>
      </p:sp>
      <p:sp>
        <p:nvSpPr>
          <p:cNvPr id="4" name="Slide Number Placeholder 3">
            <a:extLst>
              <a:ext uri="{FF2B5EF4-FFF2-40B4-BE49-F238E27FC236}">
                <a16:creationId xmlns:a16="http://schemas.microsoft.com/office/drawing/2014/main" id="{9BD61FFA-B42A-9341-C2A6-DEB35E03495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718249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56507-BA76-0316-7367-96E413964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10B90E-1CBD-F7A7-1FD6-83973900D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EA4F1-B294-B054-D26E-93C4DEF115D6}"/>
              </a:ext>
            </a:extLst>
          </p:cNvPr>
          <p:cNvSpPr>
            <a:spLocks noGrp="1"/>
          </p:cNvSpPr>
          <p:nvPr>
            <p:ph type="body" idx="1"/>
          </p:nvPr>
        </p:nvSpPr>
        <p:spPr/>
        <p:txBody>
          <a:bodyPr/>
          <a:lstStyle/>
          <a:p>
            <a:r>
              <a:rPr lang="en-US" dirty="0"/>
              <a:t>Bước đầu tiên là đưa source code lên GitHub.
Với người mới, cách đơn giản nhất là tạo repository rồi dùng Add file và Upload files để kéo thả project. Không cần dùng CMD nếu chỉ cần thực hiện một lần.
Tuy nhiên, cần chú ý không upload thư mục node_modules hoặc các file chứa secret như .env.</a:t>
            </a:r>
          </a:p>
        </p:txBody>
      </p:sp>
      <p:sp>
        <p:nvSpPr>
          <p:cNvPr id="4" name="Slide Number Placeholder 3">
            <a:extLst>
              <a:ext uri="{FF2B5EF4-FFF2-40B4-BE49-F238E27FC236}">
                <a16:creationId xmlns:a16="http://schemas.microsoft.com/office/drawing/2014/main" id="{B37C9CBA-82FE-9399-5727-0F17634BD1F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901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source code đã có trên GitHub, chúng ta cần một dịch vụ để triển khai website ra Internet.
Vercel đảm nhận phần này. Có thể hiểu đơn giản: Vercel lấy code, build nếu cần, sau đó deploy thành website có thể truy cập qua Internet.
Điểm đáng chú ý là quá trình này có thể gắn với repository GitHub để việc cập nhật được tự động hóa.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Vercel, chúng ta chọn Add New rồi Project và kết nối với GitHub.
Sau khi cấp quyền, chọn đúng repository cần triển khai. Với project HTML, CSS, JavaScript đơn giản, Vercel thường có thể tự nhận diện cấu hình phù hợp.
Đây là bước nối giữa kho source code và môi trường Cloud Hosting.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8E8F0-4C2C-E1B5-1487-E0134D9B4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98745-035B-C720-5B28-BFFA5A4D8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51944B-343D-0705-D0C1-DB18A9A72AEB}"/>
              </a:ext>
            </a:extLst>
          </p:cNvPr>
          <p:cNvSpPr>
            <a:spLocks noGrp="1"/>
          </p:cNvSpPr>
          <p:nvPr>
            <p:ph type="body" idx="1"/>
          </p:nvPr>
        </p:nvSpPr>
        <p:spPr/>
        <p:txBody>
          <a:bodyPr/>
          <a:lstStyle/>
          <a:p>
            <a:r>
              <a:rPr lang="en-US" dirty="0"/>
              <a:t>Trên Vercel, chúng ta chọn Add New rồi Project và kết nối với GitHub.
Sau khi cấp quyền, chọn đúng repository cần triển khai. Với project HTML, CSS, JavaScript đơn giản, Vercel thường có thể tự nhận diện cấu hình phù hợp.
Đây là bước nối giữa kho source code và môi trường Cloud Hosting.</a:t>
            </a:r>
          </a:p>
        </p:txBody>
      </p:sp>
      <p:sp>
        <p:nvSpPr>
          <p:cNvPr id="4" name="Slide Number Placeholder 3">
            <a:extLst>
              <a:ext uri="{FF2B5EF4-FFF2-40B4-BE49-F238E27FC236}">
                <a16:creationId xmlns:a16="http://schemas.microsoft.com/office/drawing/2014/main" id="{5F1146CC-46CE-BC67-4409-AD0120E3E1E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59702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7695A-0A3F-7BF7-C65F-4E9828CB5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5E16D-B746-8D59-EFBA-BA24A0DB82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15540-9A51-11AB-E4C2-C96510E6E41F}"/>
              </a:ext>
            </a:extLst>
          </p:cNvPr>
          <p:cNvSpPr>
            <a:spLocks noGrp="1"/>
          </p:cNvSpPr>
          <p:nvPr>
            <p:ph type="body" idx="1"/>
          </p:nvPr>
        </p:nvSpPr>
        <p:spPr/>
        <p:txBody>
          <a:bodyPr/>
          <a:lstStyle/>
          <a:p>
            <a:r>
              <a:rPr lang="en-US" dirty="0"/>
              <a:t>Trên Vercel, chúng ta chọn Add New rồi Project và kết nối với GitHub.
Sau khi cấp quyền, chọn đúng repository cần triển khai. Với project HTML, CSS, JavaScript đơn giản, Vercel thường có thể tự nhận diện cấu hình phù hợp.
Đây là bước nối giữa kho source code và môi trường Cloud Hosting.</a:t>
            </a:r>
          </a:p>
        </p:txBody>
      </p:sp>
      <p:sp>
        <p:nvSpPr>
          <p:cNvPr id="4" name="Slide Number Placeholder 3">
            <a:extLst>
              <a:ext uri="{FF2B5EF4-FFF2-40B4-BE49-F238E27FC236}">
                <a16:creationId xmlns:a16="http://schemas.microsoft.com/office/drawing/2014/main" id="{B5311D3C-69CA-319C-3ACE-73E71F94C28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15031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bấm Deploy, Vercel thực hiện quá trình build và tạo deployment.
Khi deployment thành công, website có một URL để người dùng truy cập.
Điểm quan trọng nhất là luồng cập nhật: sửa code, commit, push lên GitHub, sau đó Vercel có thể tự tạo deployment mới. Đây là một dạng tự động hóa triển khai cơ bản.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website đã online, ứng dụng thường cần một nơi để lưu dữ liệu.
Firebase cung cấp nhiều dịch vụ backend trên Cloud. Trong bài này, chúng ta tập trung vào Firestore, một cơ sở dữ liệu Cloud.
Firestore tổ chức dữ liệu theo Collection, Document và Fields, phù hợp cho một bài demo web đơn giản.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9FEAB-61C8-D1E8-CE81-11037E3056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06514-B8F0-077C-6308-2A1BB32802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5A352-A4BD-2BAE-F446-71C9DDEC282E}"/>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2F54312C-F5A7-04A2-7D78-8B39F917F0A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482002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2E80C-D07A-9E33-C2EE-AEAC21860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326E4-1EF7-1336-D992-419105671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89AC0-5609-9F56-7917-F32B119398C4}"/>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4FA920FA-8431-2D46-DCED-F12150D6CA69}"/>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911924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41983-23FF-53E9-6924-27CC31373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867A3-7E32-996E-868D-32C0671F2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6A259-10E2-6B6A-87B9-01284E6C6076}"/>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7D9B0ECC-A590-7297-69D5-A777510EB77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640019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5D013-BDF1-14DE-9385-ADFEDDF56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AB2947-CE7F-9BF6-2A55-FF313D582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25333-5629-EBF2-B707-7362F78B91BB}"/>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1B455267-41B2-7D87-8B10-C8B4A1736443}"/>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333233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AEDAD-4297-839A-3B26-48F6F74B9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E1D61-6816-DA43-E8EC-0534B17F4E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804F4-55F6-F8C9-4ACC-F055F82C7FDC}"/>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93DE9184-802B-ADD3-6C9D-DF3F95C42B3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27474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44131-EADE-4E7C-4C3C-25AD9DF0A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0F06C-2177-2EAE-A425-6AE9E8C7E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80B98-A3DF-F36C-3D12-D8AE6B5D99FC}"/>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AF2B9147-AD02-ADD6-A5CF-B19681A2E97C}"/>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788788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9D7BF-7AD7-ACE4-A6B8-6CCCAA03B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7E3BD-545D-7F95-83D8-BFF710589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61394D-088B-5595-B7C3-199C488AACC4}"/>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F44CB6F4-048E-1C09-D8F3-F1896A1DF8A9}"/>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725445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2612-7D93-868A-F99B-3C9B4800C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B7FC5-8FEA-852E-73FE-D46BC7946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6249C-A2A4-7656-DDD6-3BA1C2DFA048}"/>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A39508D8-D7DC-1A40-ABF5-0317E6C84E30}"/>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753673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3A153-082E-618C-FFC3-A7267BB65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F0378-57BB-EA5B-2D4D-708D27742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C96E73-662A-0A99-0326-4FBBA49B962F}"/>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34D8C41D-F9A0-B9D8-0864-497F915DDE7C}"/>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804580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23FB-54FB-9204-C04C-09428B506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F0DF1-90DF-38F8-9845-1D930A0E2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400D52-2148-A1E6-DE28-715D5EECAE81}"/>
              </a:ext>
            </a:extLst>
          </p:cNvPr>
          <p:cNvSpPr>
            <a:spLocks noGrp="1"/>
          </p:cNvSpPr>
          <p:nvPr>
            <p:ph type="body" idx="1"/>
          </p:nvPr>
        </p:nvSpPr>
        <p:spPr/>
        <p:txBody>
          <a:bodyPr/>
          <a:lstStyle/>
          <a:p>
            <a:r>
              <a:rPr lang="en-US" dirty="0"/>
              <a:t>Sau khi tạo Firebase Project và Firestore, website có thể kết nối bằng Firebase Web SDK.
Ở đây chỉ cần minh họa hai thao tác cơ bản: khởi tạo Firebase và ghi một document vào collection users.
Từ cùng cơ chế này, chúng ta có thể xây dựng CRUD: Create, Read, Update và Delete. Trong project thực tế cần cấu hình Security Rules phù hợp, không mở quyền ghi đọc công khai.</a:t>
            </a:r>
          </a:p>
        </p:txBody>
      </p:sp>
      <p:sp>
        <p:nvSpPr>
          <p:cNvPr id="4" name="Slide Number Placeholder 3">
            <a:extLst>
              <a:ext uri="{FF2B5EF4-FFF2-40B4-BE49-F238E27FC236}">
                <a16:creationId xmlns:a16="http://schemas.microsoft.com/office/drawing/2014/main" id="{755F7C3D-C2A9-D667-5E70-8016A619B4B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0895767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lại, quy trình bắt đầu từ source code trên máy tính.
GitHub lưu và quản lý source code, Vercel đưa website lên Cloud, còn Firebase cung cấp cơ sở dữ liệu Cloud.
Nhờ vậy, từ một project chạy trên máy cá nhân, chúng ta đã tạo được một website có thể truy cập trên Internet và có dữ liệu được lưu trên Cloud.
Xin cảm ơn thầy cô và các bạn đã theo dõi. Em xin mời câu hỏi.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6565392"/>
            <a:ext cx="12191695" cy="292608"/>
          </a:xfrm>
          <a:prstGeom prst="rect">
            <a:avLst/>
          </a:prstGeom>
          <a:solidFill>
            <a:srgbClr val="0B1020"/>
          </a:solidFill>
          <a:ln w="12700">
            <a:solidFill>
              <a:srgbClr val="0B1020"/>
            </a:solidFill>
            <a:prstDash val="solid"/>
          </a:ln>
        </p:spPr>
        <p:txBody>
          <a:bodyPr/>
          <a:lstStyle/>
          <a:p>
            <a:endParaRPr lang="en-US"/>
          </a:p>
        </p:txBody>
      </p:sp>
      <p:sp>
        <p:nvSpPr>
          <p:cNvPr id="3" name="Text 1"/>
          <p:cNvSpPr/>
          <p:nvPr/>
        </p:nvSpPr>
        <p:spPr>
          <a:xfrm>
            <a:off x="502920" y="6601968"/>
            <a:ext cx="7132320" cy="164592"/>
          </a:xfrm>
          <a:prstGeom prst="rect">
            <a:avLst/>
          </a:prstGeom>
          <a:noFill/>
          <a:ln/>
        </p:spPr>
        <p:txBody>
          <a:bodyPr wrap="square" lIns="0" tIns="0" rIns="0" bIns="0" rtlCol="0" anchor="ctr"/>
          <a:lstStyle/>
          <a:p>
            <a:pPr marL="0" indent="0">
              <a:buNone/>
            </a:pPr>
            <a:r>
              <a:rPr lang="en-US" sz="800" dirty="0">
                <a:solidFill>
                  <a:srgbClr val="76809B"/>
                </a:solidFill>
                <a:latin typeface="Aptos" pitchFamily="34" charset="0"/>
                <a:ea typeface="Aptos" pitchFamily="34" charset="-122"/>
                <a:cs typeface="Aptos" pitchFamily="34" charset="-120"/>
              </a:rPr>
              <a:t>ĐIỆN TOÁN ĐÁM MÂY  •  GITHUB  •  VERCEL  •  FIREBASE</a:t>
            </a:r>
            <a:endParaRPr lang="en-US" sz="800" dirty="0"/>
          </a:p>
        </p:txBody>
      </p:sp>
      <p:sp>
        <p:nvSpPr>
          <p:cNvPr id="25"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6.png"/><Relationship Id="rId7" Type="http://schemas.openxmlformats.org/officeDocument/2006/relationships/customXml" Target="../ink/ink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7.png"/><Relationship Id="rId10" Type="http://schemas.openxmlformats.org/officeDocument/2006/relationships/image" Target="../media/image29.png"/><Relationship Id="rId4" Type="http://schemas.openxmlformats.org/officeDocument/2006/relationships/customXml" Target="../ink/ink1.xml"/><Relationship Id="rId9" Type="http://schemas.openxmlformats.org/officeDocument/2006/relationships/customXml" Target="../ink/ink4.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8275320" y="137160"/>
            <a:ext cx="3703320" cy="3703320"/>
          </a:xfrm>
          <a:prstGeom prst="arc">
            <a:avLst/>
          </a:prstGeom>
          <a:noFill/>
          <a:ln w="38100">
            <a:solidFill>
              <a:srgbClr val="5B7CFF">
                <a:alpha val="12000"/>
              </a:srgbClr>
            </a:solidFill>
            <a:prstDash val="solid"/>
          </a:ln>
        </p:spPr>
        <p:txBody>
          <a:bodyPr/>
          <a:lstStyle/>
          <a:p>
            <a:endParaRPr lang="en-US"/>
          </a:p>
        </p:txBody>
      </p:sp>
      <p:sp>
        <p:nvSpPr>
          <p:cNvPr id="3" name="Shape 1"/>
          <p:cNvSpPr/>
          <p:nvPr/>
        </p:nvSpPr>
        <p:spPr>
          <a:xfrm>
            <a:off x="8778240" y="960120"/>
            <a:ext cx="2194560" cy="2194560"/>
          </a:xfrm>
          <a:prstGeom prst="ellipse">
            <a:avLst/>
          </a:prstGeom>
          <a:solidFill>
            <a:srgbClr val="3DD9FF">
              <a:alpha val="8000"/>
            </a:srgbClr>
          </a:solidFill>
          <a:ln w="12700">
            <a:solidFill>
              <a:srgbClr val="3DD9FF">
                <a:alpha val="0"/>
              </a:srgbClr>
            </a:solidFill>
            <a:prstDash val="solid"/>
          </a:ln>
        </p:spPr>
        <p:txBody>
          <a:bodyPr/>
          <a:lstStyle/>
          <a:p>
            <a:endParaRPr lang="en-US"/>
          </a:p>
        </p:txBody>
      </p:sp>
      <p:sp>
        <p:nvSpPr>
          <p:cNvPr id="4" name="Shape 2"/>
          <p:cNvSpPr/>
          <p:nvPr/>
        </p:nvSpPr>
        <p:spPr>
          <a:xfrm>
            <a:off x="9921240" y="594360"/>
            <a:ext cx="1325880" cy="1325880"/>
          </a:xfrm>
          <a:prstGeom prst="ellipse">
            <a:avLst/>
          </a:prstGeom>
          <a:solidFill>
            <a:srgbClr val="A77BFF">
              <a:alpha val="8000"/>
            </a:srgbClr>
          </a:solidFill>
          <a:ln w="12700">
            <a:solidFill>
              <a:srgbClr val="A77BFF">
                <a:alpha val="0"/>
              </a:srgbClr>
            </a:solidFill>
            <a:prstDash val="solid"/>
          </a:ln>
        </p:spPr>
        <p:txBody>
          <a:bodyPr/>
          <a:lstStyle/>
          <a:p>
            <a:endParaRPr lang="en-US"/>
          </a:p>
        </p:txBody>
      </p:sp>
      <p:sp>
        <p:nvSpPr>
          <p:cNvPr id="5" name="Text 3"/>
          <p:cNvSpPr/>
          <p:nvPr/>
        </p:nvSpPr>
        <p:spPr>
          <a:xfrm>
            <a:off x="520826" y="1524762"/>
            <a:ext cx="1831848" cy="292608"/>
          </a:xfrm>
          <a:prstGeom prst="rect">
            <a:avLst/>
          </a:prstGeom>
          <a:noFill/>
          <a:ln/>
        </p:spPr>
        <p:txBody>
          <a:bodyPr wrap="square" lIns="0" tIns="0" rIns="0" bIns="0" rtlCol="0" anchor="ctr"/>
          <a:lstStyle/>
          <a:p>
            <a:pPr marL="0" indent="0">
              <a:buNone/>
            </a:pPr>
            <a:r>
              <a:rPr lang="en-US" sz="1100" b="1" kern="0" spc="200" dirty="0">
                <a:solidFill>
                  <a:srgbClr val="3DD9FF"/>
                </a:solidFill>
              </a:rPr>
              <a:t>ĐIỆN TOÁN ĐÁM MÂY</a:t>
            </a:r>
            <a:endParaRPr lang="en-US" sz="1100" dirty="0"/>
          </a:p>
        </p:txBody>
      </p:sp>
      <p:sp>
        <p:nvSpPr>
          <p:cNvPr id="6" name="Text 4"/>
          <p:cNvSpPr/>
          <p:nvPr/>
        </p:nvSpPr>
        <p:spPr>
          <a:xfrm>
            <a:off x="520826" y="1445895"/>
            <a:ext cx="5765673" cy="2297430"/>
          </a:xfrm>
          <a:prstGeom prst="rect">
            <a:avLst/>
          </a:prstGeom>
          <a:noFill/>
          <a:ln/>
        </p:spPr>
        <p:txBody>
          <a:bodyPr wrap="square" lIns="0" tIns="0" rIns="0" bIns="0" rtlCol="0" anchor="ctr">
            <a:noAutofit/>
          </a:bodyPr>
          <a:lstStyle/>
          <a:p>
            <a:pPr marL="0" indent="0">
              <a:buNone/>
            </a:pPr>
            <a:r>
              <a:rPr lang="en-US" sz="4800" b="1" dirty="0">
                <a:solidFill>
                  <a:srgbClr val="F7F9FC"/>
                </a:solidFill>
              </a:rPr>
              <a:t>Triển </a:t>
            </a:r>
            <a:r>
              <a:rPr lang="en-US" sz="4800" b="1" dirty="0" err="1">
                <a:solidFill>
                  <a:srgbClr val="F7F9FC"/>
                </a:solidFill>
              </a:rPr>
              <a:t>khai</a:t>
            </a:r>
            <a:r>
              <a:rPr lang="en-US" sz="4800" b="1" dirty="0">
                <a:solidFill>
                  <a:srgbClr val="F7F9FC"/>
                </a:solidFill>
              </a:rPr>
              <a:t> Website</a:t>
            </a:r>
            <a:endParaRPr lang="en-US" sz="4800" dirty="0"/>
          </a:p>
          <a:p>
            <a:pPr marL="0" indent="0">
              <a:buNone/>
            </a:pPr>
            <a:r>
              <a:rPr lang="en-US" sz="4800" b="1" dirty="0" err="1">
                <a:solidFill>
                  <a:srgbClr val="F7F9FC"/>
                </a:solidFill>
              </a:rPr>
              <a:t>trên</a:t>
            </a:r>
            <a:r>
              <a:rPr lang="en-US" sz="4800" b="1" dirty="0">
                <a:solidFill>
                  <a:srgbClr val="F7F9FC"/>
                </a:solidFill>
              </a:rPr>
              <a:t> </a:t>
            </a:r>
            <a:r>
              <a:rPr lang="en-US" sz="4800" b="1" dirty="0" err="1">
                <a:solidFill>
                  <a:srgbClr val="F7F9FC"/>
                </a:solidFill>
              </a:rPr>
              <a:t>nền</a:t>
            </a:r>
            <a:r>
              <a:rPr lang="en-US" sz="4800" b="1" dirty="0">
                <a:solidFill>
                  <a:srgbClr val="F7F9FC"/>
                </a:solidFill>
              </a:rPr>
              <a:t> </a:t>
            </a:r>
            <a:r>
              <a:rPr lang="en-US" sz="4800" b="1" dirty="0" err="1">
                <a:solidFill>
                  <a:srgbClr val="F7F9FC"/>
                </a:solidFill>
              </a:rPr>
              <a:t>tảng</a:t>
            </a:r>
            <a:r>
              <a:rPr lang="en-US" sz="4800" b="1" dirty="0">
                <a:solidFill>
                  <a:srgbClr val="F7F9FC"/>
                </a:solidFill>
              </a:rPr>
              <a:t> Cloud</a:t>
            </a:r>
            <a:endParaRPr lang="en-US" sz="4800" dirty="0"/>
          </a:p>
        </p:txBody>
      </p:sp>
      <p:sp>
        <p:nvSpPr>
          <p:cNvPr id="8" name="Shape 6"/>
          <p:cNvSpPr/>
          <p:nvPr/>
        </p:nvSpPr>
        <p:spPr>
          <a:xfrm>
            <a:off x="520825" y="3566160"/>
            <a:ext cx="1000439" cy="377190"/>
          </a:xfrm>
          <a:prstGeom prst="roundRect">
            <a:avLst>
              <a:gd name="adj" fmla="val 40000"/>
            </a:avLst>
          </a:prstGeom>
          <a:solidFill>
            <a:srgbClr val="A77BFF">
              <a:alpha val="16000"/>
            </a:srgbClr>
          </a:solidFill>
          <a:ln w="12700">
            <a:solidFill>
              <a:srgbClr val="A77BFF">
                <a:alpha val="0"/>
              </a:srgbClr>
            </a:solidFill>
            <a:prstDash val="solid"/>
          </a:ln>
        </p:spPr>
        <p:txBody>
          <a:bodyPr/>
          <a:lstStyle/>
          <a:p>
            <a:endParaRPr lang="en-US"/>
          </a:p>
        </p:txBody>
      </p:sp>
      <p:sp>
        <p:nvSpPr>
          <p:cNvPr id="9" name="Text 7"/>
          <p:cNvSpPr/>
          <p:nvPr/>
        </p:nvSpPr>
        <p:spPr>
          <a:xfrm>
            <a:off x="520825" y="3631025"/>
            <a:ext cx="1000439" cy="201168"/>
          </a:xfrm>
          <a:prstGeom prst="rect">
            <a:avLst/>
          </a:prstGeom>
          <a:noFill/>
          <a:ln/>
        </p:spPr>
        <p:txBody>
          <a:bodyPr wrap="square" lIns="0" tIns="0" rIns="0" bIns="0" rtlCol="0" anchor="ctr"/>
          <a:lstStyle/>
          <a:p>
            <a:pPr marL="0" indent="0" algn="ctr">
              <a:buNone/>
            </a:pPr>
            <a:r>
              <a:rPr lang="en-US" sz="1400" b="1" dirty="0">
                <a:solidFill>
                  <a:srgbClr val="A77BFF"/>
                </a:solidFill>
              </a:rPr>
              <a:t>GITHUB</a:t>
            </a:r>
            <a:endParaRPr lang="en-US" sz="1400" dirty="0"/>
          </a:p>
        </p:txBody>
      </p:sp>
      <p:sp>
        <p:nvSpPr>
          <p:cNvPr id="10" name="Shape 8"/>
          <p:cNvSpPr/>
          <p:nvPr/>
        </p:nvSpPr>
        <p:spPr>
          <a:xfrm>
            <a:off x="1608961" y="3566160"/>
            <a:ext cx="1000439" cy="377190"/>
          </a:xfrm>
          <a:prstGeom prst="roundRect">
            <a:avLst>
              <a:gd name="adj" fmla="val 40000"/>
            </a:avLst>
          </a:prstGeom>
          <a:solidFill>
            <a:srgbClr val="F7F9FC">
              <a:alpha val="16000"/>
            </a:srgbClr>
          </a:solidFill>
          <a:ln w="12700">
            <a:solidFill>
              <a:srgbClr val="F7F9FC">
                <a:alpha val="0"/>
              </a:srgbClr>
            </a:solidFill>
            <a:prstDash val="solid"/>
          </a:ln>
        </p:spPr>
        <p:txBody>
          <a:bodyPr/>
          <a:lstStyle/>
          <a:p>
            <a:endParaRPr lang="en-US"/>
          </a:p>
        </p:txBody>
      </p:sp>
      <p:sp>
        <p:nvSpPr>
          <p:cNvPr id="11" name="Text 9"/>
          <p:cNvSpPr/>
          <p:nvPr/>
        </p:nvSpPr>
        <p:spPr>
          <a:xfrm>
            <a:off x="1608961" y="3631025"/>
            <a:ext cx="1000439" cy="201168"/>
          </a:xfrm>
          <a:prstGeom prst="rect">
            <a:avLst/>
          </a:prstGeom>
          <a:noFill/>
          <a:ln/>
        </p:spPr>
        <p:txBody>
          <a:bodyPr wrap="square" lIns="0" tIns="0" rIns="0" bIns="0" rtlCol="0" anchor="ctr"/>
          <a:lstStyle/>
          <a:p>
            <a:pPr marL="0" indent="0" algn="ctr">
              <a:buNone/>
            </a:pPr>
            <a:r>
              <a:rPr lang="en-US" sz="1400" b="1" dirty="0">
                <a:solidFill>
                  <a:srgbClr val="F7F9FC"/>
                </a:solidFill>
              </a:rPr>
              <a:t>VERCEL</a:t>
            </a:r>
            <a:endParaRPr lang="en-US" sz="1400" dirty="0"/>
          </a:p>
        </p:txBody>
      </p:sp>
      <p:sp>
        <p:nvSpPr>
          <p:cNvPr id="12" name="Shape 10"/>
          <p:cNvSpPr/>
          <p:nvPr/>
        </p:nvSpPr>
        <p:spPr>
          <a:xfrm>
            <a:off x="2697097" y="3566160"/>
            <a:ext cx="1219583" cy="377190"/>
          </a:xfrm>
          <a:prstGeom prst="roundRect">
            <a:avLst>
              <a:gd name="adj" fmla="val 40000"/>
            </a:avLst>
          </a:prstGeom>
          <a:solidFill>
            <a:srgbClr val="FF9E42">
              <a:alpha val="16000"/>
            </a:srgbClr>
          </a:solidFill>
          <a:ln w="12700">
            <a:solidFill>
              <a:srgbClr val="FF9E42">
                <a:alpha val="0"/>
              </a:srgbClr>
            </a:solidFill>
            <a:prstDash val="solid"/>
          </a:ln>
        </p:spPr>
        <p:txBody>
          <a:bodyPr/>
          <a:lstStyle/>
          <a:p>
            <a:endParaRPr lang="en-US"/>
          </a:p>
        </p:txBody>
      </p:sp>
      <p:sp>
        <p:nvSpPr>
          <p:cNvPr id="13" name="Text 11"/>
          <p:cNvSpPr/>
          <p:nvPr/>
        </p:nvSpPr>
        <p:spPr>
          <a:xfrm>
            <a:off x="2697097" y="3631025"/>
            <a:ext cx="1219583" cy="201168"/>
          </a:xfrm>
          <a:prstGeom prst="rect">
            <a:avLst/>
          </a:prstGeom>
          <a:noFill/>
          <a:ln/>
        </p:spPr>
        <p:txBody>
          <a:bodyPr wrap="square" lIns="0" tIns="0" rIns="0" bIns="0" rtlCol="0" anchor="ctr"/>
          <a:lstStyle/>
          <a:p>
            <a:pPr marL="0" indent="0" algn="ctr">
              <a:buNone/>
            </a:pPr>
            <a:r>
              <a:rPr lang="en-US" sz="1400" b="1" dirty="0">
                <a:solidFill>
                  <a:srgbClr val="FF9E42"/>
                </a:solidFill>
              </a:rPr>
              <a:t>FIREBASE</a:t>
            </a:r>
            <a:endParaRPr lang="en-US" sz="1400" dirty="0"/>
          </a:p>
        </p:txBody>
      </p:sp>
      <p:sp>
        <p:nvSpPr>
          <p:cNvPr id="16" name="Text 14"/>
          <p:cNvSpPr/>
          <p:nvPr/>
        </p:nvSpPr>
        <p:spPr>
          <a:xfrm>
            <a:off x="520827" y="6318504"/>
            <a:ext cx="4389120" cy="256032"/>
          </a:xfrm>
          <a:prstGeom prst="rect">
            <a:avLst/>
          </a:prstGeom>
          <a:noFill/>
          <a:ln/>
        </p:spPr>
        <p:txBody>
          <a:bodyPr wrap="square" lIns="0" tIns="0" rIns="0" bIns="0" rtlCol="0" anchor="ctr"/>
          <a:lstStyle/>
          <a:p>
            <a:pPr marL="0" indent="0">
              <a:buNone/>
            </a:pPr>
            <a:r>
              <a:rPr lang="en-US" sz="1200" dirty="0">
                <a:solidFill>
                  <a:srgbClr val="9AA6BF"/>
                </a:solidFill>
              </a:rPr>
              <a:t>Học phần: Điện toán đám mây</a:t>
            </a:r>
            <a:endParaRPr lang="en-US" sz="1200" dirty="0"/>
          </a:p>
        </p:txBody>
      </p:sp>
      <p:sp>
        <p:nvSpPr>
          <p:cNvPr id="25"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01 • KHÁI NIỆM</a:t>
            </a:r>
            <a:endParaRPr lang="en-US" sz="1000" dirty="0"/>
          </a:p>
        </p:txBody>
      </p:sp>
      <p:sp>
        <p:nvSpPr>
          <p:cNvPr id="3" name="Text 1"/>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Cloud Hosting cho Website</a:t>
            </a:r>
            <a:endParaRPr lang="en-US" sz="2700" dirty="0"/>
          </a:p>
        </p:txBody>
      </p:sp>
      <p:sp>
        <p:nvSpPr>
          <p:cNvPr id="4" name="Text 2"/>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Tập trung vào cách đưa website từ máy tính cá nhân lên môi trường Cloud.</a:t>
            </a:r>
            <a:endParaRPr lang="en-US" sz="1250" dirty="0"/>
          </a:p>
        </p:txBody>
      </p:sp>
      <p:sp>
        <p:nvSpPr>
          <p:cNvPr id="5" name="Shape 3"/>
          <p:cNvSpPr/>
          <p:nvPr/>
        </p:nvSpPr>
        <p:spPr>
          <a:xfrm>
            <a:off x="530352" y="1847088"/>
            <a:ext cx="5559552" cy="3913632"/>
          </a:xfrm>
          <a:prstGeom prst="roundRect">
            <a:avLst>
              <a:gd name="adj" fmla="val 2804"/>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a:p>
        </p:txBody>
      </p:sp>
      <p:sp>
        <p:nvSpPr>
          <p:cNvPr id="6" name="Text 4"/>
          <p:cNvSpPr/>
          <p:nvPr/>
        </p:nvSpPr>
        <p:spPr>
          <a:xfrm>
            <a:off x="795528" y="2121408"/>
            <a:ext cx="2834640" cy="347472"/>
          </a:xfrm>
          <a:prstGeom prst="rect">
            <a:avLst/>
          </a:prstGeom>
          <a:noFill/>
          <a:ln/>
        </p:spPr>
        <p:txBody>
          <a:bodyPr wrap="square" lIns="0" tIns="0" rIns="0" bIns="0" rtlCol="0" anchor="ctr"/>
          <a:lstStyle/>
          <a:p>
            <a:pPr marL="0" indent="0">
              <a:buNone/>
            </a:pPr>
            <a:r>
              <a:rPr lang="en-US" sz="2000" b="1" dirty="0">
                <a:solidFill>
                  <a:srgbClr val="F7F9FC"/>
                </a:solidFill>
              </a:rPr>
              <a:t>Cloud Hosting</a:t>
            </a:r>
            <a:endParaRPr lang="en-US" sz="2000" dirty="0"/>
          </a:p>
        </p:txBody>
      </p:sp>
      <p:sp>
        <p:nvSpPr>
          <p:cNvPr id="7" name="Text 5"/>
          <p:cNvSpPr/>
          <p:nvPr/>
        </p:nvSpPr>
        <p:spPr>
          <a:xfrm>
            <a:off x="795528" y="2606040"/>
            <a:ext cx="4800600" cy="1078992"/>
          </a:xfrm>
          <a:prstGeom prst="rect">
            <a:avLst/>
          </a:prstGeom>
          <a:noFill/>
          <a:ln/>
        </p:spPr>
        <p:txBody>
          <a:bodyPr wrap="square" lIns="0" tIns="0" rIns="0" bIns="0" rtlCol="0" anchor="ctr">
            <a:normAutofit/>
          </a:bodyPr>
          <a:lstStyle/>
          <a:p>
            <a:pPr marL="0" indent="0">
              <a:buNone/>
            </a:pPr>
            <a:r>
              <a:rPr lang="en-US" sz="1600" dirty="0">
                <a:solidFill>
                  <a:srgbClr val="DDE4F2"/>
                </a:solidFill>
              </a:rPr>
              <a:t>Là hình thức lưu trữ và vận hành website trên các máy chủ của nhà cung cấp Cloud, cho phép người dùng truy cập thông qua Internet.</a:t>
            </a:r>
            <a:endParaRPr lang="en-US" sz="1600" dirty="0"/>
          </a:p>
        </p:txBody>
      </p:sp>
      <p:sp>
        <p:nvSpPr>
          <p:cNvPr id="8" name="Shape 6"/>
          <p:cNvSpPr/>
          <p:nvPr/>
        </p:nvSpPr>
        <p:spPr>
          <a:xfrm>
            <a:off x="804672" y="4023360"/>
            <a:ext cx="86868" cy="86868"/>
          </a:xfrm>
          <a:prstGeom prst="ellipse">
            <a:avLst/>
          </a:prstGeom>
          <a:solidFill>
            <a:srgbClr val="3DD9FF"/>
          </a:solidFill>
          <a:ln w="12700">
            <a:solidFill>
              <a:srgbClr val="3DD9FF"/>
            </a:solidFill>
            <a:prstDash val="solid"/>
          </a:ln>
        </p:spPr>
        <p:txBody>
          <a:bodyPr/>
          <a:lstStyle/>
          <a:p>
            <a:endParaRPr lang="en-US"/>
          </a:p>
        </p:txBody>
      </p:sp>
      <p:sp>
        <p:nvSpPr>
          <p:cNvPr id="9" name="Text 7"/>
          <p:cNvSpPr/>
          <p:nvPr/>
        </p:nvSpPr>
        <p:spPr>
          <a:xfrm>
            <a:off x="969264" y="3913632"/>
            <a:ext cx="448056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Truy cập website qua Internet</a:t>
            </a:r>
            <a:endParaRPr lang="en-US" sz="1350" dirty="0"/>
          </a:p>
        </p:txBody>
      </p:sp>
      <p:sp>
        <p:nvSpPr>
          <p:cNvPr id="10" name="Shape 8"/>
          <p:cNvSpPr/>
          <p:nvPr/>
        </p:nvSpPr>
        <p:spPr>
          <a:xfrm>
            <a:off x="804672" y="4480560"/>
            <a:ext cx="86868" cy="86868"/>
          </a:xfrm>
          <a:prstGeom prst="ellipse">
            <a:avLst/>
          </a:prstGeom>
          <a:solidFill>
            <a:srgbClr val="3DD9FF"/>
          </a:solidFill>
          <a:ln w="12700">
            <a:solidFill>
              <a:srgbClr val="3DD9FF"/>
            </a:solidFill>
            <a:prstDash val="solid"/>
          </a:ln>
        </p:spPr>
        <p:txBody>
          <a:bodyPr/>
          <a:lstStyle/>
          <a:p>
            <a:endParaRPr lang="en-US"/>
          </a:p>
        </p:txBody>
      </p:sp>
      <p:sp>
        <p:nvSpPr>
          <p:cNvPr id="11" name="Text 9"/>
          <p:cNvSpPr/>
          <p:nvPr/>
        </p:nvSpPr>
        <p:spPr>
          <a:xfrm>
            <a:off x="969264" y="4370832"/>
            <a:ext cx="448056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Không cần tự mua và quản lý máy chủ</a:t>
            </a:r>
            <a:endParaRPr lang="en-US" sz="1350" dirty="0"/>
          </a:p>
        </p:txBody>
      </p:sp>
      <p:sp>
        <p:nvSpPr>
          <p:cNvPr id="12" name="Shape 10"/>
          <p:cNvSpPr/>
          <p:nvPr/>
        </p:nvSpPr>
        <p:spPr>
          <a:xfrm>
            <a:off x="804672" y="4937760"/>
            <a:ext cx="86868" cy="86868"/>
          </a:xfrm>
          <a:prstGeom prst="ellipse">
            <a:avLst/>
          </a:prstGeom>
          <a:solidFill>
            <a:srgbClr val="3DD9FF"/>
          </a:solidFill>
          <a:ln w="12700">
            <a:solidFill>
              <a:srgbClr val="3DD9FF"/>
            </a:solidFill>
            <a:prstDash val="solid"/>
          </a:ln>
        </p:spPr>
        <p:txBody>
          <a:bodyPr/>
          <a:lstStyle/>
          <a:p>
            <a:endParaRPr lang="en-US"/>
          </a:p>
        </p:txBody>
      </p:sp>
      <p:sp>
        <p:nvSpPr>
          <p:cNvPr id="13" name="Text 11"/>
          <p:cNvSpPr/>
          <p:nvPr/>
        </p:nvSpPr>
        <p:spPr>
          <a:xfrm>
            <a:off x="969264" y="4828032"/>
            <a:ext cx="448056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Hỗ trợ triển khai và cập nhật</a:t>
            </a:r>
            <a:endParaRPr lang="en-US" sz="1350" dirty="0"/>
          </a:p>
        </p:txBody>
      </p:sp>
      <p:sp>
        <p:nvSpPr>
          <p:cNvPr id="14" name="Shape 12"/>
          <p:cNvSpPr/>
          <p:nvPr/>
        </p:nvSpPr>
        <p:spPr>
          <a:xfrm>
            <a:off x="804672" y="5394960"/>
            <a:ext cx="86868" cy="86868"/>
          </a:xfrm>
          <a:prstGeom prst="ellipse">
            <a:avLst/>
          </a:prstGeom>
          <a:solidFill>
            <a:srgbClr val="3DD9FF"/>
          </a:solidFill>
          <a:ln w="12700">
            <a:solidFill>
              <a:srgbClr val="3DD9FF"/>
            </a:solidFill>
            <a:prstDash val="solid"/>
          </a:ln>
        </p:spPr>
        <p:txBody>
          <a:bodyPr/>
          <a:lstStyle/>
          <a:p>
            <a:endParaRPr lang="en-US"/>
          </a:p>
        </p:txBody>
      </p:sp>
      <p:sp>
        <p:nvSpPr>
          <p:cNvPr id="15" name="Text 13"/>
          <p:cNvSpPr/>
          <p:nvPr/>
        </p:nvSpPr>
        <p:spPr>
          <a:xfrm>
            <a:off x="969264" y="5285232"/>
            <a:ext cx="448056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Có thể mở rộng theo nhu cầu</a:t>
            </a:r>
            <a:endParaRPr lang="en-US" sz="1350" dirty="0"/>
          </a:p>
        </p:txBody>
      </p:sp>
      <p:sp>
        <p:nvSpPr>
          <p:cNvPr id="16" name="Shape 14"/>
          <p:cNvSpPr/>
          <p:nvPr/>
        </p:nvSpPr>
        <p:spPr>
          <a:xfrm>
            <a:off x="6355080" y="1847088"/>
            <a:ext cx="5285232" cy="3913632"/>
          </a:xfrm>
          <a:prstGeom prst="roundRect">
            <a:avLst>
              <a:gd name="adj" fmla="val 2804"/>
            </a:avLst>
          </a:prstGeom>
          <a:solidFill>
            <a:srgbClr val="10172A"/>
          </a:solidFill>
          <a:ln w="12700">
            <a:solidFill>
              <a:srgbClr val="22304D"/>
            </a:solidFill>
            <a:prstDash val="solid"/>
          </a:ln>
        </p:spPr>
        <p:txBody>
          <a:bodyPr/>
          <a:lstStyle/>
          <a:p>
            <a:endParaRPr lang="en-US"/>
          </a:p>
        </p:txBody>
      </p:sp>
      <p:sp>
        <p:nvSpPr>
          <p:cNvPr id="17" name="Text 15"/>
          <p:cNvSpPr/>
          <p:nvPr/>
        </p:nvSpPr>
        <p:spPr>
          <a:xfrm>
            <a:off x="6656832" y="2121408"/>
            <a:ext cx="4480560" cy="292608"/>
          </a:xfrm>
          <a:prstGeom prst="rect">
            <a:avLst/>
          </a:prstGeom>
          <a:noFill/>
          <a:ln/>
        </p:spPr>
        <p:txBody>
          <a:bodyPr wrap="square" lIns="0" tIns="0" rIns="0" bIns="0" rtlCol="0" anchor="ctr"/>
          <a:lstStyle/>
          <a:p>
            <a:pPr marL="0" indent="0">
              <a:buNone/>
            </a:pPr>
            <a:r>
              <a:rPr lang="en-US" sz="1800" b="1" dirty="0">
                <a:solidFill>
                  <a:srgbClr val="F7F9FC"/>
                </a:solidFill>
              </a:rPr>
              <a:t>Từ máy cá nhân → Cloud</a:t>
            </a:r>
            <a:endParaRPr lang="en-US" sz="1800" dirty="0"/>
          </a:p>
        </p:txBody>
      </p:sp>
      <p:sp>
        <p:nvSpPr>
          <p:cNvPr id="18" name="Shape 16"/>
          <p:cNvSpPr/>
          <p:nvPr/>
        </p:nvSpPr>
        <p:spPr>
          <a:xfrm>
            <a:off x="6720840" y="2852928"/>
            <a:ext cx="1920240" cy="1097280"/>
          </a:xfrm>
          <a:prstGeom prst="roundRect">
            <a:avLst>
              <a:gd name="adj" fmla="val 10000"/>
            </a:avLst>
          </a:prstGeom>
          <a:solidFill>
            <a:srgbClr val="182139"/>
          </a:solidFill>
          <a:ln w="12700">
            <a:solidFill>
              <a:srgbClr val="2B3856"/>
            </a:solidFill>
            <a:prstDash val="solid"/>
          </a:ln>
        </p:spPr>
        <p:txBody>
          <a:bodyPr/>
          <a:lstStyle/>
          <a:p>
            <a:endParaRPr lang="en-US"/>
          </a:p>
        </p:txBody>
      </p:sp>
      <p:sp>
        <p:nvSpPr>
          <p:cNvPr id="19" name="Text 17"/>
          <p:cNvSpPr/>
          <p:nvPr/>
        </p:nvSpPr>
        <p:spPr>
          <a:xfrm>
            <a:off x="7278624" y="2971800"/>
            <a:ext cx="731520" cy="384048"/>
          </a:xfrm>
          <a:prstGeom prst="rect">
            <a:avLst/>
          </a:prstGeom>
          <a:noFill/>
          <a:ln/>
        </p:spPr>
        <p:txBody>
          <a:bodyPr wrap="square" lIns="0" tIns="0" rIns="0" bIns="0" rtlCol="0" anchor="ctr"/>
          <a:lstStyle/>
          <a:p>
            <a:pPr marL="0" indent="0" algn="ctr">
              <a:buNone/>
            </a:pPr>
            <a:r>
              <a:rPr lang="en-US" sz="2500" dirty="0">
                <a:solidFill>
                  <a:srgbClr val="000000"/>
                </a:solidFill>
              </a:rPr>
              <a:t>💻</a:t>
            </a:r>
            <a:endParaRPr lang="en-US" sz="2500" dirty="0"/>
          </a:p>
        </p:txBody>
      </p:sp>
      <p:sp>
        <p:nvSpPr>
          <p:cNvPr id="20" name="Text 18"/>
          <p:cNvSpPr/>
          <p:nvPr/>
        </p:nvSpPr>
        <p:spPr>
          <a:xfrm>
            <a:off x="6903720" y="3429000"/>
            <a:ext cx="1554480" cy="219456"/>
          </a:xfrm>
          <a:prstGeom prst="rect">
            <a:avLst/>
          </a:prstGeom>
          <a:noFill/>
          <a:ln/>
        </p:spPr>
        <p:txBody>
          <a:bodyPr wrap="square" lIns="0" tIns="0" rIns="0" bIns="0" rtlCol="0" anchor="ctr"/>
          <a:lstStyle/>
          <a:p>
            <a:pPr marL="0" indent="0" algn="ctr">
              <a:buNone/>
            </a:pPr>
            <a:r>
              <a:rPr lang="en-US" sz="1150" b="1" dirty="0">
                <a:solidFill>
                  <a:srgbClr val="F7F9FC"/>
                </a:solidFill>
              </a:rPr>
              <a:t>Máy tính cá nhân</a:t>
            </a:r>
            <a:endParaRPr lang="en-US" sz="1150" dirty="0"/>
          </a:p>
        </p:txBody>
      </p:sp>
      <p:sp>
        <p:nvSpPr>
          <p:cNvPr id="21" name="Shape 19"/>
          <p:cNvSpPr/>
          <p:nvPr/>
        </p:nvSpPr>
        <p:spPr>
          <a:xfrm>
            <a:off x="8796528" y="3401568"/>
            <a:ext cx="768096" cy="0"/>
          </a:xfrm>
          <a:prstGeom prst="line">
            <a:avLst/>
          </a:prstGeom>
          <a:noFill/>
          <a:ln w="31750">
            <a:solidFill>
              <a:srgbClr val="3DD9FF"/>
            </a:solidFill>
            <a:prstDash val="solid"/>
            <a:headEnd type="none"/>
            <a:tailEnd type="triangle"/>
          </a:ln>
        </p:spPr>
        <p:txBody>
          <a:bodyPr/>
          <a:lstStyle/>
          <a:p>
            <a:endParaRPr lang="en-US"/>
          </a:p>
        </p:txBody>
      </p:sp>
      <p:sp>
        <p:nvSpPr>
          <p:cNvPr id="22" name="Shape 20"/>
          <p:cNvSpPr/>
          <p:nvPr/>
        </p:nvSpPr>
        <p:spPr>
          <a:xfrm>
            <a:off x="9619488" y="2670048"/>
            <a:ext cx="1664208" cy="1463040"/>
          </a:xfrm>
          <a:prstGeom prst="roundRect">
            <a:avLst>
              <a:gd name="adj" fmla="val 10000"/>
            </a:avLst>
          </a:prstGeom>
          <a:solidFill>
            <a:srgbClr val="14243A"/>
          </a:solidFill>
          <a:ln w="17780">
            <a:solidFill>
              <a:srgbClr val="3DD9FF"/>
            </a:solidFill>
            <a:prstDash val="solid"/>
          </a:ln>
        </p:spPr>
        <p:txBody>
          <a:bodyPr/>
          <a:lstStyle/>
          <a:p>
            <a:endParaRPr lang="en-US"/>
          </a:p>
        </p:txBody>
      </p:sp>
      <p:sp>
        <p:nvSpPr>
          <p:cNvPr id="23" name="Text 21"/>
          <p:cNvSpPr/>
          <p:nvPr/>
        </p:nvSpPr>
        <p:spPr>
          <a:xfrm>
            <a:off x="9994392" y="2779776"/>
            <a:ext cx="914400" cy="502920"/>
          </a:xfrm>
          <a:prstGeom prst="rect">
            <a:avLst/>
          </a:prstGeom>
          <a:noFill/>
          <a:ln/>
        </p:spPr>
        <p:txBody>
          <a:bodyPr wrap="square" lIns="0" tIns="0" rIns="0" bIns="0" rtlCol="0" anchor="ctr"/>
          <a:lstStyle/>
          <a:p>
            <a:pPr marL="0" indent="0" algn="ctr">
              <a:buNone/>
            </a:pPr>
            <a:r>
              <a:rPr lang="en-US" sz="3000" dirty="0">
                <a:solidFill>
                  <a:srgbClr val="3DD9FF"/>
                </a:solidFill>
              </a:rPr>
              <a:t>☁</a:t>
            </a:r>
            <a:endParaRPr lang="en-US" sz="3000" dirty="0"/>
          </a:p>
        </p:txBody>
      </p:sp>
      <p:sp>
        <p:nvSpPr>
          <p:cNvPr id="24" name="Text 22"/>
          <p:cNvSpPr/>
          <p:nvPr/>
        </p:nvSpPr>
        <p:spPr>
          <a:xfrm>
            <a:off x="9811512" y="3401568"/>
            <a:ext cx="1280160" cy="219456"/>
          </a:xfrm>
          <a:prstGeom prst="rect">
            <a:avLst/>
          </a:prstGeom>
          <a:noFill/>
          <a:ln/>
        </p:spPr>
        <p:txBody>
          <a:bodyPr wrap="square" lIns="0" tIns="0" rIns="0" bIns="0" rtlCol="0" anchor="ctr"/>
          <a:lstStyle/>
          <a:p>
            <a:pPr marL="0" indent="0" algn="ctr">
              <a:buNone/>
            </a:pPr>
            <a:r>
              <a:rPr lang="en-US" sz="1150" b="1" dirty="0">
                <a:solidFill>
                  <a:srgbClr val="F7F9FC"/>
                </a:solidFill>
              </a:rPr>
              <a:t>Cloud Server</a:t>
            </a:r>
            <a:endParaRPr lang="en-US" sz="1150" dirty="0"/>
          </a:p>
        </p:txBody>
      </p:sp>
      <p:sp>
        <p:nvSpPr>
          <p:cNvPr id="25" name="Text 23"/>
          <p:cNvSpPr/>
          <p:nvPr/>
        </p:nvSpPr>
        <p:spPr>
          <a:xfrm>
            <a:off x="6720840" y="4389120"/>
            <a:ext cx="4526280" cy="658368"/>
          </a:xfrm>
          <a:prstGeom prst="rect">
            <a:avLst/>
          </a:prstGeom>
          <a:noFill/>
          <a:ln/>
        </p:spPr>
        <p:txBody>
          <a:bodyPr wrap="square" lIns="0" tIns="0" rIns="0" bIns="0" rtlCol="0" anchor="ctr">
            <a:normAutofit/>
          </a:bodyPr>
          <a:lstStyle/>
          <a:p>
            <a:pPr marL="0" indent="0" algn="ctr">
              <a:buNone/>
            </a:pPr>
            <a:r>
              <a:rPr lang="en-US" sz="1400" dirty="0">
                <a:solidFill>
                  <a:srgbClr val="DDE4F2"/>
                </a:solidFill>
              </a:rPr>
              <a:t>🌐  Người dùng truy cập</a:t>
            </a:r>
            <a:endParaRPr lang="en-US" sz="1400" dirty="0"/>
          </a:p>
          <a:p>
            <a:pPr marL="0" indent="0" algn="ctr">
              <a:buNone/>
            </a:pPr>
            <a:r>
              <a:rPr lang="en-US" sz="1400" dirty="0">
                <a:solidFill>
                  <a:srgbClr val="DDE4F2"/>
                </a:solidFill>
              </a:rPr>
              <a:t>website qua Internet</a:t>
            </a:r>
            <a:endParaRPr lang="en-US" sz="1400" dirty="0"/>
          </a:p>
        </p:txBody>
      </p:sp>
      <p:sp>
        <p:nvSpPr>
          <p:cNvPr id="26" name="Shape 24"/>
          <p:cNvSpPr/>
          <p:nvPr/>
        </p:nvSpPr>
        <p:spPr>
          <a:xfrm>
            <a:off x="6766560" y="5230368"/>
            <a:ext cx="914400" cy="274320"/>
          </a:xfrm>
          <a:prstGeom prst="roundRect">
            <a:avLst>
              <a:gd name="adj" fmla="val 40000"/>
            </a:avLst>
          </a:prstGeom>
          <a:solidFill>
            <a:srgbClr val="3DD9FF">
              <a:alpha val="16000"/>
            </a:srgbClr>
          </a:solidFill>
          <a:ln w="12700">
            <a:solidFill>
              <a:srgbClr val="3DD9FF">
                <a:alpha val="0"/>
              </a:srgbClr>
            </a:solidFill>
            <a:prstDash val="solid"/>
          </a:ln>
        </p:spPr>
        <p:txBody>
          <a:bodyPr/>
          <a:lstStyle/>
          <a:p>
            <a:endParaRPr lang="en-US"/>
          </a:p>
        </p:txBody>
      </p:sp>
      <p:sp>
        <p:nvSpPr>
          <p:cNvPr id="27" name="Text 25"/>
          <p:cNvSpPr/>
          <p:nvPr/>
        </p:nvSpPr>
        <p:spPr>
          <a:xfrm>
            <a:off x="6766560" y="5276088"/>
            <a:ext cx="914400" cy="146304"/>
          </a:xfrm>
          <a:prstGeom prst="rect">
            <a:avLst/>
          </a:prstGeom>
          <a:noFill/>
          <a:ln/>
        </p:spPr>
        <p:txBody>
          <a:bodyPr wrap="square" lIns="0" tIns="0" rIns="0" bIns="0" rtlCol="0" anchor="ctr"/>
          <a:lstStyle/>
          <a:p>
            <a:pPr marL="0" indent="0" algn="ctr">
              <a:buNone/>
            </a:pPr>
            <a:r>
              <a:rPr lang="en-US" sz="900" b="1" dirty="0">
                <a:solidFill>
                  <a:srgbClr val="3DD9FF"/>
                </a:solidFill>
              </a:rPr>
              <a:t>HOSTING</a:t>
            </a:r>
            <a:endParaRPr lang="en-US" sz="900" dirty="0"/>
          </a:p>
        </p:txBody>
      </p:sp>
      <p:sp>
        <p:nvSpPr>
          <p:cNvPr id="28" name="Shape 26"/>
          <p:cNvSpPr/>
          <p:nvPr/>
        </p:nvSpPr>
        <p:spPr>
          <a:xfrm>
            <a:off x="7818120" y="5230368"/>
            <a:ext cx="1078992" cy="274320"/>
          </a:xfrm>
          <a:prstGeom prst="roundRect">
            <a:avLst>
              <a:gd name="adj" fmla="val 40000"/>
            </a:avLst>
          </a:prstGeom>
          <a:solidFill>
            <a:srgbClr val="5B7CFF">
              <a:alpha val="16000"/>
            </a:srgbClr>
          </a:solidFill>
          <a:ln w="12700">
            <a:solidFill>
              <a:srgbClr val="5B7CFF">
                <a:alpha val="0"/>
              </a:srgbClr>
            </a:solidFill>
            <a:prstDash val="solid"/>
          </a:ln>
        </p:spPr>
        <p:txBody>
          <a:bodyPr/>
          <a:lstStyle/>
          <a:p>
            <a:endParaRPr lang="en-US"/>
          </a:p>
        </p:txBody>
      </p:sp>
      <p:sp>
        <p:nvSpPr>
          <p:cNvPr id="29" name="Text 27"/>
          <p:cNvSpPr/>
          <p:nvPr/>
        </p:nvSpPr>
        <p:spPr>
          <a:xfrm>
            <a:off x="7818120" y="5276088"/>
            <a:ext cx="1078992" cy="146304"/>
          </a:xfrm>
          <a:prstGeom prst="rect">
            <a:avLst/>
          </a:prstGeom>
          <a:noFill/>
          <a:ln/>
        </p:spPr>
        <p:txBody>
          <a:bodyPr wrap="square" lIns="0" tIns="0" rIns="0" bIns="0" rtlCol="0" anchor="ctr"/>
          <a:lstStyle/>
          <a:p>
            <a:pPr marL="0" indent="0" algn="ctr">
              <a:buNone/>
            </a:pPr>
            <a:r>
              <a:rPr lang="en-US" sz="900" b="1" dirty="0">
                <a:solidFill>
                  <a:srgbClr val="5B7CFF"/>
                </a:solidFill>
              </a:rPr>
              <a:t>DEPLOYMENT</a:t>
            </a:r>
            <a:endParaRPr lang="en-US" sz="900" dirty="0"/>
          </a:p>
        </p:txBody>
      </p:sp>
      <p:sp>
        <p:nvSpPr>
          <p:cNvPr id="30" name="Shape 28"/>
          <p:cNvSpPr/>
          <p:nvPr/>
        </p:nvSpPr>
        <p:spPr>
          <a:xfrm>
            <a:off x="9034272" y="5230368"/>
            <a:ext cx="868680" cy="274320"/>
          </a:xfrm>
          <a:prstGeom prst="roundRect">
            <a:avLst>
              <a:gd name="adj" fmla="val 40000"/>
            </a:avLst>
          </a:prstGeom>
          <a:solidFill>
            <a:srgbClr val="35D49A">
              <a:alpha val="16000"/>
            </a:srgbClr>
          </a:solidFill>
          <a:ln w="12700">
            <a:solidFill>
              <a:srgbClr val="35D49A">
                <a:alpha val="0"/>
              </a:srgbClr>
            </a:solidFill>
            <a:prstDash val="solid"/>
          </a:ln>
        </p:spPr>
        <p:txBody>
          <a:bodyPr/>
          <a:lstStyle/>
          <a:p>
            <a:endParaRPr lang="en-US"/>
          </a:p>
        </p:txBody>
      </p:sp>
      <p:sp>
        <p:nvSpPr>
          <p:cNvPr id="31" name="Text 29"/>
          <p:cNvSpPr/>
          <p:nvPr/>
        </p:nvSpPr>
        <p:spPr>
          <a:xfrm>
            <a:off x="9034272" y="5276088"/>
            <a:ext cx="868680" cy="146304"/>
          </a:xfrm>
          <a:prstGeom prst="rect">
            <a:avLst/>
          </a:prstGeom>
          <a:noFill/>
          <a:ln/>
        </p:spPr>
        <p:txBody>
          <a:bodyPr wrap="square" lIns="0" tIns="0" rIns="0" bIns="0" rtlCol="0" anchor="ctr"/>
          <a:lstStyle/>
          <a:p>
            <a:pPr marL="0" indent="0" algn="ctr">
              <a:buNone/>
            </a:pPr>
            <a:r>
              <a:rPr lang="en-US" sz="900" b="1" dirty="0">
                <a:solidFill>
                  <a:srgbClr val="35D49A"/>
                </a:solidFill>
              </a:rPr>
              <a:t>ONLINE</a:t>
            </a:r>
            <a:endParaRPr lang="en-US" sz="900" dirty="0"/>
          </a:p>
        </p:txBody>
      </p:sp>
      <p:sp>
        <p:nvSpPr>
          <p:cNvPr id="32"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02 • KIẾN TRÚC</a:t>
            </a:r>
            <a:endParaRPr lang="en-US" sz="1000" dirty="0"/>
          </a:p>
        </p:txBody>
      </p:sp>
      <p:sp>
        <p:nvSpPr>
          <p:cNvPr id="3" name="Text 1"/>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Mô hình triển khai của bài thực hành</a:t>
            </a:r>
            <a:endParaRPr lang="en-US" sz="2700" dirty="0"/>
          </a:p>
        </p:txBody>
      </p:sp>
      <p:sp>
        <p:nvSpPr>
          <p:cNvPr id="4" name="Text 2"/>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Mỗi dịch vụ đảm nhận một vai trò khác nhau trong cùng một quy trình.</a:t>
            </a:r>
            <a:endParaRPr lang="en-US" sz="1250" dirty="0"/>
          </a:p>
        </p:txBody>
      </p:sp>
      <p:sp>
        <p:nvSpPr>
          <p:cNvPr id="5" name="Shape 3"/>
          <p:cNvSpPr/>
          <p:nvPr/>
        </p:nvSpPr>
        <p:spPr>
          <a:xfrm>
            <a:off x="530352" y="1689052"/>
            <a:ext cx="2070340" cy="1042416"/>
          </a:xfrm>
          <a:prstGeom prst="roundRect">
            <a:avLst>
              <a:gd name="adj" fmla="val 6742"/>
            </a:avLst>
          </a:prstGeom>
          <a:solidFill>
            <a:srgbClr val="19223A"/>
          </a:solidFill>
          <a:ln w="12700">
            <a:solidFill>
              <a:srgbClr val="2B3856"/>
            </a:solidFill>
            <a:prstDash val="solid"/>
          </a:ln>
        </p:spPr>
        <p:txBody>
          <a:bodyPr/>
          <a:lstStyle/>
          <a:p>
            <a:endParaRPr lang="en-US"/>
          </a:p>
        </p:txBody>
      </p:sp>
      <p:sp>
        <p:nvSpPr>
          <p:cNvPr id="6" name="Text 4"/>
          <p:cNvSpPr/>
          <p:nvPr/>
        </p:nvSpPr>
        <p:spPr>
          <a:xfrm>
            <a:off x="1217049" y="1929996"/>
            <a:ext cx="696946" cy="245963"/>
          </a:xfrm>
          <a:prstGeom prst="rect">
            <a:avLst/>
          </a:prstGeom>
          <a:noFill/>
          <a:ln/>
        </p:spPr>
        <p:txBody>
          <a:bodyPr wrap="square" lIns="0" tIns="0" rIns="0" bIns="0" rtlCol="0" anchor="ctr"/>
          <a:lstStyle/>
          <a:p>
            <a:pPr marL="0" indent="0" algn="ctr">
              <a:buNone/>
            </a:pPr>
            <a:r>
              <a:rPr lang="en-US" sz="2500" dirty="0">
                <a:solidFill>
                  <a:srgbClr val="F7F9FC"/>
                </a:solidFill>
              </a:rPr>
              <a:t>💻</a:t>
            </a:r>
            <a:endParaRPr lang="en-US" sz="2500" dirty="0"/>
          </a:p>
        </p:txBody>
      </p:sp>
      <p:sp>
        <p:nvSpPr>
          <p:cNvPr id="7" name="Text 5"/>
          <p:cNvSpPr/>
          <p:nvPr/>
        </p:nvSpPr>
        <p:spPr>
          <a:xfrm>
            <a:off x="667512" y="2411428"/>
            <a:ext cx="1762864" cy="163976"/>
          </a:xfrm>
          <a:prstGeom prst="rect">
            <a:avLst/>
          </a:prstGeom>
          <a:noFill/>
          <a:ln/>
        </p:spPr>
        <p:txBody>
          <a:bodyPr wrap="square" lIns="0" tIns="0" rIns="0" bIns="0" rtlCol="0" anchor="ctr"/>
          <a:lstStyle/>
          <a:p>
            <a:pPr marL="0" indent="0" algn="ctr">
              <a:buNone/>
            </a:pPr>
            <a:r>
              <a:rPr lang="en-US" sz="1400" b="1" dirty="0">
                <a:solidFill>
                  <a:srgbClr val="F7F9FC"/>
                </a:solidFill>
              </a:rPr>
              <a:t>CODE</a:t>
            </a:r>
            <a:endParaRPr lang="en-US" sz="1400" dirty="0"/>
          </a:p>
        </p:txBody>
      </p:sp>
      <p:sp>
        <p:nvSpPr>
          <p:cNvPr id="8" name="Text 6"/>
          <p:cNvSpPr/>
          <p:nvPr/>
        </p:nvSpPr>
        <p:spPr>
          <a:xfrm>
            <a:off x="690776" y="2565652"/>
            <a:ext cx="1701369" cy="152263"/>
          </a:xfrm>
          <a:prstGeom prst="rect">
            <a:avLst/>
          </a:prstGeom>
          <a:noFill/>
          <a:ln/>
        </p:spPr>
        <p:txBody>
          <a:bodyPr wrap="square" lIns="0" tIns="0" rIns="0" bIns="0" rtlCol="0" anchor="ctr">
            <a:normAutofit/>
          </a:bodyPr>
          <a:lstStyle/>
          <a:p>
            <a:pPr marL="0" indent="0" algn="ctr">
              <a:buNone/>
            </a:pPr>
            <a:r>
              <a:rPr lang="en-US" sz="950" dirty="0">
                <a:solidFill>
                  <a:srgbClr val="9AA6BF"/>
                </a:solidFill>
              </a:rPr>
              <a:t>Website trên máy</a:t>
            </a:r>
            <a:endParaRPr lang="en-US" sz="950" dirty="0"/>
          </a:p>
        </p:txBody>
      </p:sp>
      <p:sp>
        <p:nvSpPr>
          <p:cNvPr id="9" name="Shape 7"/>
          <p:cNvSpPr/>
          <p:nvPr/>
        </p:nvSpPr>
        <p:spPr>
          <a:xfrm>
            <a:off x="2600692" y="2216126"/>
            <a:ext cx="379221" cy="0"/>
          </a:xfrm>
          <a:prstGeom prst="line">
            <a:avLst/>
          </a:prstGeom>
          <a:noFill/>
          <a:ln w="27940">
            <a:solidFill>
              <a:srgbClr val="3DD9FF"/>
            </a:solidFill>
            <a:prstDash val="solid"/>
            <a:headEnd type="none"/>
            <a:tailEnd type="triangle"/>
          </a:ln>
        </p:spPr>
        <p:txBody>
          <a:bodyPr/>
          <a:lstStyle/>
          <a:p>
            <a:endParaRPr lang="en-US"/>
          </a:p>
        </p:txBody>
      </p:sp>
      <p:sp>
        <p:nvSpPr>
          <p:cNvPr id="10" name="Shape 8"/>
          <p:cNvSpPr/>
          <p:nvPr/>
        </p:nvSpPr>
        <p:spPr>
          <a:xfrm>
            <a:off x="2798064" y="1689052"/>
            <a:ext cx="2070340" cy="1042416"/>
          </a:xfrm>
          <a:prstGeom prst="roundRect">
            <a:avLst>
              <a:gd name="adj" fmla="val 6742"/>
            </a:avLst>
          </a:prstGeom>
          <a:solidFill>
            <a:srgbClr val="19223A"/>
          </a:solidFill>
          <a:ln w="12700">
            <a:solidFill>
              <a:srgbClr val="2B3856"/>
            </a:solidFill>
            <a:prstDash val="solid"/>
          </a:ln>
        </p:spPr>
        <p:txBody>
          <a:bodyPr/>
          <a:lstStyle/>
          <a:p>
            <a:endParaRPr lang="en-US"/>
          </a:p>
        </p:txBody>
      </p:sp>
      <p:sp>
        <p:nvSpPr>
          <p:cNvPr id="12" name="Text 10"/>
          <p:cNvSpPr/>
          <p:nvPr/>
        </p:nvSpPr>
        <p:spPr>
          <a:xfrm>
            <a:off x="2935224" y="2411428"/>
            <a:ext cx="1762864" cy="163976"/>
          </a:xfrm>
          <a:prstGeom prst="rect">
            <a:avLst/>
          </a:prstGeom>
          <a:noFill/>
          <a:ln/>
        </p:spPr>
        <p:txBody>
          <a:bodyPr wrap="square" lIns="0" tIns="0" rIns="0" bIns="0" rtlCol="0" anchor="ctr"/>
          <a:lstStyle/>
          <a:p>
            <a:pPr marL="0" indent="0" algn="ctr">
              <a:buNone/>
            </a:pPr>
            <a:r>
              <a:rPr lang="en-US" sz="1400" b="1" dirty="0">
                <a:solidFill>
                  <a:srgbClr val="F7F9FC"/>
                </a:solidFill>
              </a:rPr>
              <a:t>GITHUB</a:t>
            </a:r>
            <a:endParaRPr lang="en-US" sz="1400" dirty="0"/>
          </a:p>
        </p:txBody>
      </p:sp>
      <p:sp>
        <p:nvSpPr>
          <p:cNvPr id="13" name="Text 11"/>
          <p:cNvSpPr/>
          <p:nvPr/>
        </p:nvSpPr>
        <p:spPr>
          <a:xfrm>
            <a:off x="2958488" y="2565652"/>
            <a:ext cx="1701369" cy="152263"/>
          </a:xfrm>
          <a:prstGeom prst="rect">
            <a:avLst/>
          </a:prstGeom>
          <a:noFill/>
          <a:ln/>
        </p:spPr>
        <p:txBody>
          <a:bodyPr wrap="square" lIns="0" tIns="0" rIns="0" bIns="0" rtlCol="0" anchor="ctr">
            <a:normAutofit/>
          </a:bodyPr>
          <a:lstStyle/>
          <a:p>
            <a:pPr marL="0" indent="0" algn="ctr">
              <a:buNone/>
            </a:pPr>
            <a:r>
              <a:rPr lang="en-US" sz="950" dirty="0">
                <a:solidFill>
                  <a:srgbClr val="9AA6BF"/>
                </a:solidFill>
              </a:rPr>
              <a:t>Source Code</a:t>
            </a:r>
            <a:endParaRPr lang="en-US" sz="950" dirty="0"/>
          </a:p>
        </p:txBody>
      </p:sp>
      <p:sp>
        <p:nvSpPr>
          <p:cNvPr id="14" name="Shape 12"/>
          <p:cNvSpPr/>
          <p:nvPr/>
        </p:nvSpPr>
        <p:spPr>
          <a:xfrm>
            <a:off x="4868404" y="2216126"/>
            <a:ext cx="379221" cy="0"/>
          </a:xfrm>
          <a:prstGeom prst="line">
            <a:avLst/>
          </a:prstGeom>
          <a:noFill/>
          <a:ln w="27940">
            <a:solidFill>
              <a:srgbClr val="3DD9FF"/>
            </a:solidFill>
            <a:prstDash val="solid"/>
            <a:headEnd type="none"/>
            <a:tailEnd type="triangle"/>
          </a:ln>
        </p:spPr>
        <p:txBody>
          <a:bodyPr/>
          <a:lstStyle/>
          <a:p>
            <a:endParaRPr lang="en-US"/>
          </a:p>
        </p:txBody>
      </p:sp>
      <p:sp>
        <p:nvSpPr>
          <p:cNvPr id="15" name="Shape 13"/>
          <p:cNvSpPr/>
          <p:nvPr/>
        </p:nvSpPr>
        <p:spPr>
          <a:xfrm>
            <a:off x="5065776" y="1689052"/>
            <a:ext cx="2070340" cy="1042416"/>
          </a:xfrm>
          <a:prstGeom prst="roundRect">
            <a:avLst>
              <a:gd name="adj" fmla="val 6742"/>
            </a:avLst>
          </a:prstGeom>
          <a:solidFill>
            <a:srgbClr val="19223A"/>
          </a:solidFill>
          <a:ln w="12700">
            <a:solidFill>
              <a:srgbClr val="F7F9FC"/>
            </a:solidFill>
            <a:prstDash val="solid"/>
          </a:ln>
          <a:effectLst>
            <a:outerShdw blurRad="25400" dist="12700" dir="2700000" algn="bl" rotWithShape="0">
              <a:srgbClr val="000000">
                <a:alpha val="18000"/>
              </a:srgbClr>
            </a:outerShdw>
          </a:effectLst>
        </p:spPr>
        <p:txBody>
          <a:bodyPr/>
          <a:lstStyle/>
          <a:p>
            <a:endParaRPr lang="en-US"/>
          </a:p>
        </p:txBody>
      </p:sp>
      <p:sp>
        <p:nvSpPr>
          <p:cNvPr id="16" name="Text 14"/>
          <p:cNvSpPr/>
          <p:nvPr/>
        </p:nvSpPr>
        <p:spPr>
          <a:xfrm>
            <a:off x="5678424" y="1908508"/>
            <a:ext cx="696946" cy="245963"/>
          </a:xfrm>
          <a:prstGeom prst="rect">
            <a:avLst/>
          </a:prstGeom>
          <a:noFill/>
          <a:ln/>
        </p:spPr>
        <p:txBody>
          <a:bodyPr wrap="square" lIns="0" tIns="0" rIns="0" bIns="0" rtlCol="0" anchor="ctr"/>
          <a:lstStyle/>
          <a:p>
            <a:pPr marL="0" indent="0" algn="ctr">
              <a:buNone/>
            </a:pPr>
            <a:endParaRPr lang="en-US" sz="2500" dirty="0"/>
          </a:p>
        </p:txBody>
      </p:sp>
      <p:sp>
        <p:nvSpPr>
          <p:cNvPr id="17" name="Text 15"/>
          <p:cNvSpPr/>
          <p:nvPr/>
        </p:nvSpPr>
        <p:spPr>
          <a:xfrm>
            <a:off x="5202936" y="2411428"/>
            <a:ext cx="1762864" cy="163976"/>
          </a:xfrm>
          <a:prstGeom prst="rect">
            <a:avLst/>
          </a:prstGeom>
          <a:noFill/>
          <a:ln/>
        </p:spPr>
        <p:txBody>
          <a:bodyPr wrap="square" lIns="0" tIns="0" rIns="0" bIns="0" rtlCol="0" anchor="ctr"/>
          <a:lstStyle/>
          <a:p>
            <a:pPr marL="0" indent="0" algn="ctr">
              <a:buNone/>
            </a:pPr>
            <a:r>
              <a:rPr lang="en-US" sz="1400" b="1" dirty="0">
                <a:solidFill>
                  <a:srgbClr val="F7F9FC"/>
                </a:solidFill>
              </a:rPr>
              <a:t>VERCEL</a:t>
            </a:r>
            <a:endParaRPr lang="en-US" sz="1400" dirty="0"/>
          </a:p>
        </p:txBody>
      </p:sp>
      <p:sp>
        <p:nvSpPr>
          <p:cNvPr id="18" name="Text 16"/>
          <p:cNvSpPr/>
          <p:nvPr/>
        </p:nvSpPr>
        <p:spPr>
          <a:xfrm>
            <a:off x="5226200" y="2565652"/>
            <a:ext cx="1701369" cy="152263"/>
          </a:xfrm>
          <a:prstGeom prst="rect">
            <a:avLst/>
          </a:prstGeom>
          <a:noFill/>
          <a:ln/>
        </p:spPr>
        <p:txBody>
          <a:bodyPr wrap="square" lIns="0" tIns="0" rIns="0" bIns="0" rtlCol="0" anchor="ctr">
            <a:normAutofit/>
          </a:bodyPr>
          <a:lstStyle/>
          <a:p>
            <a:pPr marL="0" indent="0" algn="ctr">
              <a:buNone/>
            </a:pPr>
            <a:r>
              <a:rPr lang="en-US" sz="950" dirty="0">
                <a:solidFill>
                  <a:srgbClr val="9AA6BF"/>
                </a:solidFill>
              </a:rPr>
              <a:t>Hosting + Deploy</a:t>
            </a:r>
            <a:endParaRPr lang="en-US" sz="950" dirty="0"/>
          </a:p>
        </p:txBody>
      </p:sp>
      <p:sp>
        <p:nvSpPr>
          <p:cNvPr id="19" name="Shape 17"/>
          <p:cNvSpPr/>
          <p:nvPr/>
        </p:nvSpPr>
        <p:spPr>
          <a:xfrm>
            <a:off x="7136116" y="2216126"/>
            <a:ext cx="379221" cy="0"/>
          </a:xfrm>
          <a:prstGeom prst="line">
            <a:avLst/>
          </a:prstGeom>
          <a:noFill/>
          <a:ln w="27940">
            <a:solidFill>
              <a:srgbClr val="3DD9FF"/>
            </a:solidFill>
            <a:prstDash val="solid"/>
            <a:headEnd type="none"/>
            <a:tailEnd type="triangle"/>
          </a:ln>
        </p:spPr>
        <p:txBody>
          <a:bodyPr/>
          <a:lstStyle/>
          <a:p>
            <a:endParaRPr lang="en-US"/>
          </a:p>
        </p:txBody>
      </p:sp>
      <p:sp>
        <p:nvSpPr>
          <p:cNvPr id="20" name="Shape 18"/>
          <p:cNvSpPr/>
          <p:nvPr/>
        </p:nvSpPr>
        <p:spPr>
          <a:xfrm>
            <a:off x="7333488" y="1689052"/>
            <a:ext cx="2070340" cy="1042416"/>
          </a:xfrm>
          <a:prstGeom prst="roundRect">
            <a:avLst>
              <a:gd name="adj" fmla="val 6742"/>
            </a:avLst>
          </a:prstGeom>
          <a:solidFill>
            <a:srgbClr val="19223A"/>
          </a:solidFill>
          <a:ln w="12700">
            <a:solidFill>
              <a:srgbClr val="2B3856"/>
            </a:solidFill>
            <a:prstDash val="solid"/>
          </a:ln>
        </p:spPr>
        <p:txBody>
          <a:bodyPr/>
          <a:lstStyle/>
          <a:p>
            <a:endParaRPr lang="en-US"/>
          </a:p>
        </p:txBody>
      </p:sp>
      <p:sp>
        <p:nvSpPr>
          <p:cNvPr id="21" name="Text 19"/>
          <p:cNvSpPr/>
          <p:nvPr/>
        </p:nvSpPr>
        <p:spPr>
          <a:xfrm>
            <a:off x="7946136" y="1908508"/>
            <a:ext cx="696946" cy="245963"/>
          </a:xfrm>
          <a:prstGeom prst="rect">
            <a:avLst/>
          </a:prstGeom>
          <a:noFill/>
          <a:ln/>
        </p:spPr>
        <p:txBody>
          <a:bodyPr wrap="square" lIns="0" tIns="0" rIns="0" bIns="0" rtlCol="0" anchor="ctr"/>
          <a:lstStyle/>
          <a:p>
            <a:pPr marL="0" indent="0" algn="ctr">
              <a:buNone/>
            </a:pPr>
            <a:r>
              <a:rPr lang="en-US" sz="2500" dirty="0">
                <a:solidFill>
                  <a:srgbClr val="3DD9FF"/>
                </a:solidFill>
              </a:rPr>
              <a:t>🌐</a:t>
            </a:r>
            <a:endParaRPr lang="en-US" sz="2500" dirty="0"/>
          </a:p>
        </p:txBody>
      </p:sp>
      <p:sp>
        <p:nvSpPr>
          <p:cNvPr id="22" name="Text 20"/>
          <p:cNvSpPr/>
          <p:nvPr/>
        </p:nvSpPr>
        <p:spPr>
          <a:xfrm>
            <a:off x="7470648" y="2411428"/>
            <a:ext cx="1762864" cy="163976"/>
          </a:xfrm>
          <a:prstGeom prst="rect">
            <a:avLst/>
          </a:prstGeom>
          <a:noFill/>
          <a:ln/>
        </p:spPr>
        <p:txBody>
          <a:bodyPr wrap="square" lIns="0" tIns="0" rIns="0" bIns="0" rtlCol="0" anchor="ctr"/>
          <a:lstStyle/>
          <a:p>
            <a:pPr marL="0" indent="0" algn="ctr">
              <a:buNone/>
            </a:pPr>
            <a:r>
              <a:rPr lang="en-US" sz="1400" b="1" dirty="0">
                <a:solidFill>
                  <a:srgbClr val="F7F9FC"/>
                </a:solidFill>
              </a:rPr>
              <a:t>WEBSITE</a:t>
            </a:r>
            <a:endParaRPr lang="en-US" sz="1400" dirty="0"/>
          </a:p>
        </p:txBody>
      </p:sp>
      <p:sp>
        <p:nvSpPr>
          <p:cNvPr id="23" name="Text 21"/>
          <p:cNvSpPr/>
          <p:nvPr/>
        </p:nvSpPr>
        <p:spPr>
          <a:xfrm>
            <a:off x="7493912" y="2565652"/>
            <a:ext cx="1701369" cy="152263"/>
          </a:xfrm>
          <a:prstGeom prst="rect">
            <a:avLst/>
          </a:prstGeom>
          <a:noFill/>
          <a:ln/>
        </p:spPr>
        <p:txBody>
          <a:bodyPr wrap="square" lIns="0" tIns="0" rIns="0" bIns="0" rtlCol="0" anchor="ctr">
            <a:normAutofit/>
          </a:bodyPr>
          <a:lstStyle/>
          <a:p>
            <a:pPr marL="0" indent="0" algn="ctr">
              <a:buNone/>
            </a:pPr>
            <a:r>
              <a:rPr lang="en-US" sz="950" dirty="0">
                <a:solidFill>
                  <a:srgbClr val="9AA6BF"/>
                </a:solidFill>
              </a:rPr>
              <a:t>Người dùng truy cập</a:t>
            </a:r>
            <a:endParaRPr lang="en-US" sz="950" dirty="0"/>
          </a:p>
        </p:txBody>
      </p:sp>
      <p:sp>
        <p:nvSpPr>
          <p:cNvPr id="24" name="Shape 22"/>
          <p:cNvSpPr/>
          <p:nvPr/>
        </p:nvSpPr>
        <p:spPr>
          <a:xfrm>
            <a:off x="9403828" y="2216126"/>
            <a:ext cx="379221" cy="0"/>
          </a:xfrm>
          <a:prstGeom prst="line">
            <a:avLst/>
          </a:prstGeom>
          <a:noFill/>
          <a:ln w="27940">
            <a:solidFill>
              <a:srgbClr val="3DD9FF"/>
            </a:solidFill>
            <a:prstDash val="solid"/>
            <a:headEnd type="none"/>
            <a:tailEnd type="triangle"/>
          </a:ln>
        </p:spPr>
        <p:txBody>
          <a:bodyPr/>
          <a:lstStyle/>
          <a:p>
            <a:endParaRPr lang="en-US"/>
          </a:p>
        </p:txBody>
      </p:sp>
      <p:sp>
        <p:nvSpPr>
          <p:cNvPr id="25" name="Shape 23"/>
          <p:cNvSpPr/>
          <p:nvPr/>
        </p:nvSpPr>
        <p:spPr>
          <a:xfrm>
            <a:off x="9601200" y="1689052"/>
            <a:ext cx="2070340" cy="1042416"/>
          </a:xfrm>
          <a:prstGeom prst="roundRect">
            <a:avLst>
              <a:gd name="adj" fmla="val 6742"/>
            </a:avLst>
          </a:prstGeom>
          <a:solidFill>
            <a:srgbClr val="19223A"/>
          </a:solidFill>
          <a:ln w="12700">
            <a:solidFill>
              <a:srgbClr val="FF9E42"/>
            </a:solidFill>
            <a:prstDash val="solid"/>
          </a:ln>
        </p:spPr>
        <p:txBody>
          <a:bodyPr/>
          <a:lstStyle/>
          <a:p>
            <a:endParaRPr lang="en-US"/>
          </a:p>
        </p:txBody>
      </p:sp>
      <p:sp>
        <p:nvSpPr>
          <p:cNvPr id="26" name="Text 24"/>
          <p:cNvSpPr/>
          <p:nvPr/>
        </p:nvSpPr>
        <p:spPr>
          <a:xfrm>
            <a:off x="10213848" y="1908508"/>
            <a:ext cx="696946" cy="245963"/>
          </a:xfrm>
          <a:prstGeom prst="rect">
            <a:avLst/>
          </a:prstGeom>
          <a:noFill/>
          <a:ln/>
        </p:spPr>
        <p:txBody>
          <a:bodyPr wrap="square" lIns="0" tIns="0" rIns="0" bIns="0" rtlCol="0" anchor="ctr"/>
          <a:lstStyle/>
          <a:p>
            <a:pPr marL="0" indent="0" algn="ctr">
              <a:buNone/>
            </a:pPr>
            <a:r>
              <a:rPr lang="en-US" sz="2500" dirty="0">
                <a:solidFill>
                  <a:srgbClr val="FF9E42"/>
                </a:solidFill>
              </a:rPr>
              <a:t>🔥</a:t>
            </a:r>
            <a:endParaRPr lang="en-US" sz="2500" dirty="0"/>
          </a:p>
        </p:txBody>
      </p:sp>
      <p:sp>
        <p:nvSpPr>
          <p:cNvPr id="27" name="Text 25"/>
          <p:cNvSpPr/>
          <p:nvPr/>
        </p:nvSpPr>
        <p:spPr>
          <a:xfrm>
            <a:off x="9738360" y="2411428"/>
            <a:ext cx="1762864" cy="163976"/>
          </a:xfrm>
          <a:prstGeom prst="rect">
            <a:avLst/>
          </a:prstGeom>
          <a:noFill/>
          <a:ln/>
        </p:spPr>
        <p:txBody>
          <a:bodyPr wrap="square" lIns="0" tIns="0" rIns="0" bIns="0" rtlCol="0" anchor="ctr"/>
          <a:lstStyle/>
          <a:p>
            <a:pPr marL="0" indent="0" algn="ctr">
              <a:buNone/>
            </a:pPr>
            <a:r>
              <a:rPr lang="en-US" sz="1400" b="1" dirty="0">
                <a:solidFill>
                  <a:srgbClr val="F7F9FC"/>
                </a:solidFill>
              </a:rPr>
              <a:t>FIREBASE</a:t>
            </a:r>
            <a:endParaRPr lang="en-US" sz="1400" dirty="0"/>
          </a:p>
        </p:txBody>
      </p:sp>
      <p:sp>
        <p:nvSpPr>
          <p:cNvPr id="28" name="Text 26"/>
          <p:cNvSpPr/>
          <p:nvPr/>
        </p:nvSpPr>
        <p:spPr>
          <a:xfrm>
            <a:off x="9761624" y="2565652"/>
            <a:ext cx="1701369" cy="152263"/>
          </a:xfrm>
          <a:prstGeom prst="rect">
            <a:avLst/>
          </a:prstGeom>
          <a:noFill/>
          <a:ln/>
        </p:spPr>
        <p:txBody>
          <a:bodyPr wrap="square" lIns="0" tIns="0" rIns="0" bIns="0" rtlCol="0" anchor="ctr">
            <a:normAutofit/>
          </a:bodyPr>
          <a:lstStyle/>
          <a:p>
            <a:pPr marL="0" indent="0" algn="ctr">
              <a:buNone/>
            </a:pPr>
            <a:r>
              <a:rPr lang="en-US" sz="950" dirty="0">
                <a:solidFill>
                  <a:srgbClr val="9AA6BF"/>
                </a:solidFill>
              </a:rPr>
              <a:t>Cloud Database</a:t>
            </a:r>
            <a:endParaRPr lang="en-US" sz="950" dirty="0"/>
          </a:p>
        </p:txBody>
      </p:sp>
      <p:sp>
        <p:nvSpPr>
          <p:cNvPr id="29" name="Shape 27"/>
          <p:cNvSpPr/>
          <p:nvPr/>
        </p:nvSpPr>
        <p:spPr>
          <a:xfrm>
            <a:off x="530352" y="4081940"/>
            <a:ext cx="6288626" cy="715603"/>
          </a:xfrm>
          <a:prstGeom prst="roundRect">
            <a:avLst>
              <a:gd name="adj" fmla="val 10169"/>
            </a:avLst>
          </a:prstGeom>
          <a:solidFill>
            <a:srgbClr val="10182B"/>
          </a:solidFill>
          <a:ln w="12700">
            <a:solidFill>
              <a:srgbClr val="25324A"/>
            </a:solidFill>
            <a:prstDash val="solid"/>
          </a:ln>
        </p:spPr>
        <p:txBody>
          <a:bodyPr/>
          <a:lstStyle/>
          <a:p>
            <a:endParaRPr lang="en-US"/>
          </a:p>
        </p:txBody>
      </p:sp>
      <p:sp>
        <p:nvSpPr>
          <p:cNvPr id="30" name="Text 28"/>
          <p:cNvSpPr/>
          <p:nvPr/>
        </p:nvSpPr>
        <p:spPr>
          <a:xfrm>
            <a:off x="610475" y="4328828"/>
            <a:ext cx="1098844" cy="228600"/>
          </a:xfrm>
          <a:prstGeom prst="rect">
            <a:avLst/>
          </a:prstGeom>
          <a:noFill/>
          <a:ln/>
        </p:spPr>
        <p:txBody>
          <a:bodyPr wrap="square" lIns="0" tIns="0" rIns="0" bIns="0" rtlCol="0" anchor="ctr"/>
          <a:lstStyle/>
          <a:p>
            <a:pPr marL="0" indent="0">
              <a:buNone/>
            </a:pPr>
            <a:r>
              <a:rPr lang="en-US" sz="1200" b="1" dirty="0">
                <a:solidFill>
                  <a:srgbClr val="3DD9FF"/>
                </a:solidFill>
              </a:rPr>
              <a:t>Luồng dữ liệu</a:t>
            </a:r>
            <a:endParaRPr lang="en-US" sz="1200" dirty="0"/>
          </a:p>
        </p:txBody>
      </p:sp>
      <p:sp>
        <p:nvSpPr>
          <p:cNvPr id="31" name="Text 29"/>
          <p:cNvSpPr/>
          <p:nvPr/>
        </p:nvSpPr>
        <p:spPr>
          <a:xfrm>
            <a:off x="1808339" y="4283108"/>
            <a:ext cx="7208417" cy="310896"/>
          </a:xfrm>
          <a:prstGeom prst="rect">
            <a:avLst/>
          </a:prstGeom>
          <a:noFill/>
          <a:ln/>
        </p:spPr>
        <p:txBody>
          <a:bodyPr wrap="square" lIns="0" tIns="0" rIns="0" bIns="0" rtlCol="0" anchor="ctr">
            <a:normAutofit/>
          </a:bodyPr>
          <a:lstStyle/>
          <a:p>
            <a:pPr marL="0" indent="0">
              <a:buNone/>
            </a:pPr>
            <a:r>
              <a:rPr lang="en-US" sz="1500" dirty="0">
                <a:solidFill>
                  <a:srgbClr val="F7F9FC"/>
                </a:solidFill>
              </a:rPr>
              <a:t>Developer → GitHub → Vercel → Website → Firebase / Firestore</a:t>
            </a:r>
            <a:endParaRPr lang="en-US" sz="1500" dirty="0"/>
          </a:p>
        </p:txBody>
      </p:sp>
      <p:sp>
        <p:nvSpPr>
          <p:cNvPr id="35"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3</a:t>
            </a:fld>
            <a:endParaRPr lang="en-US"/>
          </a:p>
        </p:txBody>
      </p:sp>
      <p:pic>
        <p:nvPicPr>
          <p:cNvPr id="38" name="Hình ảnh 37" descr="Comparing GitHub Hosting with Vercel and Firebase">
            <a:extLst>
              <a:ext uri="{FF2B5EF4-FFF2-40B4-BE49-F238E27FC236}">
                <a16:creationId xmlns:a16="http://schemas.microsoft.com/office/drawing/2014/main" id="{1DD8F40B-26A1-4757-B010-CBB4EB417D04}"/>
              </a:ext>
            </a:extLst>
          </p:cNvPr>
          <p:cNvPicPr>
            <a:picLocks noChangeAspect="1"/>
          </p:cNvPicPr>
          <p:nvPr/>
        </p:nvPicPr>
        <p:blipFill>
          <a:blip r:embed="rId3"/>
          <a:srcRect b="26433"/>
          <a:stretch>
            <a:fillRect/>
          </a:stretch>
        </p:blipFill>
        <p:spPr>
          <a:xfrm>
            <a:off x="7166567" y="3400566"/>
            <a:ext cx="4474521" cy="2098305"/>
          </a:xfrm>
          <a:prstGeom prst="rect">
            <a:avLst/>
          </a:prstGeom>
        </p:spPr>
      </p:pic>
      <p:pic>
        <p:nvPicPr>
          <p:cNvPr id="41" name="Hình ảnh 40" descr="Github Logo - Free social media icons">
            <a:extLst>
              <a:ext uri="{FF2B5EF4-FFF2-40B4-BE49-F238E27FC236}">
                <a16:creationId xmlns:a16="http://schemas.microsoft.com/office/drawing/2014/main" id="{F7CE0CC5-212E-E958-CE6D-48BDA79DED85}"/>
              </a:ext>
            </a:extLst>
          </p:cNvPr>
          <p:cNvPicPr>
            <a:picLocks noChangeAspect="1"/>
          </p:cNvPicPr>
          <p:nvPr/>
        </p:nvPicPr>
        <p:blipFill>
          <a:blip r:embed="rId4"/>
          <a:stretch>
            <a:fillRect/>
          </a:stretch>
        </p:blipFill>
        <p:spPr>
          <a:xfrm>
            <a:off x="3635436" y="1868654"/>
            <a:ext cx="347472" cy="347472"/>
          </a:xfrm>
          <a:prstGeom prst="rect">
            <a:avLst/>
          </a:prstGeom>
        </p:spPr>
      </p:pic>
      <p:pic>
        <p:nvPicPr>
          <p:cNvPr id="42" name="Hình ảnh 41" descr="Vercel Logo and symbol, meaning, history, PNG, brand">
            <a:extLst>
              <a:ext uri="{FF2B5EF4-FFF2-40B4-BE49-F238E27FC236}">
                <a16:creationId xmlns:a16="http://schemas.microsoft.com/office/drawing/2014/main" id="{F3F9BB3B-1801-2AB4-A973-F9E4DF8BF68F}"/>
              </a:ext>
            </a:extLst>
          </p:cNvPr>
          <p:cNvPicPr>
            <a:picLocks noChangeAspect="1"/>
          </p:cNvPicPr>
          <p:nvPr/>
        </p:nvPicPr>
        <p:blipFill>
          <a:blip r:embed="rId5"/>
          <a:srcRect t="28927" b="27392"/>
          <a:stretch>
            <a:fillRect/>
          </a:stretch>
        </p:blipFill>
        <p:spPr>
          <a:xfrm>
            <a:off x="5798613" y="1967243"/>
            <a:ext cx="668457" cy="163976"/>
          </a:xfrm>
          <a:prstGeom prst="rect">
            <a:avLst/>
          </a:prstGeom>
          <a:effectLst>
            <a:softEdge rad="25400"/>
          </a:effectLst>
        </p:spPr>
      </p:pic>
      <p:pic>
        <p:nvPicPr>
          <p:cNvPr id="44" name="Hình ảnh 43">
            <a:extLst>
              <a:ext uri="{FF2B5EF4-FFF2-40B4-BE49-F238E27FC236}">
                <a16:creationId xmlns:a16="http://schemas.microsoft.com/office/drawing/2014/main" id="{DCC2DA76-AC9E-AACD-9743-312E87A93450}"/>
              </a:ext>
            </a:extLst>
          </p:cNvPr>
          <p:cNvPicPr>
            <a:picLocks noChangeAspect="1"/>
          </p:cNvPicPr>
          <p:nvPr/>
        </p:nvPicPr>
        <p:blipFill>
          <a:blip r:embed="rId6"/>
          <a:stretch>
            <a:fillRect/>
          </a:stretch>
        </p:blipFill>
        <p:spPr>
          <a:xfrm>
            <a:off x="10227104" y="3453844"/>
            <a:ext cx="409266" cy="44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03 • CHUẨN BỊ</a:t>
            </a:r>
            <a:endParaRPr lang="en-US" sz="1000" dirty="0"/>
          </a:p>
        </p:txBody>
      </p:sp>
      <p:sp>
        <p:nvSpPr>
          <p:cNvPr id="3" name="Text 1"/>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Cần gì trước khi bắt đầu?</a:t>
            </a:r>
            <a:endParaRPr lang="en-US" sz="2700" dirty="0"/>
          </a:p>
        </p:txBody>
      </p:sp>
      <p:sp>
        <p:nvSpPr>
          <p:cNvPr id="4" name="Text 2"/>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Một project đơn giản là đủ để thực hiện toàn bộ quy trình.</a:t>
            </a:r>
            <a:endParaRPr lang="en-US" sz="1250" dirty="0"/>
          </a:p>
        </p:txBody>
      </p:sp>
      <p:sp>
        <p:nvSpPr>
          <p:cNvPr id="5" name="Shape 3"/>
          <p:cNvSpPr/>
          <p:nvPr/>
        </p:nvSpPr>
        <p:spPr>
          <a:xfrm>
            <a:off x="548640" y="1847088"/>
            <a:ext cx="5623560" cy="4251960"/>
          </a:xfrm>
          <a:prstGeom prst="roundRect">
            <a:avLst>
              <a:gd name="adj" fmla="val 2581"/>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a:p>
        </p:txBody>
      </p:sp>
      <p:sp>
        <p:nvSpPr>
          <p:cNvPr id="6" name="Shape 4"/>
          <p:cNvSpPr/>
          <p:nvPr/>
        </p:nvSpPr>
        <p:spPr>
          <a:xfrm>
            <a:off x="822960" y="2286000"/>
            <a:ext cx="1828800" cy="438912"/>
          </a:xfrm>
          <a:prstGeom prst="roundRect">
            <a:avLst>
              <a:gd name="adj" fmla="val 20833"/>
            </a:avLst>
          </a:prstGeom>
          <a:solidFill>
            <a:srgbClr val="172139"/>
          </a:solidFill>
          <a:ln w="12700">
            <a:solidFill>
              <a:srgbClr val="3DD9FF">
                <a:alpha val="30000"/>
              </a:srgbClr>
            </a:solidFill>
            <a:prstDash val="solid"/>
          </a:ln>
        </p:spPr>
        <p:txBody>
          <a:bodyPr/>
          <a:lstStyle/>
          <a:p>
            <a:endParaRPr lang="en-US"/>
          </a:p>
        </p:txBody>
      </p:sp>
      <p:sp>
        <p:nvSpPr>
          <p:cNvPr id="7" name="Text 5"/>
          <p:cNvSpPr/>
          <p:nvPr/>
        </p:nvSpPr>
        <p:spPr>
          <a:xfrm>
            <a:off x="932688" y="2404872"/>
            <a:ext cx="1609344"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7F9FC"/>
                </a:solidFill>
              </a:rPr>
              <a:t>VS Code</a:t>
            </a:r>
            <a:endParaRPr lang="en-US" sz="1250" dirty="0"/>
          </a:p>
        </p:txBody>
      </p:sp>
      <p:sp>
        <p:nvSpPr>
          <p:cNvPr id="8" name="Text 6"/>
          <p:cNvSpPr/>
          <p:nvPr/>
        </p:nvSpPr>
        <p:spPr>
          <a:xfrm>
            <a:off x="2880360" y="2350008"/>
            <a:ext cx="2743200" cy="256032"/>
          </a:xfrm>
          <a:prstGeom prst="rect">
            <a:avLst/>
          </a:prstGeom>
          <a:noFill/>
          <a:ln/>
        </p:spPr>
        <p:txBody>
          <a:bodyPr wrap="square" lIns="0" tIns="0" rIns="0" bIns="0" rtlCol="0" anchor="ctr">
            <a:normAutofit/>
          </a:bodyPr>
          <a:lstStyle/>
          <a:p>
            <a:pPr marL="0" indent="0">
              <a:buNone/>
            </a:pPr>
            <a:r>
              <a:rPr lang="en-US" sz="1100" dirty="0">
                <a:solidFill>
                  <a:srgbClr val="DDE4F2"/>
                </a:solidFill>
              </a:rPr>
              <a:t>Soạn thảo mã nguồn</a:t>
            </a:r>
            <a:endParaRPr lang="en-US" sz="1100" dirty="0"/>
          </a:p>
        </p:txBody>
      </p:sp>
      <p:sp>
        <p:nvSpPr>
          <p:cNvPr id="9" name="Shape 7"/>
          <p:cNvSpPr/>
          <p:nvPr/>
        </p:nvSpPr>
        <p:spPr>
          <a:xfrm>
            <a:off x="822960" y="2944368"/>
            <a:ext cx="1828800" cy="438912"/>
          </a:xfrm>
          <a:prstGeom prst="roundRect">
            <a:avLst>
              <a:gd name="adj" fmla="val 20833"/>
            </a:avLst>
          </a:prstGeom>
          <a:solidFill>
            <a:srgbClr val="172139"/>
          </a:solidFill>
          <a:ln w="12700">
            <a:solidFill>
              <a:srgbClr val="A77BFF">
                <a:alpha val="30000"/>
              </a:srgbClr>
            </a:solidFill>
            <a:prstDash val="solid"/>
          </a:ln>
        </p:spPr>
        <p:txBody>
          <a:bodyPr/>
          <a:lstStyle/>
          <a:p>
            <a:endParaRPr lang="en-US"/>
          </a:p>
        </p:txBody>
      </p:sp>
      <p:sp>
        <p:nvSpPr>
          <p:cNvPr id="10" name="Text 8"/>
          <p:cNvSpPr/>
          <p:nvPr/>
        </p:nvSpPr>
        <p:spPr>
          <a:xfrm>
            <a:off x="932688" y="3063240"/>
            <a:ext cx="1609344"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7F9FC"/>
                </a:solidFill>
              </a:rPr>
              <a:t>Git</a:t>
            </a:r>
            <a:endParaRPr lang="en-US" sz="1250" dirty="0"/>
          </a:p>
        </p:txBody>
      </p:sp>
      <p:sp>
        <p:nvSpPr>
          <p:cNvPr id="11" name="Text 9"/>
          <p:cNvSpPr/>
          <p:nvPr/>
        </p:nvSpPr>
        <p:spPr>
          <a:xfrm>
            <a:off x="2880360" y="3008376"/>
            <a:ext cx="2743200" cy="256032"/>
          </a:xfrm>
          <a:prstGeom prst="rect">
            <a:avLst/>
          </a:prstGeom>
          <a:noFill/>
          <a:ln/>
        </p:spPr>
        <p:txBody>
          <a:bodyPr wrap="square" lIns="0" tIns="0" rIns="0" bIns="0" rtlCol="0" anchor="ctr">
            <a:normAutofit/>
          </a:bodyPr>
          <a:lstStyle/>
          <a:p>
            <a:pPr marL="0" indent="0">
              <a:buNone/>
            </a:pPr>
            <a:r>
              <a:rPr lang="en-US" sz="1100" dirty="0">
                <a:solidFill>
                  <a:srgbClr val="DDE4F2"/>
                </a:solidFill>
              </a:rPr>
              <a:t>Quản lý phiên bản</a:t>
            </a:r>
            <a:endParaRPr lang="en-US" sz="1100" dirty="0"/>
          </a:p>
        </p:txBody>
      </p:sp>
      <p:sp>
        <p:nvSpPr>
          <p:cNvPr id="12" name="Shape 10"/>
          <p:cNvSpPr/>
          <p:nvPr/>
        </p:nvSpPr>
        <p:spPr>
          <a:xfrm>
            <a:off x="822960" y="3602736"/>
            <a:ext cx="1828800" cy="438912"/>
          </a:xfrm>
          <a:prstGeom prst="roundRect">
            <a:avLst>
              <a:gd name="adj" fmla="val 20833"/>
            </a:avLst>
          </a:prstGeom>
          <a:solidFill>
            <a:srgbClr val="172139"/>
          </a:solidFill>
          <a:ln w="12700">
            <a:solidFill>
              <a:srgbClr val="A77BFF">
                <a:alpha val="30000"/>
              </a:srgbClr>
            </a:solidFill>
            <a:prstDash val="solid"/>
          </a:ln>
        </p:spPr>
        <p:txBody>
          <a:bodyPr/>
          <a:lstStyle/>
          <a:p>
            <a:endParaRPr lang="en-US"/>
          </a:p>
        </p:txBody>
      </p:sp>
      <p:sp>
        <p:nvSpPr>
          <p:cNvPr id="13" name="Text 11"/>
          <p:cNvSpPr/>
          <p:nvPr/>
        </p:nvSpPr>
        <p:spPr>
          <a:xfrm>
            <a:off x="932688" y="3721608"/>
            <a:ext cx="1609344"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7F9FC"/>
                </a:solidFill>
              </a:rPr>
              <a:t>GitHub</a:t>
            </a:r>
            <a:endParaRPr lang="en-US" sz="1250" dirty="0"/>
          </a:p>
        </p:txBody>
      </p:sp>
      <p:sp>
        <p:nvSpPr>
          <p:cNvPr id="14" name="Text 12"/>
          <p:cNvSpPr/>
          <p:nvPr/>
        </p:nvSpPr>
        <p:spPr>
          <a:xfrm>
            <a:off x="2880360" y="3666744"/>
            <a:ext cx="2743200" cy="256032"/>
          </a:xfrm>
          <a:prstGeom prst="rect">
            <a:avLst/>
          </a:prstGeom>
          <a:noFill/>
          <a:ln/>
        </p:spPr>
        <p:txBody>
          <a:bodyPr wrap="square" lIns="0" tIns="0" rIns="0" bIns="0" rtlCol="0" anchor="ctr">
            <a:normAutofit/>
          </a:bodyPr>
          <a:lstStyle/>
          <a:p>
            <a:pPr marL="0" indent="0">
              <a:buNone/>
            </a:pPr>
            <a:r>
              <a:rPr lang="en-US" sz="1100" dirty="0">
                <a:solidFill>
                  <a:srgbClr val="DDE4F2"/>
                </a:solidFill>
              </a:rPr>
              <a:t>Lưu repository</a:t>
            </a:r>
            <a:endParaRPr lang="en-US" sz="1100" dirty="0"/>
          </a:p>
        </p:txBody>
      </p:sp>
      <p:sp>
        <p:nvSpPr>
          <p:cNvPr id="15" name="Shape 13"/>
          <p:cNvSpPr/>
          <p:nvPr/>
        </p:nvSpPr>
        <p:spPr>
          <a:xfrm>
            <a:off x="822960" y="4261104"/>
            <a:ext cx="1828800" cy="438912"/>
          </a:xfrm>
          <a:prstGeom prst="roundRect">
            <a:avLst>
              <a:gd name="adj" fmla="val 20833"/>
            </a:avLst>
          </a:prstGeom>
          <a:solidFill>
            <a:srgbClr val="172139"/>
          </a:solidFill>
          <a:ln w="12700">
            <a:solidFill>
              <a:srgbClr val="F7F9FC">
                <a:alpha val="30000"/>
              </a:srgbClr>
            </a:solidFill>
            <a:prstDash val="solid"/>
          </a:ln>
        </p:spPr>
        <p:txBody>
          <a:bodyPr/>
          <a:lstStyle/>
          <a:p>
            <a:endParaRPr lang="en-US"/>
          </a:p>
        </p:txBody>
      </p:sp>
      <p:sp>
        <p:nvSpPr>
          <p:cNvPr id="16" name="Text 14"/>
          <p:cNvSpPr/>
          <p:nvPr/>
        </p:nvSpPr>
        <p:spPr>
          <a:xfrm>
            <a:off x="932688" y="4379976"/>
            <a:ext cx="1609344"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7F9FC"/>
                </a:solidFill>
              </a:rPr>
              <a:t>Vercel</a:t>
            </a:r>
            <a:endParaRPr lang="en-US" sz="1250" dirty="0"/>
          </a:p>
        </p:txBody>
      </p:sp>
      <p:sp>
        <p:nvSpPr>
          <p:cNvPr id="17" name="Text 15"/>
          <p:cNvSpPr/>
          <p:nvPr/>
        </p:nvSpPr>
        <p:spPr>
          <a:xfrm>
            <a:off x="2880360" y="4325112"/>
            <a:ext cx="2743200" cy="256032"/>
          </a:xfrm>
          <a:prstGeom prst="rect">
            <a:avLst/>
          </a:prstGeom>
          <a:noFill/>
          <a:ln/>
        </p:spPr>
        <p:txBody>
          <a:bodyPr wrap="square" lIns="0" tIns="0" rIns="0" bIns="0" rtlCol="0" anchor="ctr">
            <a:normAutofit/>
          </a:bodyPr>
          <a:lstStyle/>
          <a:p>
            <a:pPr marL="0" indent="0">
              <a:buNone/>
            </a:pPr>
            <a:r>
              <a:rPr lang="en-US" sz="1100" dirty="0">
                <a:solidFill>
                  <a:srgbClr val="DDE4F2"/>
                </a:solidFill>
              </a:rPr>
              <a:t>Deploy website</a:t>
            </a:r>
            <a:endParaRPr lang="en-US" sz="1100" dirty="0"/>
          </a:p>
        </p:txBody>
      </p:sp>
      <p:sp>
        <p:nvSpPr>
          <p:cNvPr id="18" name="Shape 16"/>
          <p:cNvSpPr/>
          <p:nvPr/>
        </p:nvSpPr>
        <p:spPr>
          <a:xfrm>
            <a:off x="822960" y="4919472"/>
            <a:ext cx="1828800" cy="438912"/>
          </a:xfrm>
          <a:prstGeom prst="roundRect">
            <a:avLst>
              <a:gd name="adj" fmla="val 20833"/>
            </a:avLst>
          </a:prstGeom>
          <a:solidFill>
            <a:srgbClr val="172139"/>
          </a:solidFill>
          <a:ln w="12700">
            <a:solidFill>
              <a:srgbClr val="FF9E42">
                <a:alpha val="30000"/>
              </a:srgbClr>
            </a:solidFill>
            <a:prstDash val="solid"/>
          </a:ln>
        </p:spPr>
        <p:txBody>
          <a:bodyPr/>
          <a:lstStyle/>
          <a:p>
            <a:endParaRPr lang="en-US"/>
          </a:p>
        </p:txBody>
      </p:sp>
      <p:sp>
        <p:nvSpPr>
          <p:cNvPr id="19" name="Text 17"/>
          <p:cNvSpPr/>
          <p:nvPr/>
        </p:nvSpPr>
        <p:spPr>
          <a:xfrm>
            <a:off x="932688" y="5038344"/>
            <a:ext cx="1609344"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7F9FC"/>
                </a:solidFill>
              </a:rPr>
              <a:t>Google Account</a:t>
            </a:r>
            <a:endParaRPr lang="en-US" sz="1250" dirty="0"/>
          </a:p>
        </p:txBody>
      </p:sp>
      <p:sp>
        <p:nvSpPr>
          <p:cNvPr id="20" name="Text 18"/>
          <p:cNvSpPr/>
          <p:nvPr/>
        </p:nvSpPr>
        <p:spPr>
          <a:xfrm>
            <a:off x="2880360" y="4983480"/>
            <a:ext cx="2743200" cy="256032"/>
          </a:xfrm>
          <a:prstGeom prst="rect">
            <a:avLst/>
          </a:prstGeom>
          <a:noFill/>
          <a:ln/>
        </p:spPr>
        <p:txBody>
          <a:bodyPr wrap="square" lIns="0" tIns="0" rIns="0" bIns="0" rtlCol="0" anchor="ctr">
            <a:normAutofit/>
          </a:bodyPr>
          <a:lstStyle/>
          <a:p>
            <a:pPr marL="0" indent="0">
              <a:buNone/>
            </a:pPr>
            <a:r>
              <a:rPr lang="en-US" sz="1100" dirty="0">
                <a:solidFill>
                  <a:srgbClr val="DDE4F2"/>
                </a:solidFill>
              </a:rPr>
              <a:t>Tạo Firebase Project</a:t>
            </a:r>
            <a:endParaRPr lang="en-US" sz="1100" dirty="0"/>
          </a:p>
        </p:txBody>
      </p:sp>
      <p:sp>
        <p:nvSpPr>
          <p:cNvPr id="27"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4</a:t>
            </a:fld>
            <a:endParaRPr lang="en-US"/>
          </a:p>
        </p:txBody>
      </p:sp>
      <p:pic>
        <p:nvPicPr>
          <p:cNvPr id="29" name="Hình ảnh 28">
            <a:extLst>
              <a:ext uri="{FF2B5EF4-FFF2-40B4-BE49-F238E27FC236}">
                <a16:creationId xmlns:a16="http://schemas.microsoft.com/office/drawing/2014/main" id="{301F0A42-E28A-D8A9-8C6C-2146530AB8E4}"/>
              </a:ext>
            </a:extLst>
          </p:cNvPr>
          <p:cNvPicPr>
            <a:picLocks noChangeAspect="1"/>
          </p:cNvPicPr>
          <p:nvPr/>
        </p:nvPicPr>
        <p:blipFill>
          <a:blip r:embed="rId3"/>
          <a:stretch>
            <a:fillRect/>
          </a:stretch>
        </p:blipFill>
        <p:spPr>
          <a:xfrm>
            <a:off x="6468676" y="3822192"/>
            <a:ext cx="4808220" cy="2281033"/>
          </a:xfrm>
          <a:prstGeom prst="rect">
            <a:avLst/>
          </a:prstGeom>
        </p:spPr>
      </p:pic>
      <p:pic>
        <p:nvPicPr>
          <p:cNvPr id="31" name="Hình ảnh 30">
            <a:extLst>
              <a:ext uri="{FF2B5EF4-FFF2-40B4-BE49-F238E27FC236}">
                <a16:creationId xmlns:a16="http://schemas.microsoft.com/office/drawing/2014/main" id="{EF839BBC-BE24-E656-24A8-C8A24EC133DA}"/>
              </a:ext>
            </a:extLst>
          </p:cNvPr>
          <p:cNvPicPr>
            <a:picLocks noChangeAspect="1"/>
          </p:cNvPicPr>
          <p:nvPr/>
        </p:nvPicPr>
        <p:blipFill>
          <a:blip r:embed="rId4"/>
          <a:stretch>
            <a:fillRect/>
          </a:stretch>
        </p:blipFill>
        <p:spPr>
          <a:xfrm>
            <a:off x="6451092" y="1877807"/>
            <a:ext cx="4825804" cy="17889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04 • GITHUB</a:t>
            </a:r>
            <a:endParaRPr lang="en-US" sz="1000" dirty="0"/>
          </a:p>
        </p:txBody>
      </p:sp>
      <p:sp>
        <p:nvSpPr>
          <p:cNvPr id="3" name="Text 1"/>
          <p:cNvSpPr/>
          <p:nvPr/>
        </p:nvSpPr>
        <p:spPr>
          <a:xfrm>
            <a:off x="530352" y="466344"/>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Đưa source code lên GitHub</a:t>
            </a:r>
            <a:endParaRPr lang="en-US" sz="2700" dirty="0"/>
          </a:p>
        </p:txBody>
      </p:sp>
      <p:sp>
        <p:nvSpPr>
          <p:cNvPr id="4" name="Text 2"/>
          <p:cNvSpPr/>
          <p:nvPr/>
        </p:nvSpPr>
        <p:spPr>
          <a:xfrm>
            <a:off x="530352" y="878922"/>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Có thể thực hiện ngay trên giao </a:t>
            </a:r>
            <a:r>
              <a:rPr lang="en-US" sz="1250" dirty="0" err="1">
                <a:solidFill>
                  <a:srgbClr val="9AA6BF"/>
                </a:solidFill>
              </a:rPr>
              <a:t>diện</a:t>
            </a:r>
            <a:r>
              <a:rPr lang="en-US" sz="1250" dirty="0">
                <a:solidFill>
                  <a:srgbClr val="9AA6BF"/>
                </a:solidFill>
              </a:rPr>
              <a:t> web.</a:t>
            </a:r>
            <a:endParaRPr lang="en-US" sz="1250" dirty="0"/>
          </a:p>
        </p:txBody>
      </p:sp>
      <p:sp>
        <p:nvSpPr>
          <p:cNvPr id="5" name="Shape 3"/>
          <p:cNvSpPr/>
          <p:nvPr/>
        </p:nvSpPr>
        <p:spPr>
          <a:xfrm>
            <a:off x="530352" y="1225587"/>
            <a:ext cx="384048" cy="384048"/>
          </a:xfrm>
          <a:prstGeom prst="ellipse">
            <a:avLst/>
          </a:prstGeom>
          <a:solidFill>
            <a:srgbClr val="A77BFF"/>
          </a:solidFill>
          <a:ln w="12700">
            <a:solidFill>
              <a:srgbClr val="A77BFF"/>
            </a:solidFill>
            <a:prstDash val="solid"/>
          </a:ln>
        </p:spPr>
        <p:txBody>
          <a:bodyPr/>
          <a:lstStyle/>
          <a:p>
            <a:endParaRPr lang="en-US"/>
          </a:p>
        </p:txBody>
      </p:sp>
      <p:sp>
        <p:nvSpPr>
          <p:cNvPr id="6" name="Text 4"/>
          <p:cNvSpPr/>
          <p:nvPr/>
        </p:nvSpPr>
        <p:spPr>
          <a:xfrm>
            <a:off x="530352" y="1285023"/>
            <a:ext cx="384048" cy="182880"/>
          </a:xfrm>
          <a:prstGeom prst="rect">
            <a:avLst/>
          </a:prstGeom>
          <a:noFill/>
          <a:ln/>
        </p:spPr>
        <p:txBody>
          <a:bodyPr wrap="square" lIns="0" tIns="0" rIns="0" bIns="0" rtlCol="0" anchor="ctr"/>
          <a:lstStyle/>
          <a:p>
            <a:pPr marL="0" indent="0" algn="ctr">
              <a:buNone/>
            </a:pPr>
            <a:r>
              <a:rPr lang="en-US" sz="1100" b="1" dirty="0">
                <a:solidFill>
                  <a:srgbClr val="0B1020"/>
                </a:solidFill>
              </a:rPr>
              <a:t>1</a:t>
            </a:r>
            <a:endParaRPr lang="en-US" sz="1100" dirty="0"/>
          </a:p>
        </p:txBody>
      </p:sp>
      <p:sp>
        <p:nvSpPr>
          <p:cNvPr id="7" name="Text 5"/>
          <p:cNvSpPr/>
          <p:nvPr/>
        </p:nvSpPr>
        <p:spPr>
          <a:xfrm>
            <a:off x="1060704" y="1216443"/>
            <a:ext cx="4773168" cy="219456"/>
          </a:xfrm>
          <a:prstGeom prst="rect">
            <a:avLst/>
          </a:prstGeom>
          <a:noFill/>
          <a:ln/>
        </p:spPr>
        <p:txBody>
          <a:bodyPr wrap="square" lIns="0" tIns="0" rIns="0" bIns="0" rtlCol="0" anchor="ctr">
            <a:normAutofit/>
          </a:bodyPr>
          <a:lstStyle/>
          <a:p>
            <a:pPr marL="0" indent="0">
              <a:buNone/>
            </a:pPr>
            <a:r>
              <a:rPr lang="en-US" sz="1350" b="1" dirty="0">
                <a:solidFill>
                  <a:srgbClr val="F7F9FC"/>
                </a:solidFill>
              </a:rPr>
              <a:t>Tạo Repository</a:t>
            </a:r>
            <a:endParaRPr lang="en-US" sz="1350" dirty="0"/>
          </a:p>
        </p:txBody>
      </p:sp>
      <p:sp>
        <p:nvSpPr>
          <p:cNvPr id="8" name="Text 6"/>
          <p:cNvSpPr/>
          <p:nvPr/>
        </p:nvSpPr>
        <p:spPr>
          <a:xfrm>
            <a:off x="1060704" y="1472475"/>
            <a:ext cx="4773168" cy="320040"/>
          </a:xfrm>
          <a:prstGeom prst="rect">
            <a:avLst/>
          </a:prstGeom>
          <a:noFill/>
          <a:ln/>
        </p:spPr>
        <p:txBody>
          <a:bodyPr wrap="square" lIns="0" tIns="0" rIns="0" bIns="0" rtlCol="0" anchor="ctr">
            <a:normAutofit/>
          </a:bodyPr>
          <a:lstStyle/>
          <a:p>
            <a:pPr marL="0" indent="0">
              <a:buNone/>
            </a:pPr>
            <a:r>
              <a:rPr lang="en-US" sz="1050" dirty="0">
                <a:solidFill>
                  <a:srgbClr val="9AA6BF"/>
                </a:solidFill>
              </a:rPr>
              <a:t>GitHub → New repository</a:t>
            </a:r>
            <a:endParaRPr lang="en-US" sz="1050" dirty="0"/>
          </a:p>
        </p:txBody>
      </p:sp>
      <p:sp>
        <p:nvSpPr>
          <p:cNvPr id="26"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5</a:t>
            </a:fld>
            <a:endParaRPr lang="en-US"/>
          </a:p>
        </p:txBody>
      </p:sp>
      <p:pic>
        <p:nvPicPr>
          <p:cNvPr id="28" name="Hình ảnh 27">
            <a:extLst>
              <a:ext uri="{FF2B5EF4-FFF2-40B4-BE49-F238E27FC236}">
                <a16:creationId xmlns:a16="http://schemas.microsoft.com/office/drawing/2014/main" id="{98278D3A-683E-1E76-8DA3-ECBA12CBA8ED}"/>
              </a:ext>
            </a:extLst>
          </p:cNvPr>
          <p:cNvPicPr>
            <a:picLocks noChangeAspect="1"/>
          </p:cNvPicPr>
          <p:nvPr/>
        </p:nvPicPr>
        <p:blipFill>
          <a:blip r:embed="rId3"/>
          <a:srcRect r="827"/>
          <a:stretch>
            <a:fillRect/>
          </a:stretch>
        </p:blipFill>
        <p:spPr>
          <a:xfrm>
            <a:off x="530352" y="1952491"/>
            <a:ext cx="6565773" cy="4218437"/>
          </a:xfrm>
          <a:prstGeom prst="rect">
            <a:avLst/>
          </a:prstGeom>
        </p:spPr>
      </p:pic>
      <p:pic>
        <p:nvPicPr>
          <p:cNvPr id="30" name="Hình ảnh 29">
            <a:extLst>
              <a:ext uri="{FF2B5EF4-FFF2-40B4-BE49-F238E27FC236}">
                <a16:creationId xmlns:a16="http://schemas.microsoft.com/office/drawing/2014/main" id="{84D0D4BC-A253-2B3A-C438-0E01B0A637D6}"/>
              </a:ext>
            </a:extLst>
          </p:cNvPr>
          <p:cNvPicPr>
            <a:picLocks noChangeAspect="1"/>
          </p:cNvPicPr>
          <p:nvPr/>
        </p:nvPicPr>
        <p:blipFill>
          <a:blip r:embed="rId4"/>
          <a:stretch>
            <a:fillRect/>
          </a:stretch>
        </p:blipFill>
        <p:spPr>
          <a:xfrm>
            <a:off x="7256003" y="1952491"/>
            <a:ext cx="4341006" cy="421843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8F569-E4FD-E5F5-C035-24105D2187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E5DB83-92B6-6BF7-B7CC-2F35002FF9C5}"/>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04 • GITHUB</a:t>
            </a:r>
            <a:endParaRPr lang="en-US" sz="1000" dirty="0"/>
          </a:p>
        </p:txBody>
      </p:sp>
      <p:sp>
        <p:nvSpPr>
          <p:cNvPr id="3" name="Text 1">
            <a:extLst>
              <a:ext uri="{FF2B5EF4-FFF2-40B4-BE49-F238E27FC236}">
                <a16:creationId xmlns:a16="http://schemas.microsoft.com/office/drawing/2014/main" id="{497DD470-AED0-0306-F853-E4D3FA18D3B1}"/>
              </a:ext>
            </a:extLst>
          </p:cNvPr>
          <p:cNvSpPr/>
          <p:nvPr/>
        </p:nvSpPr>
        <p:spPr>
          <a:xfrm>
            <a:off x="530352" y="466344"/>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Đưa source code lên GitHub</a:t>
            </a:r>
            <a:endParaRPr lang="en-US" sz="2700" dirty="0"/>
          </a:p>
        </p:txBody>
      </p:sp>
      <p:sp>
        <p:nvSpPr>
          <p:cNvPr id="4" name="Text 2">
            <a:extLst>
              <a:ext uri="{FF2B5EF4-FFF2-40B4-BE49-F238E27FC236}">
                <a16:creationId xmlns:a16="http://schemas.microsoft.com/office/drawing/2014/main" id="{3822851C-84D2-BA5F-8DEF-27007D47BD9D}"/>
              </a:ext>
            </a:extLst>
          </p:cNvPr>
          <p:cNvSpPr/>
          <p:nvPr/>
        </p:nvSpPr>
        <p:spPr>
          <a:xfrm>
            <a:off x="530352" y="878922"/>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Có thể thực hiện ngay trên giao </a:t>
            </a:r>
            <a:r>
              <a:rPr lang="en-US" sz="1250" dirty="0" err="1">
                <a:solidFill>
                  <a:srgbClr val="9AA6BF"/>
                </a:solidFill>
              </a:rPr>
              <a:t>diện</a:t>
            </a:r>
            <a:r>
              <a:rPr lang="en-US" sz="1250" dirty="0">
                <a:solidFill>
                  <a:srgbClr val="9AA6BF"/>
                </a:solidFill>
              </a:rPr>
              <a:t> web.</a:t>
            </a:r>
            <a:endParaRPr lang="en-US" sz="1250" dirty="0"/>
          </a:p>
        </p:txBody>
      </p:sp>
      <p:sp>
        <p:nvSpPr>
          <p:cNvPr id="6" name="Text 4">
            <a:extLst>
              <a:ext uri="{FF2B5EF4-FFF2-40B4-BE49-F238E27FC236}">
                <a16:creationId xmlns:a16="http://schemas.microsoft.com/office/drawing/2014/main" id="{77891125-27C8-9BE4-99C0-1577DB626C60}"/>
              </a:ext>
            </a:extLst>
          </p:cNvPr>
          <p:cNvSpPr/>
          <p:nvPr/>
        </p:nvSpPr>
        <p:spPr>
          <a:xfrm>
            <a:off x="792480" y="5719236"/>
            <a:ext cx="384048" cy="182880"/>
          </a:xfrm>
          <a:prstGeom prst="rect">
            <a:avLst/>
          </a:prstGeom>
          <a:noFill/>
          <a:ln/>
        </p:spPr>
        <p:txBody>
          <a:bodyPr wrap="square" lIns="0" tIns="0" rIns="0" bIns="0" rtlCol="0" anchor="ctr"/>
          <a:lstStyle/>
          <a:p>
            <a:pPr marL="0" indent="0" algn="ctr">
              <a:buNone/>
            </a:pPr>
            <a:r>
              <a:rPr lang="en-US" sz="1100" b="1" dirty="0">
                <a:solidFill>
                  <a:srgbClr val="0B1020"/>
                </a:solidFill>
              </a:rPr>
              <a:t>1</a:t>
            </a:r>
            <a:endParaRPr lang="en-US" sz="1100" dirty="0"/>
          </a:p>
        </p:txBody>
      </p:sp>
      <p:sp>
        <p:nvSpPr>
          <p:cNvPr id="9" name="Shape 7">
            <a:extLst>
              <a:ext uri="{FF2B5EF4-FFF2-40B4-BE49-F238E27FC236}">
                <a16:creationId xmlns:a16="http://schemas.microsoft.com/office/drawing/2014/main" id="{028C19FE-1CCD-04C2-EC4D-1B30E1503C19}"/>
              </a:ext>
            </a:extLst>
          </p:cNvPr>
          <p:cNvSpPr/>
          <p:nvPr/>
        </p:nvSpPr>
        <p:spPr>
          <a:xfrm>
            <a:off x="539496" y="1281258"/>
            <a:ext cx="384048" cy="384048"/>
          </a:xfrm>
          <a:prstGeom prst="ellipse">
            <a:avLst/>
          </a:prstGeom>
          <a:solidFill>
            <a:srgbClr val="A77BFF"/>
          </a:solidFill>
          <a:ln w="12700">
            <a:solidFill>
              <a:srgbClr val="A77BFF"/>
            </a:solidFill>
            <a:prstDash val="solid"/>
          </a:ln>
        </p:spPr>
        <p:txBody>
          <a:bodyPr/>
          <a:lstStyle/>
          <a:p>
            <a:endParaRPr lang="en-US"/>
          </a:p>
        </p:txBody>
      </p:sp>
      <p:sp>
        <p:nvSpPr>
          <p:cNvPr id="10" name="Text 8">
            <a:extLst>
              <a:ext uri="{FF2B5EF4-FFF2-40B4-BE49-F238E27FC236}">
                <a16:creationId xmlns:a16="http://schemas.microsoft.com/office/drawing/2014/main" id="{75B0CD8B-0199-5ECB-BEF9-827D68C34F10}"/>
              </a:ext>
            </a:extLst>
          </p:cNvPr>
          <p:cNvSpPr/>
          <p:nvPr/>
        </p:nvSpPr>
        <p:spPr>
          <a:xfrm>
            <a:off x="539496" y="1340694"/>
            <a:ext cx="384048" cy="182880"/>
          </a:xfrm>
          <a:prstGeom prst="rect">
            <a:avLst/>
          </a:prstGeom>
          <a:noFill/>
          <a:ln/>
        </p:spPr>
        <p:txBody>
          <a:bodyPr wrap="square" lIns="0" tIns="0" rIns="0" bIns="0" rtlCol="0" anchor="ctr"/>
          <a:lstStyle/>
          <a:p>
            <a:pPr marL="0" indent="0" algn="ctr">
              <a:buNone/>
            </a:pPr>
            <a:r>
              <a:rPr lang="en-US" sz="1100" b="1" dirty="0">
                <a:solidFill>
                  <a:srgbClr val="0B1020"/>
                </a:solidFill>
              </a:rPr>
              <a:t>2</a:t>
            </a:r>
            <a:endParaRPr lang="en-US" sz="1100" dirty="0"/>
          </a:p>
        </p:txBody>
      </p:sp>
      <p:sp>
        <p:nvSpPr>
          <p:cNvPr id="11" name="Text 9">
            <a:extLst>
              <a:ext uri="{FF2B5EF4-FFF2-40B4-BE49-F238E27FC236}">
                <a16:creationId xmlns:a16="http://schemas.microsoft.com/office/drawing/2014/main" id="{81FB6CAE-B279-CCD9-0DCB-98DE49F7E251}"/>
              </a:ext>
            </a:extLst>
          </p:cNvPr>
          <p:cNvSpPr/>
          <p:nvPr/>
        </p:nvSpPr>
        <p:spPr>
          <a:xfrm>
            <a:off x="1069848" y="1272114"/>
            <a:ext cx="4773168" cy="219456"/>
          </a:xfrm>
          <a:prstGeom prst="rect">
            <a:avLst/>
          </a:prstGeom>
          <a:noFill/>
          <a:ln/>
        </p:spPr>
        <p:txBody>
          <a:bodyPr wrap="square" lIns="0" tIns="0" rIns="0" bIns="0" rtlCol="0" anchor="ctr">
            <a:normAutofit/>
          </a:bodyPr>
          <a:lstStyle/>
          <a:p>
            <a:pPr marL="0" indent="0">
              <a:buNone/>
            </a:pPr>
            <a:r>
              <a:rPr lang="en-US" sz="1350" b="1" dirty="0">
                <a:solidFill>
                  <a:srgbClr val="F7F9FC"/>
                </a:solidFill>
              </a:rPr>
              <a:t>Upload files</a:t>
            </a:r>
            <a:endParaRPr lang="en-US" sz="1350" dirty="0"/>
          </a:p>
        </p:txBody>
      </p:sp>
      <p:sp>
        <p:nvSpPr>
          <p:cNvPr id="12" name="Text 10">
            <a:extLst>
              <a:ext uri="{FF2B5EF4-FFF2-40B4-BE49-F238E27FC236}">
                <a16:creationId xmlns:a16="http://schemas.microsoft.com/office/drawing/2014/main" id="{C6EEB61E-1C8C-0E6A-1D13-12F22F7F17FC}"/>
              </a:ext>
            </a:extLst>
          </p:cNvPr>
          <p:cNvSpPr/>
          <p:nvPr/>
        </p:nvSpPr>
        <p:spPr>
          <a:xfrm>
            <a:off x="1069848" y="1528146"/>
            <a:ext cx="4773168" cy="320040"/>
          </a:xfrm>
          <a:prstGeom prst="rect">
            <a:avLst/>
          </a:prstGeom>
          <a:noFill/>
          <a:ln/>
        </p:spPr>
        <p:txBody>
          <a:bodyPr wrap="square" lIns="0" tIns="0" rIns="0" bIns="0" rtlCol="0" anchor="ctr">
            <a:normAutofit/>
          </a:bodyPr>
          <a:lstStyle/>
          <a:p>
            <a:pPr marL="0" indent="0">
              <a:buNone/>
            </a:pPr>
            <a:r>
              <a:rPr lang="en-US" sz="1050" dirty="0">
                <a:solidFill>
                  <a:srgbClr val="9AA6BF"/>
                </a:solidFill>
              </a:rPr>
              <a:t>Add file → Upload files</a:t>
            </a:r>
            <a:endParaRPr lang="en-US" sz="1050" dirty="0"/>
          </a:p>
        </p:txBody>
      </p:sp>
      <p:sp>
        <p:nvSpPr>
          <p:cNvPr id="26" name="Slide Number Placeholder 0">
            <a:extLst>
              <a:ext uri="{FF2B5EF4-FFF2-40B4-BE49-F238E27FC236}">
                <a16:creationId xmlns:a16="http://schemas.microsoft.com/office/drawing/2014/main" id="{819FCA14-84F2-4AE0-A20B-BC918E57E6E4}"/>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6</a:t>
            </a:fld>
            <a:endParaRPr lang="en-US"/>
          </a:p>
        </p:txBody>
      </p:sp>
      <p:pic>
        <p:nvPicPr>
          <p:cNvPr id="24" name="Hình ảnh 23">
            <a:extLst>
              <a:ext uri="{FF2B5EF4-FFF2-40B4-BE49-F238E27FC236}">
                <a16:creationId xmlns:a16="http://schemas.microsoft.com/office/drawing/2014/main" id="{9AD1AF70-3BDC-8689-9391-E3D9818BCE95}"/>
              </a:ext>
            </a:extLst>
          </p:cNvPr>
          <p:cNvPicPr>
            <a:picLocks noChangeAspect="1"/>
          </p:cNvPicPr>
          <p:nvPr/>
        </p:nvPicPr>
        <p:blipFill>
          <a:blip r:embed="rId3"/>
          <a:stretch>
            <a:fillRect/>
          </a:stretch>
        </p:blipFill>
        <p:spPr>
          <a:xfrm>
            <a:off x="539496" y="2090883"/>
            <a:ext cx="6270498" cy="3802089"/>
          </a:xfrm>
          <a:prstGeom prst="rect">
            <a:avLst/>
          </a:prstGeom>
        </p:spPr>
      </p:pic>
      <p:pic>
        <p:nvPicPr>
          <p:cNvPr id="27" name="Hình ảnh 26">
            <a:extLst>
              <a:ext uri="{FF2B5EF4-FFF2-40B4-BE49-F238E27FC236}">
                <a16:creationId xmlns:a16="http://schemas.microsoft.com/office/drawing/2014/main" id="{2CDFFA0B-E037-B9F7-C0FA-377A5AE09E2C}"/>
              </a:ext>
            </a:extLst>
          </p:cNvPr>
          <p:cNvPicPr>
            <a:picLocks noChangeAspect="1"/>
          </p:cNvPicPr>
          <p:nvPr/>
        </p:nvPicPr>
        <p:blipFill>
          <a:blip r:embed="rId4"/>
          <a:stretch>
            <a:fillRect/>
          </a:stretch>
        </p:blipFill>
        <p:spPr>
          <a:xfrm>
            <a:off x="7102552" y="2090883"/>
            <a:ext cx="4773168" cy="3802089"/>
          </a:xfrm>
          <a:prstGeom prst="rect">
            <a:avLst/>
          </a:prstGeom>
        </p:spPr>
      </p:pic>
    </p:spTree>
    <p:extLst>
      <p:ext uri="{BB962C8B-B14F-4D97-AF65-F5344CB8AC3E}">
        <p14:creationId xmlns:p14="http://schemas.microsoft.com/office/powerpoint/2010/main" val="385462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08D94-17DE-9CB7-EB7B-47F48C4D7F7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8F3AFA-0AD0-D10F-C8B4-1E3F583721AD}"/>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04 • GITHUB</a:t>
            </a:r>
            <a:endParaRPr lang="en-US" sz="1000" dirty="0"/>
          </a:p>
        </p:txBody>
      </p:sp>
      <p:sp>
        <p:nvSpPr>
          <p:cNvPr id="3" name="Text 1">
            <a:extLst>
              <a:ext uri="{FF2B5EF4-FFF2-40B4-BE49-F238E27FC236}">
                <a16:creationId xmlns:a16="http://schemas.microsoft.com/office/drawing/2014/main" id="{615183A5-512D-6FD3-FBA8-8E973D06B20D}"/>
              </a:ext>
            </a:extLst>
          </p:cNvPr>
          <p:cNvSpPr/>
          <p:nvPr/>
        </p:nvSpPr>
        <p:spPr>
          <a:xfrm>
            <a:off x="530352" y="466344"/>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Đưa source code lên GitHub</a:t>
            </a:r>
            <a:endParaRPr lang="en-US" sz="2700" dirty="0"/>
          </a:p>
        </p:txBody>
      </p:sp>
      <p:sp>
        <p:nvSpPr>
          <p:cNvPr id="4" name="Text 2">
            <a:extLst>
              <a:ext uri="{FF2B5EF4-FFF2-40B4-BE49-F238E27FC236}">
                <a16:creationId xmlns:a16="http://schemas.microsoft.com/office/drawing/2014/main" id="{AEE52F94-D8DF-AFEF-B1D1-00A8E79EC0EF}"/>
              </a:ext>
            </a:extLst>
          </p:cNvPr>
          <p:cNvSpPr/>
          <p:nvPr/>
        </p:nvSpPr>
        <p:spPr>
          <a:xfrm>
            <a:off x="530352" y="878922"/>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Có thể thực hiện ngay trên giao </a:t>
            </a:r>
            <a:r>
              <a:rPr lang="en-US" sz="1250" dirty="0" err="1">
                <a:solidFill>
                  <a:srgbClr val="9AA6BF"/>
                </a:solidFill>
              </a:rPr>
              <a:t>diện</a:t>
            </a:r>
            <a:r>
              <a:rPr lang="en-US" sz="1250" dirty="0">
                <a:solidFill>
                  <a:srgbClr val="9AA6BF"/>
                </a:solidFill>
              </a:rPr>
              <a:t> web.</a:t>
            </a:r>
            <a:endParaRPr lang="en-US" sz="1250" dirty="0"/>
          </a:p>
        </p:txBody>
      </p:sp>
      <p:sp>
        <p:nvSpPr>
          <p:cNvPr id="26" name="Slide Number Placeholder 0">
            <a:extLst>
              <a:ext uri="{FF2B5EF4-FFF2-40B4-BE49-F238E27FC236}">
                <a16:creationId xmlns:a16="http://schemas.microsoft.com/office/drawing/2014/main" id="{DC238D71-F9AE-CD27-F0FC-CD4913C4A8D8}"/>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7</a:t>
            </a:fld>
            <a:endParaRPr lang="en-US"/>
          </a:p>
        </p:txBody>
      </p:sp>
      <p:sp>
        <p:nvSpPr>
          <p:cNvPr id="14" name="Shape 11">
            <a:extLst>
              <a:ext uri="{FF2B5EF4-FFF2-40B4-BE49-F238E27FC236}">
                <a16:creationId xmlns:a16="http://schemas.microsoft.com/office/drawing/2014/main" id="{D60EF3B4-18A9-103C-44CE-35D9D9ADA209}"/>
              </a:ext>
            </a:extLst>
          </p:cNvPr>
          <p:cNvSpPr/>
          <p:nvPr/>
        </p:nvSpPr>
        <p:spPr>
          <a:xfrm>
            <a:off x="2868930" y="5527929"/>
            <a:ext cx="384048" cy="384048"/>
          </a:xfrm>
          <a:prstGeom prst="ellipse">
            <a:avLst/>
          </a:prstGeom>
          <a:solidFill>
            <a:srgbClr val="35D49A"/>
          </a:solidFill>
          <a:ln w="12700">
            <a:solidFill>
              <a:srgbClr val="35D49A"/>
            </a:solidFill>
            <a:prstDash val="solid"/>
          </a:ln>
        </p:spPr>
        <p:txBody>
          <a:bodyPr/>
          <a:lstStyle/>
          <a:p>
            <a:endParaRPr lang="en-US"/>
          </a:p>
        </p:txBody>
      </p:sp>
      <p:sp>
        <p:nvSpPr>
          <p:cNvPr id="16" name="Text 12">
            <a:extLst>
              <a:ext uri="{FF2B5EF4-FFF2-40B4-BE49-F238E27FC236}">
                <a16:creationId xmlns:a16="http://schemas.microsoft.com/office/drawing/2014/main" id="{BDF226D7-1278-2970-61D5-F7099B63623D}"/>
              </a:ext>
            </a:extLst>
          </p:cNvPr>
          <p:cNvSpPr/>
          <p:nvPr/>
        </p:nvSpPr>
        <p:spPr>
          <a:xfrm>
            <a:off x="2868930" y="5587365"/>
            <a:ext cx="384048" cy="182880"/>
          </a:xfrm>
          <a:prstGeom prst="rect">
            <a:avLst/>
          </a:prstGeom>
          <a:noFill/>
          <a:ln/>
        </p:spPr>
        <p:txBody>
          <a:bodyPr wrap="square" lIns="0" tIns="0" rIns="0" bIns="0" rtlCol="0" anchor="ctr"/>
          <a:lstStyle/>
          <a:p>
            <a:pPr marL="0" indent="0" algn="ctr">
              <a:buNone/>
            </a:pPr>
            <a:r>
              <a:rPr lang="en-US" sz="1100" b="1" dirty="0">
                <a:solidFill>
                  <a:srgbClr val="0B1020"/>
                </a:solidFill>
              </a:rPr>
              <a:t>3</a:t>
            </a:r>
            <a:endParaRPr lang="en-US" sz="1100" dirty="0"/>
          </a:p>
        </p:txBody>
      </p:sp>
      <p:sp>
        <p:nvSpPr>
          <p:cNvPr id="18" name="Text 13">
            <a:extLst>
              <a:ext uri="{FF2B5EF4-FFF2-40B4-BE49-F238E27FC236}">
                <a16:creationId xmlns:a16="http://schemas.microsoft.com/office/drawing/2014/main" id="{7509B7EF-2712-2307-5C10-5F2BF9B49D46}"/>
              </a:ext>
            </a:extLst>
          </p:cNvPr>
          <p:cNvSpPr/>
          <p:nvPr/>
        </p:nvSpPr>
        <p:spPr>
          <a:xfrm>
            <a:off x="3399282" y="5518785"/>
            <a:ext cx="4773168" cy="219456"/>
          </a:xfrm>
          <a:prstGeom prst="rect">
            <a:avLst/>
          </a:prstGeom>
          <a:noFill/>
          <a:ln/>
        </p:spPr>
        <p:txBody>
          <a:bodyPr wrap="square" lIns="0" tIns="0" rIns="0" bIns="0" rtlCol="0" anchor="ctr">
            <a:normAutofit/>
          </a:bodyPr>
          <a:lstStyle/>
          <a:p>
            <a:pPr marL="0" indent="0">
              <a:buNone/>
            </a:pPr>
            <a:r>
              <a:rPr lang="en-US" sz="1350" b="1" dirty="0">
                <a:solidFill>
                  <a:srgbClr val="F7F9FC"/>
                </a:solidFill>
              </a:rPr>
              <a:t>Commit changes</a:t>
            </a:r>
            <a:endParaRPr lang="en-US" sz="1350" dirty="0"/>
          </a:p>
        </p:txBody>
      </p:sp>
      <p:sp>
        <p:nvSpPr>
          <p:cNvPr id="20" name="Text 14">
            <a:extLst>
              <a:ext uri="{FF2B5EF4-FFF2-40B4-BE49-F238E27FC236}">
                <a16:creationId xmlns:a16="http://schemas.microsoft.com/office/drawing/2014/main" id="{B4474B41-9D4A-0A22-13D5-7400E885B576}"/>
              </a:ext>
            </a:extLst>
          </p:cNvPr>
          <p:cNvSpPr/>
          <p:nvPr/>
        </p:nvSpPr>
        <p:spPr>
          <a:xfrm>
            <a:off x="3399282" y="5774817"/>
            <a:ext cx="4773168" cy="320040"/>
          </a:xfrm>
          <a:prstGeom prst="rect">
            <a:avLst/>
          </a:prstGeom>
          <a:noFill/>
          <a:ln/>
        </p:spPr>
        <p:txBody>
          <a:bodyPr wrap="square" lIns="0" tIns="0" rIns="0" bIns="0" rtlCol="0" anchor="ctr">
            <a:normAutofit/>
          </a:bodyPr>
          <a:lstStyle/>
          <a:p>
            <a:pPr marL="0" indent="0">
              <a:buNone/>
            </a:pPr>
            <a:r>
              <a:rPr lang="en-US" sz="1050" dirty="0">
                <a:solidFill>
                  <a:srgbClr val="9AA6BF"/>
                </a:solidFill>
              </a:rPr>
              <a:t>Xác nhận phiên bản đầu tiên</a:t>
            </a:r>
            <a:endParaRPr lang="en-US" sz="1050" dirty="0"/>
          </a:p>
        </p:txBody>
      </p:sp>
      <p:sp>
        <p:nvSpPr>
          <p:cNvPr id="22" name="Shape 15">
            <a:extLst>
              <a:ext uri="{FF2B5EF4-FFF2-40B4-BE49-F238E27FC236}">
                <a16:creationId xmlns:a16="http://schemas.microsoft.com/office/drawing/2014/main" id="{28846F31-B2A9-5571-D27A-BF0A33AF53A8}"/>
              </a:ext>
            </a:extLst>
          </p:cNvPr>
          <p:cNvSpPr/>
          <p:nvPr/>
        </p:nvSpPr>
        <p:spPr>
          <a:xfrm>
            <a:off x="2811018" y="4605909"/>
            <a:ext cx="384048" cy="384048"/>
          </a:xfrm>
          <a:prstGeom prst="ellipse">
            <a:avLst/>
          </a:prstGeom>
          <a:solidFill>
            <a:srgbClr val="3DD9FF"/>
          </a:solidFill>
          <a:ln w="12700">
            <a:solidFill>
              <a:srgbClr val="3DD9FF"/>
            </a:solidFill>
            <a:prstDash val="solid"/>
          </a:ln>
        </p:spPr>
        <p:txBody>
          <a:bodyPr/>
          <a:lstStyle/>
          <a:p>
            <a:endParaRPr lang="en-US"/>
          </a:p>
        </p:txBody>
      </p:sp>
      <p:sp>
        <p:nvSpPr>
          <p:cNvPr id="25" name="Text 16">
            <a:extLst>
              <a:ext uri="{FF2B5EF4-FFF2-40B4-BE49-F238E27FC236}">
                <a16:creationId xmlns:a16="http://schemas.microsoft.com/office/drawing/2014/main" id="{830DC5C3-BDA7-1543-62D6-DC27E247E55F}"/>
              </a:ext>
            </a:extLst>
          </p:cNvPr>
          <p:cNvSpPr/>
          <p:nvPr/>
        </p:nvSpPr>
        <p:spPr>
          <a:xfrm>
            <a:off x="2811018" y="4665345"/>
            <a:ext cx="384048" cy="182880"/>
          </a:xfrm>
          <a:prstGeom prst="rect">
            <a:avLst/>
          </a:prstGeom>
          <a:noFill/>
          <a:ln/>
        </p:spPr>
        <p:txBody>
          <a:bodyPr wrap="square" lIns="0" tIns="0" rIns="0" bIns="0" rtlCol="0" anchor="ctr"/>
          <a:lstStyle/>
          <a:p>
            <a:pPr marL="0" indent="0" algn="ctr">
              <a:buNone/>
            </a:pPr>
            <a:r>
              <a:rPr lang="en-US" sz="1100" b="1" dirty="0">
                <a:solidFill>
                  <a:srgbClr val="0B1020"/>
                </a:solidFill>
              </a:rPr>
              <a:t>4</a:t>
            </a:r>
            <a:endParaRPr lang="en-US" sz="1100" dirty="0"/>
          </a:p>
        </p:txBody>
      </p:sp>
      <p:sp>
        <p:nvSpPr>
          <p:cNvPr id="31" name="Text 17">
            <a:extLst>
              <a:ext uri="{FF2B5EF4-FFF2-40B4-BE49-F238E27FC236}">
                <a16:creationId xmlns:a16="http://schemas.microsoft.com/office/drawing/2014/main" id="{A168B1BC-2E88-AFE7-C7EC-C876968152DB}"/>
              </a:ext>
            </a:extLst>
          </p:cNvPr>
          <p:cNvSpPr/>
          <p:nvPr/>
        </p:nvSpPr>
        <p:spPr>
          <a:xfrm>
            <a:off x="3341370" y="4596765"/>
            <a:ext cx="4773168" cy="219456"/>
          </a:xfrm>
          <a:prstGeom prst="rect">
            <a:avLst/>
          </a:prstGeom>
          <a:noFill/>
          <a:ln/>
        </p:spPr>
        <p:txBody>
          <a:bodyPr wrap="square" lIns="0" tIns="0" rIns="0" bIns="0" rtlCol="0" anchor="ctr">
            <a:normAutofit/>
          </a:bodyPr>
          <a:lstStyle/>
          <a:p>
            <a:pPr marL="0" indent="0">
              <a:buNone/>
            </a:pPr>
            <a:r>
              <a:rPr lang="en-US" sz="1350" b="1" dirty="0">
                <a:solidFill>
                  <a:srgbClr val="F7F9FC"/>
                </a:solidFill>
              </a:rPr>
              <a:t>Kiểm tra repository</a:t>
            </a:r>
            <a:endParaRPr lang="en-US" sz="1350" dirty="0"/>
          </a:p>
        </p:txBody>
      </p:sp>
      <p:sp>
        <p:nvSpPr>
          <p:cNvPr id="33" name="Text 18">
            <a:extLst>
              <a:ext uri="{FF2B5EF4-FFF2-40B4-BE49-F238E27FC236}">
                <a16:creationId xmlns:a16="http://schemas.microsoft.com/office/drawing/2014/main" id="{79EA295D-9993-4EDC-382E-22A358A49550}"/>
              </a:ext>
            </a:extLst>
          </p:cNvPr>
          <p:cNvSpPr/>
          <p:nvPr/>
        </p:nvSpPr>
        <p:spPr>
          <a:xfrm>
            <a:off x="3341370" y="4852797"/>
            <a:ext cx="4773168" cy="320040"/>
          </a:xfrm>
          <a:prstGeom prst="rect">
            <a:avLst/>
          </a:prstGeom>
          <a:noFill/>
          <a:ln/>
        </p:spPr>
        <p:txBody>
          <a:bodyPr wrap="square" lIns="0" tIns="0" rIns="0" bIns="0" rtlCol="0" anchor="ctr">
            <a:normAutofit/>
          </a:bodyPr>
          <a:lstStyle/>
          <a:p>
            <a:pPr marL="0" indent="0">
              <a:buNone/>
            </a:pPr>
            <a:r>
              <a:rPr lang="en-US" sz="1050" dirty="0">
                <a:solidFill>
                  <a:srgbClr val="9AA6BF"/>
                </a:solidFill>
              </a:rPr>
              <a:t>Đảm bảo source code đã xuất hiện</a:t>
            </a:r>
            <a:endParaRPr lang="en-US" sz="1050" dirty="0"/>
          </a:p>
        </p:txBody>
      </p:sp>
    </p:spTree>
    <p:extLst>
      <p:ext uri="{BB962C8B-B14F-4D97-AF65-F5344CB8AC3E}">
        <p14:creationId xmlns:p14="http://schemas.microsoft.com/office/powerpoint/2010/main" val="350289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06 • CLOUD HOSTING</a:t>
            </a:r>
            <a:endParaRPr lang="en-US" sz="1000" dirty="0"/>
          </a:p>
        </p:txBody>
      </p:sp>
      <p:sp>
        <p:nvSpPr>
          <p:cNvPr id="3" name="Text 1"/>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Vercel làm gì?</a:t>
            </a:r>
            <a:endParaRPr lang="en-US" sz="2700" dirty="0"/>
          </a:p>
        </p:txBody>
      </p:sp>
      <p:sp>
        <p:nvSpPr>
          <p:cNvPr id="4" name="Text 2"/>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Biến source code thành website có thể truy cập trên Internet.</a:t>
            </a:r>
            <a:endParaRPr lang="en-US" sz="1250" dirty="0"/>
          </a:p>
        </p:txBody>
      </p:sp>
      <p:sp>
        <p:nvSpPr>
          <p:cNvPr id="5" name="Shape 3"/>
          <p:cNvSpPr/>
          <p:nvPr/>
        </p:nvSpPr>
        <p:spPr>
          <a:xfrm>
            <a:off x="566928" y="1883664"/>
            <a:ext cx="11045952" cy="1051560"/>
          </a:xfrm>
          <a:prstGeom prst="roundRect">
            <a:avLst>
              <a:gd name="adj" fmla="val 10435"/>
            </a:avLst>
          </a:prstGeom>
          <a:solidFill>
            <a:srgbClr val="10192C"/>
          </a:solidFill>
          <a:ln w="12700">
            <a:solidFill>
              <a:srgbClr val="5B7CFF"/>
            </a:solidFill>
            <a:prstDash val="solid"/>
          </a:ln>
        </p:spPr>
        <p:txBody>
          <a:bodyPr/>
          <a:lstStyle/>
          <a:p>
            <a:endParaRPr lang="en-US"/>
          </a:p>
        </p:txBody>
      </p:sp>
      <p:sp>
        <p:nvSpPr>
          <p:cNvPr id="6" name="Text 4"/>
          <p:cNvSpPr/>
          <p:nvPr/>
        </p:nvSpPr>
        <p:spPr>
          <a:xfrm>
            <a:off x="914400" y="2221992"/>
            <a:ext cx="1051560" cy="256032"/>
          </a:xfrm>
          <a:prstGeom prst="rect">
            <a:avLst/>
          </a:prstGeom>
          <a:noFill/>
          <a:ln/>
        </p:spPr>
        <p:txBody>
          <a:bodyPr wrap="square" lIns="0" tIns="0" rIns="0" bIns="0" rtlCol="0" anchor="ctr"/>
          <a:lstStyle/>
          <a:p>
            <a:pPr marL="0" indent="0" algn="ctr">
              <a:buNone/>
            </a:pPr>
            <a:r>
              <a:rPr lang="en-US" sz="1500" b="1" dirty="0">
                <a:solidFill>
                  <a:srgbClr val="A77BFF"/>
                </a:solidFill>
              </a:rPr>
              <a:t>GitHub</a:t>
            </a:r>
            <a:endParaRPr lang="en-US" sz="1500" dirty="0"/>
          </a:p>
        </p:txBody>
      </p:sp>
      <p:sp>
        <p:nvSpPr>
          <p:cNvPr id="7" name="Shape 5"/>
          <p:cNvSpPr/>
          <p:nvPr/>
        </p:nvSpPr>
        <p:spPr>
          <a:xfrm>
            <a:off x="2057400" y="2359152"/>
            <a:ext cx="1005840" cy="0"/>
          </a:xfrm>
          <a:prstGeom prst="line">
            <a:avLst/>
          </a:prstGeom>
          <a:noFill/>
          <a:ln w="31750">
            <a:solidFill>
              <a:srgbClr val="3DD9FF"/>
            </a:solidFill>
            <a:prstDash val="solid"/>
            <a:headEnd type="none"/>
            <a:tailEnd type="triangle"/>
          </a:ln>
        </p:spPr>
        <p:txBody>
          <a:bodyPr/>
          <a:lstStyle/>
          <a:p>
            <a:endParaRPr lang="en-US"/>
          </a:p>
        </p:txBody>
      </p:sp>
      <p:sp>
        <p:nvSpPr>
          <p:cNvPr id="8" name="Text 6"/>
          <p:cNvSpPr/>
          <p:nvPr/>
        </p:nvSpPr>
        <p:spPr>
          <a:xfrm>
            <a:off x="3200400" y="2221992"/>
            <a:ext cx="1051560" cy="256032"/>
          </a:xfrm>
          <a:prstGeom prst="rect">
            <a:avLst/>
          </a:prstGeom>
          <a:noFill/>
          <a:ln/>
        </p:spPr>
        <p:txBody>
          <a:bodyPr wrap="square" lIns="0" tIns="0" rIns="0" bIns="0" rtlCol="0" anchor="ctr"/>
          <a:lstStyle/>
          <a:p>
            <a:pPr marL="0" indent="0" algn="ctr">
              <a:buNone/>
            </a:pPr>
            <a:r>
              <a:rPr lang="en-US" sz="1500" b="1" dirty="0">
                <a:solidFill>
                  <a:srgbClr val="F7F9FC"/>
                </a:solidFill>
              </a:rPr>
              <a:t>Vercel</a:t>
            </a:r>
            <a:endParaRPr lang="en-US" sz="1500" dirty="0"/>
          </a:p>
        </p:txBody>
      </p:sp>
      <p:sp>
        <p:nvSpPr>
          <p:cNvPr id="9" name="Shape 7"/>
          <p:cNvSpPr/>
          <p:nvPr/>
        </p:nvSpPr>
        <p:spPr>
          <a:xfrm>
            <a:off x="4343400" y="2359152"/>
            <a:ext cx="1005840" cy="0"/>
          </a:xfrm>
          <a:prstGeom prst="line">
            <a:avLst/>
          </a:prstGeom>
          <a:noFill/>
          <a:ln w="31750">
            <a:solidFill>
              <a:srgbClr val="3DD9FF"/>
            </a:solidFill>
            <a:prstDash val="solid"/>
            <a:headEnd type="none"/>
            <a:tailEnd type="triangle"/>
          </a:ln>
        </p:spPr>
        <p:txBody>
          <a:bodyPr/>
          <a:lstStyle/>
          <a:p>
            <a:endParaRPr lang="en-US"/>
          </a:p>
        </p:txBody>
      </p:sp>
      <p:sp>
        <p:nvSpPr>
          <p:cNvPr id="10" name="Text 8"/>
          <p:cNvSpPr/>
          <p:nvPr/>
        </p:nvSpPr>
        <p:spPr>
          <a:xfrm>
            <a:off x="5486400" y="2221992"/>
            <a:ext cx="1005840" cy="256032"/>
          </a:xfrm>
          <a:prstGeom prst="rect">
            <a:avLst/>
          </a:prstGeom>
          <a:noFill/>
          <a:ln/>
        </p:spPr>
        <p:txBody>
          <a:bodyPr wrap="square" lIns="0" tIns="0" rIns="0" bIns="0" rtlCol="0" anchor="ctr"/>
          <a:lstStyle/>
          <a:p>
            <a:pPr marL="0" indent="0" algn="ctr">
              <a:buNone/>
            </a:pPr>
            <a:r>
              <a:rPr lang="en-US" sz="1500" b="1" dirty="0">
                <a:solidFill>
                  <a:srgbClr val="35D49A"/>
                </a:solidFill>
              </a:rPr>
              <a:t>Build</a:t>
            </a:r>
            <a:endParaRPr lang="en-US" sz="1500" dirty="0"/>
          </a:p>
        </p:txBody>
      </p:sp>
      <p:sp>
        <p:nvSpPr>
          <p:cNvPr id="11" name="Shape 9"/>
          <p:cNvSpPr/>
          <p:nvPr/>
        </p:nvSpPr>
        <p:spPr>
          <a:xfrm>
            <a:off x="6629400" y="2359152"/>
            <a:ext cx="1005840" cy="0"/>
          </a:xfrm>
          <a:prstGeom prst="line">
            <a:avLst/>
          </a:prstGeom>
          <a:noFill/>
          <a:ln w="31750">
            <a:solidFill>
              <a:srgbClr val="3DD9FF"/>
            </a:solidFill>
            <a:prstDash val="solid"/>
            <a:headEnd type="none"/>
            <a:tailEnd type="triangle"/>
          </a:ln>
        </p:spPr>
        <p:txBody>
          <a:bodyPr/>
          <a:lstStyle/>
          <a:p>
            <a:endParaRPr lang="en-US"/>
          </a:p>
        </p:txBody>
      </p:sp>
      <p:sp>
        <p:nvSpPr>
          <p:cNvPr id="12" name="Text 10"/>
          <p:cNvSpPr/>
          <p:nvPr/>
        </p:nvSpPr>
        <p:spPr>
          <a:xfrm>
            <a:off x="7772400" y="2221992"/>
            <a:ext cx="1051560" cy="256032"/>
          </a:xfrm>
          <a:prstGeom prst="rect">
            <a:avLst/>
          </a:prstGeom>
          <a:noFill/>
          <a:ln/>
        </p:spPr>
        <p:txBody>
          <a:bodyPr wrap="square" lIns="0" tIns="0" rIns="0" bIns="0" rtlCol="0" anchor="ctr"/>
          <a:lstStyle/>
          <a:p>
            <a:pPr marL="0" indent="0" algn="ctr">
              <a:buNone/>
            </a:pPr>
            <a:r>
              <a:rPr lang="en-US" sz="1500" b="1" dirty="0">
                <a:solidFill>
                  <a:srgbClr val="5B7CFF"/>
                </a:solidFill>
              </a:rPr>
              <a:t>Deploy</a:t>
            </a:r>
            <a:endParaRPr lang="en-US" sz="1500" dirty="0"/>
          </a:p>
        </p:txBody>
      </p:sp>
      <p:sp>
        <p:nvSpPr>
          <p:cNvPr id="13" name="Shape 11"/>
          <p:cNvSpPr/>
          <p:nvPr/>
        </p:nvSpPr>
        <p:spPr>
          <a:xfrm>
            <a:off x="8915400" y="2359152"/>
            <a:ext cx="1005840" cy="0"/>
          </a:xfrm>
          <a:prstGeom prst="line">
            <a:avLst/>
          </a:prstGeom>
          <a:noFill/>
          <a:ln w="31750">
            <a:solidFill>
              <a:srgbClr val="3DD9FF"/>
            </a:solidFill>
            <a:prstDash val="solid"/>
            <a:headEnd type="none"/>
            <a:tailEnd type="triangle"/>
          </a:ln>
        </p:spPr>
        <p:txBody>
          <a:bodyPr/>
          <a:lstStyle/>
          <a:p>
            <a:endParaRPr lang="en-US"/>
          </a:p>
        </p:txBody>
      </p:sp>
      <p:sp>
        <p:nvSpPr>
          <p:cNvPr id="14" name="Text 12"/>
          <p:cNvSpPr/>
          <p:nvPr/>
        </p:nvSpPr>
        <p:spPr>
          <a:xfrm>
            <a:off x="10021824" y="2221992"/>
            <a:ext cx="1234440" cy="256032"/>
          </a:xfrm>
          <a:prstGeom prst="rect">
            <a:avLst/>
          </a:prstGeom>
          <a:noFill/>
          <a:ln/>
        </p:spPr>
        <p:txBody>
          <a:bodyPr wrap="square" lIns="0" tIns="0" rIns="0" bIns="0" rtlCol="0" anchor="ctr"/>
          <a:lstStyle/>
          <a:p>
            <a:pPr marL="0" indent="0" algn="ctr">
              <a:buNone/>
            </a:pPr>
            <a:r>
              <a:rPr lang="en-US" sz="1500" b="1" dirty="0">
                <a:solidFill>
                  <a:srgbClr val="3DD9FF"/>
                </a:solidFill>
              </a:rPr>
              <a:t>🌐 Website</a:t>
            </a:r>
            <a:endParaRPr lang="en-US" sz="1500" dirty="0"/>
          </a:p>
        </p:txBody>
      </p:sp>
      <p:sp>
        <p:nvSpPr>
          <p:cNvPr id="15" name="Shape 13"/>
          <p:cNvSpPr/>
          <p:nvPr/>
        </p:nvSpPr>
        <p:spPr>
          <a:xfrm>
            <a:off x="566928" y="3328416"/>
            <a:ext cx="6446520" cy="2468880"/>
          </a:xfrm>
          <a:prstGeom prst="roundRect">
            <a:avLst>
              <a:gd name="adj" fmla="val 4444"/>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a:p>
        </p:txBody>
      </p:sp>
      <p:sp>
        <p:nvSpPr>
          <p:cNvPr id="16" name="Text 14"/>
          <p:cNvSpPr/>
          <p:nvPr/>
        </p:nvSpPr>
        <p:spPr>
          <a:xfrm>
            <a:off x="868680" y="3621024"/>
            <a:ext cx="1417320" cy="274320"/>
          </a:xfrm>
          <a:prstGeom prst="rect">
            <a:avLst/>
          </a:prstGeom>
          <a:noFill/>
          <a:ln/>
        </p:spPr>
        <p:txBody>
          <a:bodyPr wrap="square" lIns="0" tIns="0" rIns="0" bIns="0" rtlCol="0" anchor="ctr"/>
          <a:lstStyle/>
          <a:p>
            <a:pPr marL="0" indent="0">
              <a:buNone/>
            </a:pPr>
            <a:r>
              <a:rPr lang="en-US" sz="1700" b="1" dirty="0">
                <a:solidFill>
                  <a:srgbClr val="F7F9FC"/>
                </a:solidFill>
              </a:rPr>
              <a:t>Vai trò chính</a:t>
            </a:r>
            <a:endParaRPr lang="en-US" sz="1700" dirty="0"/>
          </a:p>
        </p:txBody>
      </p:sp>
      <p:sp>
        <p:nvSpPr>
          <p:cNvPr id="17" name="Shape 15"/>
          <p:cNvSpPr/>
          <p:nvPr/>
        </p:nvSpPr>
        <p:spPr>
          <a:xfrm>
            <a:off x="886968" y="4279392"/>
            <a:ext cx="86868" cy="86868"/>
          </a:xfrm>
          <a:prstGeom prst="ellipse">
            <a:avLst/>
          </a:prstGeom>
          <a:solidFill>
            <a:srgbClr val="5B7CFF"/>
          </a:solidFill>
          <a:ln w="12700">
            <a:solidFill>
              <a:srgbClr val="5B7CFF"/>
            </a:solidFill>
            <a:prstDash val="solid"/>
          </a:ln>
        </p:spPr>
        <p:txBody>
          <a:bodyPr/>
          <a:lstStyle/>
          <a:p>
            <a:endParaRPr lang="en-US"/>
          </a:p>
        </p:txBody>
      </p:sp>
      <p:sp>
        <p:nvSpPr>
          <p:cNvPr id="18" name="Text 16"/>
          <p:cNvSpPr/>
          <p:nvPr/>
        </p:nvSpPr>
        <p:spPr>
          <a:xfrm>
            <a:off x="1051560" y="4169664"/>
            <a:ext cx="539496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Nhận source code từ GitHub</a:t>
            </a:r>
            <a:endParaRPr lang="en-US" sz="1350" dirty="0"/>
          </a:p>
        </p:txBody>
      </p:sp>
      <p:sp>
        <p:nvSpPr>
          <p:cNvPr id="19" name="Shape 17"/>
          <p:cNvSpPr/>
          <p:nvPr/>
        </p:nvSpPr>
        <p:spPr>
          <a:xfrm>
            <a:off x="886968" y="4718304"/>
            <a:ext cx="86868" cy="86868"/>
          </a:xfrm>
          <a:prstGeom prst="ellipse">
            <a:avLst/>
          </a:prstGeom>
          <a:solidFill>
            <a:srgbClr val="5B7CFF"/>
          </a:solidFill>
          <a:ln w="12700">
            <a:solidFill>
              <a:srgbClr val="5B7CFF"/>
            </a:solidFill>
            <a:prstDash val="solid"/>
          </a:ln>
        </p:spPr>
        <p:txBody>
          <a:bodyPr/>
          <a:lstStyle/>
          <a:p>
            <a:endParaRPr lang="en-US"/>
          </a:p>
        </p:txBody>
      </p:sp>
      <p:sp>
        <p:nvSpPr>
          <p:cNvPr id="20" name="Text 18"/>
          <p:cNvSpPr/>
          <p:nvPr/>
        </p:nvSpPr>
        <p:spPr>
          <a:xfrm>
            <a:off x="1051560" y="4608576"/>
            <a:ext cx="539496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Build project nếu cần</a:t>
            </a:r>
            <a:endParaRPr lang="en-US" sz="1350" dirty="0"/>
          </a:p>
        </p:txBody>
      </p:sp>
      <p:sp>
        <p:nvSpPr>
          <p:cNvPr id="21" name="Shape 19"/>
          <p:cNvSpPr/>
          <p:nvPr/>
        </p:nvSpPr>
        <p:spPr>
          <a:xfrm>
            <a:off x="886968" y="5157216"/>
            <a:ext cx="86868" cy="86868"/>
          </a:xfrm>
          <a:prstGeom prst="ellipse">
            <a:avLst/>
          </a:prstGeom>
          <a:solidFill>
            <a:srgbClr val="5B7CFF"/>
          </a:solidFill>
          <a:ln w="12700">
            <a:solidFill>
              <a:srgbClr val="5B7CFF"/>
            </a:solidFill>
            <a:prstDash val="solid"/>
          </a:ln>
        </p:spPr>
        <p:txBody>
          <a:bodyPr/>
          <a:lstStyle/>
          <a:p>
            <a:endParaRPr lang="en-US"/>
          </a:p>
        </p:txBody>
      </p:sp>
      <p:sp>
        <p:nvSpPr>
          <p:cNvPr id="22" name="Text 20"/>
          <p:cNvSpPr/>
          <p:nvPr/>
        </p:nvSpPr>
        <p:spPr>
          <a:xfrm>
            <a:off x="1051560" y="5047488"/>
            <a:ext cx="539496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Deploy website ra Internet</a:t>
            </a:r>
            <a:endParaRPr lang="en-US" sz="1350" dirty="0"/>
          </a:p>
        </p:txBody>
      </p:sp>
      <p:sp>
        <p:nvSpPr>
          <p:cNvPr id="23" name="Shape 21"/>
          <p:cNvSpPr/>
          <p:nvPr/>
        </p:nvSpPr>
        <p:spPr>
          <a:xfrm>
            <a:off x="886968" y="5596128"/>
            <a:ext cx="86868" cy="86868"/>
          </a:xfrm>
          <a:prstGeom prst="ellipse">
            <a:avLst/>
          </a:prstGeom>
          <a:solidFill>
            <a:srgbClr val="5B7CFF"/>
          </a:solidFill>
          <a:ln w="12700">
            <a:solidFill>
              <a:srgbClr val="5B7CFF"/>
            </a:solidFill>
            <a:prstDash val="solid"/>
          </a:ln>
        </p:spPr>
        <p:txBody>
          <a:bodyPr/>
          <a:lstStyle/>
          <a:p>
            <a:endParaRPr lang="en-US"/>
          </a:p>
        </p:txBody>
      </p:sp>
      <p:sp>
        <p:nvSpPr>
          <p:cNvPr id="24" name="Text 22"/>
          <p:cNvSpPr/>
          <p:nvPr/>
        </p:nvSpPr>
        <p:spPr>
          <a:xfrm>
            <a:off x="1051560" y="5486400"/>
            <a:ext cx="539496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Tạo deployment mới khi code thay đổi</a:t>
            </a:r>
            <a:endParaRPr lang="en-US" sz="1350" dirty="0"/>
          </a:p>
        </p:txBody>
      </p:sp>
      <p:sp>
        <p:nvSpPr>
          <p:cNvPr id="28"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8</a:t>
            </a:fld>
            <a:endParaRPr lang="en-US"/>
          </a:p>
        </p:txBody>
      </p:sp>
      <p:pic>
        <p:nvPicPr>
          <p:cNvPr id="30" name="Hình ảnh 29">
            <a:extLst>
              <a:ext uri="{FF2B5EF4-FFF2-40B4-BE49-F238E27FC236}">
                <a16:creationId xmlns:a16="http://schemas.microsoft.com/office/drawing/2014/main" id="{88E56685-CBC1-27B6-AF40-E2DF49F2A57C}"/>
              </a:ext>
            </a:extLst>
          </p:cNvPr>
          <p:cNvPicPr>
            <a:picLocks noChangeAspect="1"/>
          </p:cNvPicPr>
          <p:nvPr/>
        </p:nvPicPr>
        <p:blipFill>
          <a:blip r:embed="rId3"/>
          <a:stretch>
            <a:fillRect/>
          </a:stretch>
        </p:blipFill>
        <p:spPr>
          <a:xfrm>
            <a:off x="7132320" y="3328416"/>
            <a:ext cx="4533900" cy="2468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07 • KẾT NỐI</a:t>
            </a:r>
            <a:endParaRPr lang="en-US" sz="1000" dirty="0"/>
          </a:p>
        </p:txBody>
      </p:sp>
      <p:sp>
        <p:nvSpPr>
          <p:cNvPr id="3" name="Text 1"/>
          <p:cNvSpPr/>
          <p:nvPr/>
        </p:nvSpPr>
        <p:spPr>
          <a:xfrm>
            <a:off x="512064" y="543306"/>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Kết nối GitHub với Vercel</a:t>
            </a:r>
            <a:endParaRPr lang="en-US" sz="2700" dirty="0"/>
          </a:p>
        </p:txBody>
      </p:sp>
      <p:sp>
        <p:nvSpPr>
          <p:cNvPr id="4" name="Text 2"/>
          <p:cNvSpPr/>
          <p:nvPr/>
        </p:nvSpPr>
        <p:spPr>
          <a:xfrm>
            <a:off x="512064" y="945642"/>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Chỉ cần import đúng repository rồi triển khai.</a:t>
            </a:r>
            <a:endParaRPr lang="en-US" sz="1250" dirty="0"/>
          </a:p>
        </p:txBody>
      </p:sp>
      <p:sp>
        <p:nvSpPr>
          <p:cNvPr id="5" name="Shape 3"/>
          <p:cNvSpPr/>
          <p:nvPr/>
        </p:nvSpPr>
        <p:spPr>
          <a:xfrm>
            <a:off x="512064" y="1598295"/>
            <a:ext cx="384048" cy="384048"/>
          </a:xfrm>
          <a:prstGeom prst="ellipse">
            <a:avLst/>
          </a:prstGeom>
          <a:solidFill>
            <a:srgbClr val="5B7CFF"/>
          </a:solidFill>
          <a:ln w="12700">
            <a:solidFill>
              <a:srgbClr val="5B7CFF"/>
            </a:solidFill>
            <a:prstDash val="solid"/>
          </a:ln>
        </p:spPr>
        <p:txBody>
          <a:bodyPr/>
          <a:lstStyle/>
          <a:p>
            <a:endParaRPr lang="en-US"/>
          </a:p>
        </p:txBody>
      </p:sp>
      <p:sp>
        <p:nvSpPr>
          <p:cNvPr id="6" name="Text 4"/>
          <p:cNvSpPr/>
          <p:nvPr/>
        </p:nvSpPr>
        <p:spPr>
          <a:xfrm>
            <a:off x="512064" y="1657731"/>
            <a:ext cx="384048" cy="182880"/>
          </a:xfrm>
          <a:prstGeom prst="rect">
            <a:avLst/>
          </a:prstGeom>
          <a:noFill/>
          <a:ln/>
        </p:spPr>
        <p:txBody>
          <a:bodyPr wrap="square" lIns="0" tIns="0" rIns="0" bIns="0" rtlCol="0" anchor="ctr"/>
          <a:lstStyle/>
          <a:p>
            <a:pPr marL="0" indent="0" algn="ctr">
              <a:buNone/>
            </a:pPr>
            <a:r>
              <a:rPr lang="en-US" sz="1100" b="1" dirty="0">
                <a:solidFill>
                  <a:srgbClr val="0B1020"/>
                </a:solidFill>
              </a:rPr>
              <a:t>1</a:t>
            </a:r>
            <a:endParaRPr lang="en-US" sz="1100" dirty="0"/>
          </a:p>
        </p:txBody>
      </p:sp>
      <p:sp>
        <p:nvSpPr>
          <p:cNvPr id="7" name="Text 5"/>
          <p:cNvSpPr/>
          <p:nvPr/>
        </p:nvSpPr>
        <p:spPr>
          <a:xfrm>
            <a:off x="1042416" y="1589151"/>
            <a:ext cx="4224528" cy="219456"/>
          </a:xfrm>
          <a:prstGeom prst="rect">
            <a:avLst/>
          </a:prstGeom>
          <a:noFill/>
          <a:ln/>
        </p:spPr>
        <p:txBody>
          <a:bodyPr wrap="square" lIns="0" tIns="0" rIns="0" bIns="0" rtlCol="0" anchor="ctr">
            <a:normAutofit/>
          </a:bodyPr>
          <a:lstStyle/>
          <a:p>
            <a:pPr marL="0" indent="0">
              <a:buNone/>
            </a:pPr>
            <a:r>
              <a:rPr lang="en-US" sz="1350" b="1" dirty="0">
                <a:solidFill>
                  <a:srgbClr val="F7F9FC"/>
                </a:solidFill>
              </a:rPr>
              <a:t>Đăng nhập Vercel</a:t>
            </a:r>
            <a:endParaRPr lang="en-US" sz="1350" dirty="0"/>
          </a:p>
        </p:txBody>
      </p:sp>
      <p:sp>
        <p:nvSpPr>
          <p:cNvPr id="8" name="Text 6"/>
          <p:cNvSpPr/>
          <p:nvPr/>
        </p:nvSpPr>
        <p:spPr>
          <a:xfrm>
            <a:off x="1042416" y="1749171"/>
            <a:ext cx="4224528" cy="320040"/>
          </a:xfrm>
          <a:prstGeom prst="rect">
            <a:avLst/>
          </a:prstGeom>
          <a:noFill/>
          <a:ln/>
        </p:spPr>
        <p:txBody>
          <a:bodyPr wrap="square" lIns="0" tIns="0" rIns="0" bIns="0" rtlCol="0" anchor="ctr">
            <a:normAutofit/>
          </a:bodyPr>
          <a:lstStyle/>
          <a:p>
            <a:pPr marL="0" indent="0">
              <a:buNone/>
            </a:pPr>
            <a:r>
              <a:rPr lang="en-US" sz="1050" dirty="0">
                <a:solidFill>
                  <a:srgbClr val="9AA6BF"/>
                </a:solidFill>
              </a:rPr>
              <a:t>Mở dashboard và chọn Add New → Project</a:t>
            </a:r>
            <a:endParaRPr lang="en-US" sz="1050" dirty="0"/>
          </a:p>
        </p:txBody>
      </p:sp>
      <p:sp>
        <p:nvSpPr>
          <p:cNvPr id="30"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9</a:t>
            </a:fld>
            <a:endParaRPr lang="en-US"/>
          </a:p>
        </p:txBody>
      </p:sp>
      <p:pic>
        <p:nvPicPr>
          <p:cNvPr id="32" name="Hình ảnh 31">
            <a:extLst>
              <a:ext uri="{FF2B5EF4-FFF2-40B4-BE49-F238E27FC236}">
                <a16:creationId xmlns:a16="http://schemas.microsoft.com/office/drawing/2014/main" id="{930F2386-1522-E8BB-B070-9A0E0EFB7490}"/>
              </a:ext>
            </a:extLst>
          </p:cNvPr>
          <p:cNvPicPr>
            <a:picLocks noChangeAspect="1"/>
          </p:cNvPicPr>
          <p:nvPr/>
        </p:nvPicPr>
        <p:blipFill>
          <a:blip r:embed="rId3"/>
          <a:stretch>
            <a:fillRect/>
          </a:stretch>
        </p:blipFill>
        <p:spPr>
          <a:xfrm>
            <a:off x="1758228" y="2069211"/>
            <a:ext cx="8985971" cy="41555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22DF5-8521-5BDF-5336-22E14CFD83CC}"/>
            </a:ext>
          </a:extLst>
        </p:cNvPr>
        <p:cNvGrpSpPr/>
        <p:nvPr/>
      </p:nvGrpSpPr>
      <p:grpSpPr>
        <a:xfrm>
          <a:off x="0" y="0"/>
          <a:ext cx="0" cy="0"/>
          <a:chOff x="0" y="0"/>
          <a:chExt cx="0" cy="0"/>
        </a:xfrm>
      </p:grpSpPr>
      <p:sp>
        <p:nvSpPr>
          <p:cNvPr id="9" name="Shape 7">
            <a:extLst>
              <a:ext uri="{FF2B5EF4-FFF2-40B4-BE49-F238E27FC236}">
                <a16:creationId xmlns:a16="http://schemas.microsoft.com/office/drawing/2014/main" id="{188DC2EB-E9F4-BB27-9B53-FE2C6352A155}"/>
              </a:ext>
            </a:extLst>
          </p:cNvPr>
          <p:cNvSpPr/>
          <p:nvPr/>
        </p:nvSpPr>
        <p:spPr>
          <a:xfrm>
            <a:off x="512064" y="1467231"/>
            <a:ext cx="384048" cy="384048"/>
          </a:xfrm>
          <a:prstGeom prst="ellipse">
            <a:avLst/>
          </a:prstGeom>
          <a:solidFill>
            <a:srgbClr val="A77BFF"/>
          </a:solidFill>
          <a:ln w="12700">
            <a:solidFill>
              <a:srgbClr val="A77BFF"/>
            </a:solidFill>
            <a:prstDash val="solid"/>
          </a:ln>
        </p:spPr>
        <p:txBody>
          <a:bodyPr/>
          <a:lstStyle/>
          <a:p>
            <a:endParaRPr lang="en-US"/>
          </a:p>
        </p:txBody>
      </p:sp>
      <p:sp>
        <p:nvSpPr>
          <p:cNvPr id="10" name="Text 8">
            <a:extLst>
              <a:ext uri="{FF2B5EF4-FFF2-40B4-BE49-F238E27FC236}">
                <a16:creationId xmlns:a16="http://schemas.microsoft.com/office/drawing/2014/main" id="{E07809E5-0478-D077-63B0-5BDE9EF442B1}"/>
              </a:ext>
            </a:extLst>
          </p:cNvPr>
          <p:cNvSpPr/>
          <p:nvPr/>
        </p:nvSpPr>
        <p:spPr>
          <a:xfrm>
            <a:off x="512064" y="1526667"/>
            <a:ext cx="384048" cy="182880"/>
          </a:xfrm>
          <a:prstGeom prst="rect">
            <a:avLst/>
          </a:prstGeom>
          <a:noFill/>
          <a:ln/>
        </p:spPr>
        <p:txBody>
          <a:bodyPr wrap="square" lIns="0" tIns="0" rIns="0" bIns="0" rtlCol="0" anchor="ctr"/>
          <a:lstStyle/>
          <a:p>
            <a:pPr marL="0" indent="0" algn="ctr">
              <a:buNone/>
            </a:pPr>
            <a:r>
              <a:rPr lang="en-US" sz="1100" b="1" dirty="0">
                <a:solidFill>
                  <a:srgbClr val="0B1020"/>
                </a:solidFill>
              </a:rPr>
              <a:t>2</a:t>
            </a:r>
            <a:endParaRPr lang="en-US" sz="1100" dirty="0"/>
          </a:p>
        </p:txBody>
      </p:sp>
      <p:sp>
        <p:nvSpPr>
          <p:cNvPr id="11" name="Text 9">
            <a:extLst>
              <a:ext uri="{FF2B5EF4-FFF2-40B4-BE49-F238E27FC236}">
                <a16:creationId xmlns:a16="http://schemas.microsoft.com/office/drawing/2014/main" id="{A22BEE8B-32D4-C787-D69A-27EF61E19799}"/>
              </a:ext>
            </a:extLst>
          </p:cNvPr>
          <p:cNvSpPr/>
          <p:nvPr/>
        </p:nvSpPr>
        <p:spPr>
          <a:xfrm>
            <a:off x="1042416" y="1458087"/>
            <a:ext cx="4224528" cy="219456"/>
          </a:xfrm>
          <a:prstGeom prst="rect">
            <a:avLst/>
          </a:prstGeom>
          <a:noFill/>
          <a:ln/>
        </p:spPr>
        <p:txBody>
          <a:bodyPr wrap="square" lIns="0" tIns="0" rIns="0" bIns="0" rtlCol="0" anchor="ctr">
            <a:normAutofit/>
          </a:bodyPr>
          <a:lstStyle/>
          <a:p>
            <a:pPr marL="0" indent="0">
              <a:buNone/>
            </a:pPr>
            <a:r>
              <a:rPr lang="en-US" sz="1350" b="1" dirty="0">
                <a:solidFill>
                  <a:srgbClr val="F7F9FC"/>
                </a:solidFill>
              </a:rPr>
              <a:t>Kết nối GitHub</a:t>
            </a:r>
            <a:endParaRPr lang="en-US" sz="1350" dirty="0"/>
          </a:p>
        </p:txBody>
      </p:sp>
      <p:sp>
        <p:nvSpPr>
          <p:cNvPr id="12" name="Text 10">
            <a:extLst>
              <a:ext uri="{FF2B5EF4-FFF2-40B4-BE49-F238E27FC236}">
                <a16:creationId xmlns:a16="http://schemas.microsoft.com/office/drawing/2014/main" id="{2B8A5EED-F94B-43C8-0587-85B9B0B858F4}"/>
              </a:ext>
            </a:extLst>
          </p:cNvPr>
          <p:cNvSpPr/>
          <p:nvPr/>
        </p:nvSpPr>
        <p:spPr>
          <a:xfrm>
            <a:off x="1042416" y="1659255"/>
            <a:ext cx="4224528" cy="320040"/>
          </a:xfrm>
          <a:prstGeom prst="rect">
            <a:avLst/>
          </a:prstGeom>
          <a:noFill/>
          <a:ln/>
        </p:spPr>
        <p:txBody>
          <a:bodyPr wrap="square" lIns="0" tIns="0" rIns="0" bIns="0" rtlCol="0" anchor="ctr">
            <a:normAutofit/>
          </a:bodyPr>
          <a:lstStyle/>
          <a:p>
            <a:pPr marL="0" indent="0">
              <a:buNone/>
            </a:pPr>
            <a:r>
              <a:rPr lang="en-US" sz="1050" dirty="0">
                <a:solidFill>
                  <a:srgbClr val="9AA6BF"/>
                </a:solidFill>
              </a:rPr>
              <a:t>Cho phép Vercel truy cập repository cần deploy</a:t>
            </a:r>
            <a:endParaRPr lang="en-US" sz="1050" dirty="0"/>
          </a:p>
        </p:txBody>
      </p:sp>
      <p:sp>
        <p:nvSpPr>
          <p:cNvPr id="30" name="Slide Number Placeholder 0">
            <a:extLst>
              <a:ext uri="{FF2B5EF4-FFF2-40B4-BE49-F238E27FC236}">
                <a16:creationId xmlns:a16="http://schemas.microsoft.com/office/drawing/2014/main" id="{5E1365DA-5085-BD00-39EF-DDCF8DC8F3A0}"/>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10</a:t>
            </a:fld>
            <a:endParaRPr lang="en-US"/>
          </a:p>
        </p:txBody>
      </p:sp>
      <p:sp>
        <p:nvSpPr>
          <p:cNvPr id="32" name="Text 0">
            <a:extLst>
              <a:ext uri="{FF2B5EF4-FFF2-40B4-BE49-F238E27FC236}">
                <a16:creationId xmlns:a16="http://schemas.microsoft.com/office/drawing/2014/main" id="{5F96DA3F-C92F-D5BA-BDC9-FE2F446D4184}"/>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07 • KẾT NỐI</a:t>
            </a:r>
            <a:endParaRPr lang="en-US" sz="1000" dirty="0"/>
          </a:p>
        </p:txBody>
      </p:sp>
      <p:sp>
        <p:nvSpPr>
          <p:cNvPr id="34" name="Text 1">
            <a:extLst>
              <a:ext uri="{FF2B5EF4-FFF2-40B4-BE49-F238E27FC236}">
                <a16:creationId xmlns:a16="http://schemas.microsoft.com/office/drawing/2014/main" id="{FCE9A994-7EDB-1DF8-B894-32119AD5365E}"/>
              </a:ext>
            </a:extLst>
          </p:cNvPr>
          <p:cNvSpPr/>
          <p:nvPr/>
        </p:nvSpPr>
        <p:spPr>
          <a:xfrm>
            <a:off x="512064" y="543306"/>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Kết nối GitHub với Vercel</a:t>
            </a:r>
            <a:endParaRPr lang="en-US" sz="2700" dirty="0"/>
          </a:p>
        </p:txBody>
      </p:sp>
      <p:sp>
        <p:nvSpPr>
          <p:cNvPr id="36" name="Text 2">
            <a:extLst>
              <a:ext uri="{FF2B5EF4-FFF2-40B4-BE49-F238E27FC236}">
                <a16:creationId xmlns:a16="http://schemas.microsoft.com/office/drawing/2014/main" id="{84A9878E-0A77-A424-FB30-99C7B3107361}"/>
              </a:ext>
            </a:extLst>
          </p:cNvPr>
          <p:cNvSpPr/>
          <p:nvPr/>
        </p:nvSpPr>
        <p:spPr>
          <a:xfrm>
            <a:off x="512064" y="945642"/>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Chỉ cần import đúng repository rồi triển khai.</a:t>
            </a:r>
            <a:endParaRPr lang="en-US" sz="1250" dirty="0"/>
          </a:p>
        </p:txBody>
      </p:sp>
      <p:pic>
        <p:nvPicPr>
          <p:cNvPr id="38" name="Hình ảnh 37">
            <a:extLst>
              <a:ext uri="{FF2B5EF4-FFF2-40B4-BE49-F238E27FC236}">
                <a16:creationId xmlns:a16="http://schemas.microsoft.com/office/drawing/2014/main" id="{60F68DF2-4A82-9469-1270-521585C7656F}"/>
              </a:ext>
            </a:extLst>
          </p:cNvPr>
          <p:cNvPicPr>
            <a:picLocks noChangeAspect="1"/>
          </p:cNvPicPr>
          <p:nvPr/>
        </p:nvPicPr>
        <p:blipFill>
          <a:blip r:embed="rId3"/>
          <a:stretch>
            <a:fillRect/>
          </a:stretch>
        </p:blipFill>
        <p:spPr>
          <a:xfrm>
            <a:off x="512064" y="2025396"/>
            <a:ext cx="6279261" cy="4118269"/>
          </a:xfrm>
          <a:prstGeom prst="rect">
            <a:avLst/>
          </a:prstGeom>
        </p:spPr>
      </p:pic>
      <p:pic>
        <p:nvPicPr>
          <p:cNvPr id="40" name="Hình ảnh 39">
            <a:extLst>
              <a:ext uri="{FF2B5EF4-FFF2-40B4-BE49-F238E27FC236}">
                <a16:creationId xmlns:a16="http://schemas.microsoft.com/office/drawing/2014/main" id="{E1051C90-9DAB-FE7E-CB93-74EA79BC7B7D}"/>
              </a:ext>
            </a:extLst>
          </p:cNvPr>
          <p:cNvPicPr>
            <a:picLocks noChangeAspect="1"/>
          </p:cNvPicPr>
          <p:nvPr/>
        </p:nvPicPr>
        <p:blipFill>
          <a:blip r:embed="rId4"/>
          <a:stretch>
            <a:fillRect/>
          </a:stretch>
        </p:blipFill>
        <p:spPr>
          <a:xfrm>
            <a:off x="7148803" y="2025396"/>
            <a:ext cx="4635908" cy="4118269"/>
          </a:xfrm>
          <a:prstGeom prst="rect">
            <a:avLst/>
          </a:prstGeom>
        </p:spPr>
      </p:pic>
    </p:spTree>
    <p:extLst>
      <p:ext uri="{BB962C8B-B14F-4D97-AF65-F5344CB8AC3E}">
        <p14:creationId xmlns:p14="http://schemas.microsoft.com/office/powerpoint/2010/main" val="2173480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1331E-9B1D-5EC2-F85F-DCF91D9138AA}"/>
            </a:ext>
          </a:extLst>
        </p:cNvPr>
        <p:cNvGrpSpPr/>
        <p:nvPr/>
      </p:nvGrpSpPr>
      <p:grpSpPr>
        <a:xfrm>
          <a:off x="0" y="0"/>
          <a:ext cx="0" cy="0"/>
          <a:chOff x="0" y="0"/>
          <a:chExt cx="0" cy="0"/>
        </a:xfrm>
      </p:grpSpPr>
      <p:sp>
        <p:nvSpPr>
          <p:cNvPr id="13" name="Shape 11">
            <a:extLst>
              <a:ext uri="{FF2B5EF4-FFF2-40B4-BE49-F238E27FC236}">
                <a16:creationId xmlns:a16="http://schemas.microsoft.com/office/drawing/2014/main" id="{B5A76336-2E1E-DC69-144D-F3F5C11A7ED0}"/>
              </a:ext>
            </a:extLst>
          </p:cNvPr>
          <p:cNvSpPr/>
          <p:nvPr/>
        </p:nvSpPr>
        <p:spPr>
          <a:xfrm>
            <a:off x="512064" y="1322832"/>
            <a:ext cx="384048" cy="384048"/>
          </a:xfrm>
          <a:prstGeom prst="ellipse">
            <a:avLst/>
          </a:prstGeom>
          <a:solidFill>
            <a:srgbClr val="3DD9FF"/>
          </a:solidFill>
          <a:ln w="12700">
            <a:solidFill>
              <a:srgbClr val="3DD9FF"/>
            </a:solidFill>
            <a:prstDash val="solid"/>
          </a:ln>
        </p:spPr>
        <p:txBody>
          <a:bodyPr/>
          <a:lstStyle/>
          <a:p>
            <a:endParaRPr lang="en-US"/>
          </a:p>
        </p:txBody>
      </p:sp>
      <p:sp>
        <p:nvSpPr>
          <p:cNvPr id="14" name="Text 12">
            <a:extLst>
              <a:ext uri="{FF2B5EF4-FFF2-40B4-BE49-F238E27FC236}">
                <a16:creationId xmlns:a16="http://schemas.microsoft.com/office/drawing/2014/main" id="{E61474B6-C7EA-38F9-F962-CEE1527E8A43}"/>
              </a:ext>
            </a:extLst>
          </p:cNvPr>
          <p:cNvSpPr/>
          <p:nvPr/>
        </p:nvSpPr>
        <p:spPr>
          <a:xfrm>
            <a:off x="512064" y="1382268"/>
            <a:ext cx="384048" cy="182880"/>
          </a:xfrm>
          <a:prstGeom prst="rect">
            <a:avLst/>
          </a:prstGeom>
          <a:noFill/>
          <a:ln/>
        </p:spPr>
        <p:txBody>
          <a:bodyPr wrap="square" lIns="0" tIns="0" rIns="0" bIns="0" rtlCol="0" anchor="ctr"/>
          <a:lstStyle/>
          <a:p>
            <a:pPr marL="0" indent="0" algn="ctr">
              <a:buNone/>
            </a:pPr>
            <a:r>
              <a:rPr lang="en-US" sz="1100" b="1" dirty="0">
                <a:solidFill>
                  <a:srgbClr val="0B1020"/>
                </a:solidFill>
              </a:rPr>
              <a:t>3</a:t>
            </a:r>
            <a:endParaRPr lang="en-US" sz="1100" dirty="0"/>
          </a:p>
        </p:txBody>
      </p:sp>
      <p:sp>
        <p:nvSpPr>
          <p:cNvPr id="19" name="Text 17">
            <a:extLst>
              <a:ext uri="{FF2B5EF4-FFF2-40B4-BE49-F238E27FC236}">
                <a16:creationId xmlns:a16="http://schemas.microsoft.com/office/drawing/2014/main" id="{B9C88893-8CEF-A3D1-8EA5-66B7D96F9F7B}"/>
              </a:ext>
            </a:extLst>
          </p:cNvPr>
          <p:cNvSpPr/>
          <p:nvPr/>
        </p:nvSpPr>
        <p:spPr>
          <a:xfrm>
            <a:off x="975741" y="1322832"/>
            <a:ext cx="4224528" cy="219456"/>
          </a:xfrm>
          <a:prstGeom prst="rect">
            <a:avLst/>
          </a:prstGeom>
          <a:noFill/>
          <a:ln/>
        </p:spPr>
        <p:txBody>
          <a:bodyPr wrap="square" lIns="0" tIns="0" rIns="0" bIns="0" rtlCol="0" anchor="ctr">
            <a:normAutofit/>
          </a:bodyPr>
          <a:lstStyle/>
          <a:p>
            <a:pPr marL="0" indent="0">
              <a:buNone/>
            </a:pPr>
            <a:r>
              <a:rPr lang="en-US" sz="1350" b="1" dirty="0">
                <a:solidFill>
                  <a:srgbClr val="F7F9FC"/>
                </a:solidFill>
              </a:rPr>
              <a:t>Kiểm tra cấu hình</a:t>
            </a:r>
            <a:endParaRPr lang="en-US" sz="1350" dirty="0"/>
          </a:p>
        </p:txBody>
      </p:sp>
      <p:sp>
        <p:nvSpPr>
          <p:cNvPr id="20" name="Text 18">
            <a:extLst>
              <a:ext uri="{FF2B5EF4-FFF2-40B4-BE49-F238E27FC236}">
                <a16:creationId xmlns:a16="http://schemas.microsoft.com/office/drawing/2014/main" id="{96316EA1-11A8-EEC3-7F52-E49B94B64829}"/>
              </a:ext>
            </a:extLst>
          </p:cNvPr>
          <p:cNvSpPr/>
          <p:nvPr/>
        </p:nvSpPr>
        <p:spPr>
          <a:xfrm>
            <a:off x="975741" y="1578864"/>
            <a:ext cx="4224528" cy="320040"/>
          </a:xfrm>
          <a:prstGeom prst="rect">
            <a:avLst/>
          </a:prstGeom>
          <a:noFill/>
          <a:ln/>
        </p:spPr>
        <p:txBody>
          <a:bodyPr wrap="square" lIns="0" tIns="0" rIns="0" bIns="0" rtlCol="0" anchor="ctr">
            <a:normAutofit/>
          </a:bodyPr>
          <a:lstStyle/>
          <a:p>
            <a:pPr marL="0" indent="0">
              <a:buNone/>
            </a:pPr>
            <a:r>
              <a:rPr lang="en-US" sz="1050" dirty="0">
                <a:solidFill>
                  <a:srgbClr val="9AA6BF"/>
                </a:solidFill>
              </a:rPr>
              <a:t>Framework / Build / Output</a:t>
            </a:r>
            <a:endParaRPr lang="en-US" sz="1050" dirty="0"/>
          </a:p>
        </p:txBody>
      </p:sp>
      <p:sp>
        <p:nvSpPr>
          <p:cNvPr id="30" name="Slide Number Placeholder 0">
            <a:extLst>
              <a:ext uri="{FF2B5EF4-FFF2-40B4-BE49-F238E27FC236}">
                <a16:creationId xmlns:a16="http://schemas.microsoft.com/office/drawing/2014/main" id="{1660B38D-1BD3-62D3-B186-D9B0E504DA2A}"/>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11</a:t>
            </a:fld>
            <a:endParaRPr lang="en-US"/>
          </a:p>
        </p:txBody>
      </p:sp>
      <p:sp>
        <p:nvSpPr>
          <p:cNvPr id="32" name="Text 0">
            <a:extLst>
              <a:ext uri="{FF2B5EF4-FFF2-40B4-BE49-F238E27FC236}">
                <a16:creationId xmlns:a16="http://schemas.microsoft.com/office/drawing/2014/main" id="{1A384E83-2CBD-E63D-9E2C-0DA927E6CDB1}"/>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07 • KẾT NỐI</a:t>
            </a:r>
            <a:endParaRPr lang="en-US" sz="1000" dirty="0"/>
          </a:p>
        </p:txBody>
      </p:sp>
      <p:sp>
        <p:nvSpPr>
          <p:cNvPr id="34" name="Text 1">
            <a:extLst>
              <a:ext uri="{FF2B5EF4-FFF2-40B4-BE49-F238E27FC236}">
                <a16:creationId xmlns:a16="http://schemas.microsoft.com/office/drawing/2014/main" id="{9E6EFF23-0494-78ED-8444-66C413B67782}"/>
              </a:ext>
            </a:extLst>
          </p:cNvPr>
          <p:cNvSpPr/>
          <p:nvPr/>
        </p:nvSpPr>
        <p:spPr>
          <a:xfrm>
            <a:off x="512064" y="543306"/>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Kết nối GitHub với Vercel</a:t>
            </a:r>
            <a:endParaRPr lang="en-US" sz="2700" dirty="0"/>
          </a:p>
        </p:txBody>
      </p:sp>
      <p:sp>
        <p:nvSpPr>
          <p:cNvPr id="36" name="Text 2">
            <a:extLst>
              <a:ext uri="{FF2B5EF4-FFF2-40B4-BE49-F238E27FC236}">
                <a16:creationId xmlns:a16="http://schemas.microsoft.com/office/drawing/2014/main" id="{962A0BDB-B8FE-8BEF-4500-AF4B116A3537}"/>
              </a:ext>
            </a:extLst>
          </p:cNvPr>
          <p:cNvSpPr/>
          <p:nvPr/>
        </p:nvSpPr>
        <p:spPr>
          <a:xfrm>
            <a:off x="512064" y="945642"/>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Chỉ cần import đúng repository rồi triển khai.</a:t>
            </a:r>
            <a:endParaRPr lang="en-US" sz="1250" dirty="0"/>
          </a:p>
        </p:txBody>
      </p:sp>
      <p:pic>
        <p:nvPicPr>
          <p:cNvPr id="38" name="Hình ảnh 37">
            <a:extLst>
              <a:ext uri="{FF2B5EF4-FFF2-40B4-BE49-F238E27FC236}">
                <a16:creationId xmlns:a16="http://schemas.microsoft.com/office/drawing/2014/main" id="{68C5D4DB-6723-19EF-802B-E95E97BF04AE}"/>
              </a:ext>
            </a:extLst>
          </p:cNvPr>
          <p:cNvPicPr>
            <a:picLocks noChangeAspect="1"/>
          </p:cNvPicPr>
          <p:nvPr/>
        </p:nvPicPr>
        <p:blipFill>
          <a:blip r:embed="rId3"/>
          <a:stretch>
            <a:fillRect/>
          </a:stretch>
        </p:blipFill>
        <p:spPr>
          <a:xfrm>
            <a:off x="2871136" y="1382268"/>
            <a:ext cx="7882590" cy="4764909"/>
          </a:xfrm>
          <a:prstGeom prst="rect">
            <a:avLst/>
          </a:prstGeom>
        </p:spPr>
      </p:pic>
    </p:spTree>
    <p:extLst>
      <p:ext uri="{BB962C8B-B14F-4D97-AF65-F5344CB8AC3E}">
        <p14:creationId xmlns:p14="http://schemas.microsoft.com/office/powerpoint/2010/main" val="493300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08 • DEPLOY</a:t>
            </a:r>
            <a:endParaRPr lang="en-US" sz="1000" dirty="0"/>
          </a:p>
        </p:txBody>
      </p:sp>
      <p:sp>
        <p:nvSpPr>
          <p:cNvPr id="3" name="Text 1"/>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đã được triển khai</a:t>
            </a:r>
            <a:endParaRPr lang="en-US" sz="2700" dirty="0"/>
          </a:p>
        </p:txBody>
      </p:sp>
      <p:sp>
        <p:nvSpPr>
          <p:cNvPr id="4" name="Text 2"/>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Từ đây, mỗi lần cập nhật code có thể tạo một deployment mới.</a:t>
            </a:r>
            <a:endParaRPr lang="en-US" sz="1250" dirty="0"/>
          </a:p>
        </p:txBody>
      </p:sp>
      <p:sp>
        <p:nvSpPr>
          <p:cNvPr id="5" name="Shape 3"/>
          <p:cNvSpPr/>
          <p:nvPr/>
        </p:nvSpPr>
        <p:spPr>
          <a:xfrm>
            <a:off x="640080" y="1993392"/>
            <a:ext cx="10972800" cy="1143000"/>
          </a:xfrm>
          <a:prstGeom prst="roundRect">
            <a:avLst>
              <a:gd name="adj" fmla="val 9600"/>
            </a:avLst>
          </a:prstGeom>
          <a:solidFill>
            <a:srgbClr val="10192C"/>
          </a:solidFill>
          <a:ln w="12700">
            <a:solidFill>
              <a:srgbClr val="35D49A"/>
            </a:solidFill>
            <a:prstDash val="solid"/>
          </a:ln>
        </p:spPr>
        <p:txBody>
          <a:bodyPr/>
          <a:lstStyle/>
          <a:p>
            <a:endParaRPr lang="en-US"/>
          </a:p>
        </p:txBody>
      </p:sp>
      <p:sp>
        <p:nvSpPr>
          <p:cNvPr id="6" name="Shape 4"/>
          <p:cNvSpPr/>
          <p:nvPr/>
        </p:nvSpPr>
        <p:spPr>
          <a:xfrm>
            <a:off x="877824" y="2267712"/>
            <a:ext cx="1307592" cy="530352"/>
          </a:xfrm>
          <a:prstGeom prst="roundRect">
            <a:avLst>
              <a:gd name="adj" fmla="val 17241"/>
            </a:avLst>
          </a:prstGeom>
          <a:solidFill>
            <a:srgbClr val="182139"/>
          </a:solidFill>
          <a:ln w="12700">
            <a:solidFill>
              <a:srgbClr val="3DD9FF">
                <a:alpha val="35000"/>
              </a:srgbClr>
            </a:solidFill>
            <a:prstDash val="solid"/>
          </a:ln>
        </p:spPr>
        <p:txBody>
          <a:bodyPr/>
          <a:lstStyle/>
          <a:p>
            <a:endParaRPr lang="en-US"/>
          </a:p>
        </p:txBody>
      </p:sp>
      <p:sp>
        <p:nvSpPr>
          <p:cNvPr id="7" name="Text 5"/>
          <p:cNvSpPr/>
          <p:nvPr/>
        </p:nvSpPr>
        <p:spPr>
          <a:xfrm>
            <a:off x="950976" y="2340864"/>
            <a:ext cx="274320" cy="201168"/>
          </a:xfrm>
          <a:prstGeom prst="rect">
            <a:avLst/>
          </a:prstGeom>
          <a:noFill/>
          <a:ln/>
        </p:spPr>
        <p:txBody>
          <a:bodyPr wrap="square" lIns="0" tIns="0" rIns="0" bIns="0" rtlCol="0" anchor="ctr"/>
          <a:lstStyle/>
          <a:p>
            <a:pPr marL="0" indent="0" algn="ctr">
              <a:buNone/>
            </a:pPr>
            <a:r>
              <a:rPr lang="en-US" sz="1300" dirty="0">
                <a:solidFill>
                  <a:srgbClr val="3DD9FF"/>
                </a:solidFill>
              </a:rPr>
              <a:t>💻</a:t>
            </a:r>
            <a:endParaRPr lang="en-US" sz="1300" dirty="0"/>
          </a:p>
        </p:txBody>
      </p:sp>
      <p:sp>
        <p:nvSpPr>
          <p:cNvPr id="8" name="Text 6"/>
          <p:cNvSpPr/>
          <p:nvPr/>
        </p:nvSpPr>
        <p:spPr>
          <a:xfrm>
            <a:off x="1225296" y="2340864"/>
            <a:ext cx="859536" cy="201168"/>
          </a:xfrm>
          <a:prstGeom prst="rect">
            <a:avLst/>
          </a:prstGeom>
          <a:noFill/>
          <a:ln/>
        </p:spPr>
        <p:txBody>
          <a:bodyPr wrap="square" lIns="0" tIns="0" rIns="0" bIns="0" rtlCol="0" anchor="ctr">
            <a:normAutofit/>
          </a:bodyPr>
          <a:lstStyle/>
          <a:p>
            <a:pPr marL="0" indent="0">
              <a:buNone/>
            </a:pPr>
            <a:r>
              <a:rPr lang="en-US" sz="1050" b="1" dirty="0">
                <a:solidFill>
                  <a:srgbClr val="F7F9FC"/>
                </a:solidFill>
              </a:rPr>
              <a:t>Sửa code</a:t>
            </a:r>
            <a:endParaRPr lang="en-US" sz="1050" dirty="0"/>
          </a:p>
        </p:txBody>
      </p:sp>
      <p:sp>
        <p:nvSpPr>
          <p:cNvPr id="9" name="Shape 7"/>
          <p:cNvSpPr/>
          <p:nvPr/>
        </p:nvSpPr>
        <p:spPr>
          <a:xfrm>
            <a:off x="2221992" y="2532888"/>
            <a:ext cx="329184" cy="0"/>
          </a:xfrm>
          <a:prstGeom prst="line">
            <a:avLst/>
          </a:prstGeom>
          <a:noFill/>
          <a:ln w="21590">
            <a:solidFill>
              <a:srgbClr val="3DD9FF"/>
            </a:solidFill>
            <a:prstDash val="solid"/>
            <a:headEnd type="none"/>
            <a:tailEnd type="triangle"/>
          </a:ln>
        </p:spPr>
        <p:txBody>
          <a:bodyPr/>
          <a:lstStyle/>
          <a:p>
            <a:endParaRPr lang="en-US"/>
          </a:p>
        </p:txBody>
      </p:sp>
      <p:sp>
        <p:nvSpPr>
          <p:cNvPr id="10" name="Shape 8"/>
          <p:cNvSpPr/>
          <p:nvPr/>
        </p:nvSpPr>
        <p:spPr>
          <a:xfrm>
            <a:off x="2679192" y="2267712"/>
            <a:ext cx="1307592" cy="530352"/>
          </a:xfrm>
          <a:prstGeom prst="roundRect">
            <a:avLst>
              <a:gd name="adj" fmla="val 17241"/>
            </a:avLst>
          </a:prstGeom>
          <a:solidFill>
            <a:srgbClr val="182139"/>
          </a:solidFill>
          <a:ln w="12700">
            <a:solidFill>
              <a:srgbClr val="A77BFF">
                <a:alpha val="35000"/>
              </a:srgbClr>
            </a:solidFill>
            <a:prstDash val="solid"/>
          </a:ln>
        </p:spPr>
        <p:txBody>
          <a:bodyPr/>
          <a:lstStyle/>
          <a:p>
            <a:endParaRPr lang="en-US"/>
          </a:p>
        </p:txBody>
      </p:sp>
      <p:sp>
        <p:nvSpPr>
          <p:cNvPr id="11" name="Text 9"/>
          <p:cNvSpPr/>
          <p:nvPr/>
        </p:nvSpPr>
        <p:spPr>
          <a:xfrm>
            <a:off x="2752344" y="2340864"/>
            <a:ext cx="274320" cy="201168"/>
          </a:xfrm>
          <a:prstGeom prst="rect">
            <a:avLst/>
          </a:prstGeom>
          <a:noFill/>
          <a:ln/>
        </p:spPr>
        <p:txBody>
          <a:bodyPr wrap="square" lIns="0" tIns="0" rIns="0" bIns="0" rtlCol="0" anchor="ctr"/>
          <a:lstStyle/>
          <a:p>
            <a:pPr marL="0" indent="0" algn="ctr">
              <a:buNone/>
            </a:pPr>
            <a:r>
              <a:rPr lang="en-US" sz="1300" dirty="0">
                <a:solidFill>
                  <a:srgbClr val="A77BFF"/>
                </a:solidFill>
              </a:rPr>
              <a:t>●</a:t>
            </a:r>
            <a:endParaRPr lang="en-US" sz="1300" dirty="0"/>
          </a:p>
        </p:txBody>
      </p:sp>
      <p:sp>
        <p:nvSpPr>
          <p:cNvPr id="12" name="Text 10"/>
          <p:cNvSpPr/>
          <p:nvPr/>
        </p:nvSpPr>
        <p:spPr>
          <a:xfrm>
            <a:off x="3026664" y="2340864"/>
            <a:ext cx="859536" cy="201168"/>
          </a:xfrm>
          <a:prstGeom prst="rect">
            <a:avLst/>
          </a:prstGeom>
          <a:noFill/>
          <a:ln/>
        </p:spPr>
        <p:txBody>
          <a:bodyPr wrap="square" lIns="0" tIns="0" rIns="0" bIns="0" rtlCol="0" anchor="ctr">
            <a:normAutofit/>
          </a:bodyPr>
          <a:lstStyle/>
          <a:p>
            <a:pPr marL="0" indent="0">
              <a:buNone/>
            </a:pPr>
            <a:r>
              <a:rPr lang="en-US" sz="1050" b="1" dirty="0">
                <a:solidFill>
                  <a:srgbClr val="F7F9FC"/>
                </a:solidFill>
              </a:rPr>
              <a:t>Commit</a:t>
            </a:r>
            <a:endParaRPr lang="en-US" sz="1050" dirty="0"/>
          </a:p>
        </p:txBody>
      </p:sp>
      <p:sp>
        <p:nvSpPr>
          <p:cNvPr id="13" name="Shape 11"/>
          <p:cNvSpPr/>
          <p:nvPr/>
        </p:nvSpPr>
        <p:spPr>
          <a:xfrm>
            <a:off x="4023360" y="2532888"/>
            <a:ext cx="329184" cy="0"/>
          </a:xfrm>
          <a:prstGeom prst="line">
            <a:avLst/>
          </a:prstGeom>
          <a:noFill/>
          <a:ln w="21590">
            <a:solidFill>
              <a:srgbClr val="3DD9FF"/>
            </a:solidFill>
            <a:prstDash val="solid"/>
            <a:headEnd type="none"/>
            <a:tailEnd type="triangle"/>
          </a:ln>
        </p:spPr>
        <p:txBody>
          <a:bodyPr/>
          <a:lstStyle/>
          <a:p>
            <a:endParaRPr lang="en-US"/>
          </a:p>
        </p:txBody>
      </p:sp>
      <p:sp>
        <p:nvSpPr>
          <p:cNvPr id="14" name="Shape 12"/>
          <p:cNvSpPr/>
          <p:nvPr/>
        </p:nvSpPr>
        <p:spPr>
          <a:xfrm>
            <a:off x="4480560" y="2267712"/>
            <a:ext cx="1307592" cy="530352"/>
          </a:xfrm>
          <a:prstGeom prst="roundRect">
            <a:avLst>
              <a:gd name="adj" fmla="val 17241"/>
            </a:avLst>
          </a:prstGeom>
          <a:solidFill>
            <a:srgbClr val="182139"/>
          </a:solidFill>
          <a:ln w="12700">
            <a:solidFill>
              <a:srgbClr val="A77BFF">
                <a:alpha val="35000"/>
              </a:srgbClr>
            </a:solidFill>
            <a:prstDash val="solid"/>
          </a:ln>
        </p:spPr>
        <p:txBody>
          <a:bodyPr/>
          <a:lstStyle/>
          <a:p>
            <a:endParaRPr lang="en-US"/>
          </a:p>
        </p:txBody>
      </p:sp>
      <p:sp>
        <p:nvSpPr>
          <p:cNvPr id="15" name="Text 13"/>
          <p:cNvSpPr/>
          <p:nvPr/>
        </p:nvSpPr>
        <p:spPr>
          <a:xfrm>
            <a:off x="4553712" y="2340864"/>
            <a:ext cx="274320" cy="201168"/>
          </a:xfrm>
          <a:prstGeom prst="rect">
            <a:avLst/>
          </a:prstGeom>
          <a:noFill/>
          <a:ln/>
        </p:spPr>
        <p:txBody>
          <a:bodyPr wrap="square" lIns="0" tIns="0" rIns="0" bIns="0" rtlCol="0" anchor="ctr"/>
          <a:lstStyle/>
          <a:p>
            <a:pPr marL="0" indent="0" algn="ctr">
              <a:buNone/>
            </a:pPr>
            <a:r>
              <a:rPr lang="en-US" sz="1300" dirty="0">
                <a:solidFill>
                  <a:srgbClr val="A77BFF"/>
                </a:solidFill>
              </a:rPr>
              <a:t>🐙</a:t>
            </a:r>
            <a:endParaRPr lang="en-US" sz="1300" dirty="0"/>
          </a:p>
        </p:txBody>
      </p:sp>
      <p:sp>
        <p:nvSpPr>
          <p:cNvPr id="16" name="Text 14"/>
          <p:cNvSpPr/>
          <p:nvPr/>
        </p:nvSpPr>
        <p:spPr>
          <a:xfrm>
            <a:off x="4828032" y="2340864"/>
            <a:ext cx="859536" cy="201168"/>
          </a:xfrm>
          <a:prstGeom prst="rect">
            <a:avLst/>
          </a:prstGeom>
          <a:noFill/>
          <a:ln/>
        </p:spPr>
        <p:txBody>
          <a:bodyPr wrap="square" lIns="0" tIns="0" rIns="0" bIns="0" rtlCol="0" anchor="ctr">
            <a:normAutofit/>
          </a:bodyPr>
          <a:lstStyle/>
          <a:p>
            <a:pPr marL="0" indent="0">
              <a:buNone/>
            </a:pPr>
            <a:r>
              <a:rPr lang="en-US" sz="1050" b="1" dirty="0">
                <a:solidFill>
                  <a:srgbClr val="F7F9FC"/>
                </a:solidFill>
              </a:rPr>
              <a:t>Push GitHub</a:t>
            </a:r>
            <a:endParaRPr lang="en-US" sz="1050" dirty="0"/>
          </a:p>
        </p:txBody>
      </p:sp>
      <p:sp>
        <p:nvSpPr>
          <p:cNvPr id="17" name="Shape 15"/>
          <p:cNvSpPr/>
          <p:nvPr/>
        </p:nvSpPr>
        <p:spPr>
          <a:xfrm>
            <a:off x="5824728" y="2532888"/>
            <a:ext cx="329184" cy="0"/>
          </a:xfrm>
          <a:prstGeom prst="line">
            <a:avLst/>
          </a:prstGeom>
          <a:noFill/>
          <a:ln w="21590">
            <a:solidFill>
              <a:srgbClr val="3DD9FF"/>
            </a:solidFill>
            <a:prstDash val="solid"/>
            <a:headEnd type="none"/>
            <a:tailEnd type="triangle"/>
          </a:ln>
        </p:spPr>
        <p:txBody>
          <a:bodyPr/>
          <a:lstStyle/>
          <a:p>
            <a:endParaRPr lang="en-US"/>
          </a:p>
        </p:txBody>
      </p:sp>
      <p:sp>
        <p:nvSpPr>
          <p:cNvPr id="18" name="Shape 16"/>
          <p:cNvSpPr/>
          <p:nvPr/>
        </p:nvSpPr>
        <p:spPr>
          <a:xfrm>
            <a:off x="6281928" y="2267712"/>
            <a:ext cx="1307592" cy="530352"/>
          </a:xfrm>
          <a:prstGeom prst="roundRect">
            <a:avLst>
              <a:gd name="adj" fmla="val 17241"/>
            </a:avLst>
          </a:prstGeom>
          <a:solidFill>
            <a:srgbClr val="182139"/>
          </a:solidFill>
          <a:ln w="12700">
            <a:solidFill>
              <a:srgbClr val="F7F9FC">
                <a:alpha val="35000"/>
              </a:srgbClr>
            </a:solidFill>
            <a:prstDash val="solid"/>
          </a:ln>
        </p:spPr>
        <p:txBody>
          <a:bodyPr/>
          <a:lstStyle/>
          <a:p>
            <a:endParaRPr lang="en-US"/>
          </a:p>
        </p:txBody>
      </p:sp>
      <p:sp>
        <p:nvSpPr>
          <p:cNvPr id="19" name="Text 17"/>
          <p:cNvSpPr/>
          <p:nvPr/>
        </p:nvSpPr>
        <p:spPr>
          <a:xfrm>
            <a:off x="6355080" y="2340864"/>
            <a:ext cx="274320" cy="201168"/>
          </a:xfrm>
          <a:prstGeom prst="rect">
            <a:avLst/>
          </a:prstGeom>
          <a:noFill/>
          <a:ln/>
        </p:spPr>
        <p:txBody>
          <a:bodyPr wrap="square" lIns="0" tIns="0" rIns="0" bIns="0" rtlCol="0" anchor="ctr"/>
          <a:lstStyle/>
          <a:p>
            <a:pPr marL="0" indent="0" algn="ctr">
              <a:buNone/>
            </a:pPr>
            <a:r>
              <a:rPr lang="en-US" sz="1300" dirty="0">
                <a:solidFill>
                  <a:srgbClr val="F7F9FC"/>
                </a:solidFill>
              </a:rPr>
              <a:t>▲</a:t>
            </a:r>
            <a:endParaRPr lang="en-US" sz="1300" dirty="0"/>
          </a:p>
        </p:txBody>
      </p:sp>
      <p:sp>
        <p:nvSpPr>
          <p:cNvPr id="20" name="Text 18"/>
          <p:cNvSpPr/>
          <p:nvPr/>
        </p:nvSpPr>
        <p:spPr>
          <a:xfrm>
            <a:off x="6629400" y="2340864"/>
            <a:ext cx="859536" cy="201168"/>
          </a:xfrm>
          <a:prstGeom prst="rect">
            <a:avLst/>
          </a:prstGeom>
          <a:noFill/>
          <a:ln/>
        </p:spPr>
        <p:txBody>
          <a:bodyPr wrap="square" lIns="0" tIns="0" rIns="0" bIns="0" rtlCol="0" anchor="ctr">
            <a:normAutofit/>
          </a:bodyPr>
          <a:lstStyle/>
          <a:p>
            <a:pPr marL="0" indent="0">
              <a:buNone/>
            </a:pPr>
            <a:r>
              <a:rPr lang="en-US" sz="1050" b="1" dirty="0">
                <a:solidFill>
                  <a:srgbClr val="F7F9FC"/>
                </a:solidFill>
              </a:rPr>
              <a:t>Vercel build</a:t>
            </a:r>
            <a:endParaRPr lang="en-US" sz="1050" dirty="0"/>
          </a:p>
        </p:txBody>
      </p:sp>
      <p:sp>
        <p:nvSpPr>
          <p:cNvPr id="21" name="Shape 19"/>
          <p:cNvSpPr/>
          <p:nvPr/>
        </p:nvSpPr>
        <p:spPr>
          <a:xfrm>
            <a:off x="7626096" y="2532888"/>
            <a:ext cx="329184" cy="0"/>
          </a:xfrm>
          <a:prstGeom prst="line">
            <a:avLst/>
          </a:prstGeom>
          <a:noFill/>
          <a:ln w="21590">
            <a:solidFill>
              <a:srgbClr val="3DD9FF"/>
            </a:solidFill>
            <a:prstDash val="solid"/>
            <a:headEnd type="none"/>
            <a:tailEnd type="triangle"/>
          </a:ln>
        </p:spPr>
        <p:txBody>
          <a:bodyPr/>
          <a:lstStyle/>
          <a:p>
            <a:endParaRPr lang="en-US"/>
          </a:p>
        </p:txBody>
      </p:sp>
      <p:sp>
        <p:nvSpPr>
          <p:cNvPr id="22" name="Shape 20"/>
          <p:cNvSpPr/>
          <p:nvPr/>
        </p:nvSpPr>
        <p:spPr>
          <a:xfrm>
            <a:off x="8083296" y="2267712"/>
            <a:ext cx="1307592" cy="530352"/>
          </a:xfrm>
          <a:prstGeom prst="roundRect">
            <a:avLst>
              <a:gd name="adj" fmla="val 17241"/>
            </a:avLst>
          </a:prstGeom>
          <a:solidFill>
            <a:srgbClr val="182139"/>
          </a:solidFill>
          <a:ln w="12700">
            <a:solidFill>
              <a:srgbClr val="35D49A">
                <a:alpha val="35000"/>
              </a:srgbClr>
            </a:solidFill>
            <a:prstDash val="solid"/>
          </a:ln>
        </p:spPr>
        <p:txBody>
          <a:bodyPr/>
          <a:lstStyle/>
          <a:p>
            <a:endParaRPr lang="en-US"/>
          </a:p>
        </p:txBody>
      </p:sp>
      <p:sp>
        <p:nvSpPr>
          <p:cNvPr id="23" name="Text 21"/>
          <p:cNvSpPr/>
          <p:nvPr/>
        </p:nvSpPr>
        <p:spPr>
          <a:xfrm>
            <a:off x="8156448" y="2340864"/>
            <a:ext cx="274320" cy="201168"/>
          </a:xfrm>
          <a:prstGeom prst="rect">
            <a:avLst/>
          </a:prstGeom>
          <a:noFill/>
          <a:ln/>
        </p:spPr>
        <p:txBody>
          <a:bodyPr wrap="square" lIns="0" tIns="0" rIns="0" bIns="0" rtlCol="0" anchor="ctr"/>
          <a:lstStyle/>
          <a:p>
            <a:pPr marL="0" indent="0" algn="ctr">
              <a:buNone/>
            </a:pPr>
            <a:r>
              <a:rPr lang="en-US" sz="1300" dirty="0">
                <a:solidFill>
                  <a:srgbClr val="35D49A"/>
                </a:solidFill>
              </a:rPr>
              <a:t>✓</a:t>
            </a:r>
            <a:endParaRPr lang="en-US" sz="1300" dirty="0"/>
          </a:p>
        </p:txBody>
      </p:sp>
      <p:sp>
        <p:nvSpPr>
          <p:cNvPr id="24" name="Text 22"/>
          <p:cNvSpPr/>
          <p:nvPr/>
        </p:nvSpPr>
        <p:spPr>
          <a:xfrm>
            <a:off x="8430768" y="2340864"/>
            <a:ext cx="859536" cy="201168"/>
          </a:xfrm>
          <a:prstGeom prst="rect">
            <a:avLst/>
          </a:prstGeom>
          <a:noFill/>
          <a:ln/>
        </p:spPr>
        <p:txBody>
          <a:bodyPr wrap="square" lIns="0" tIns="0" rIns="0" bIns="0" rtlCol="0" anchor="ctr">
            <a:normAutofit/>
          </a:bodyPr>
          <a:lstStyle/>
          <a:p>
            <a:pPr marL="0" indent="0">
              <a:buNone/>
            </a:pPr>
            <a:r>
              <a:rPr lang="en-US" sz="1050" b="1" dirty="0">
                <a:solidFill>
                  <a:srgbClr val="F7F9FC"/>
                </a:solidFill>
              </a:rPr>
              <a:t>Deploy</a:t>
            </a:r>
            <a:endParaRPr lang="en-US" sz="1050" dirty="0"/>
          </a:p>
        </p:txBody>
      </p:sp>
      <p:sp>
        <p:nvSpPr>
          <p:cNvPr id="25" name="Shape 23"/>
          <p:cNvSpPr/>
          <p:nvPr/>
        </p:nvSpPr>
        <p:spPr>
          <a:xfrm>
            <a:off x="9427464" y="2532888"/>
            <a:ext cx="329184" cy="0"/>
          </a:xfrm>
          <a:prstGeom prst="line">
            <a:avLst/>
          </a:prstGeom>
          <a:noFill/>
          <a:ln w="21590">
            <a:solidFill>
              <a:srgbClr val="3DD9FF"/>
            </a:solidFill>
            <a:prstDash val="solid"/>
            <a:headEnd type="none"/>
            <a:tailEnd type="triangle"/>
          </a:ln>
        </p:spPr>
        <p:txBody>
          <a:bodyPr/>
          <a:lstStyle/>
          <a:p>
            <a:endParaRPr lang="en-US"/>
          </a:p>
        </p:txBody>
      </p:sp>
      <p:sp>
        <p:nvSpPr>
          <p:cNvPr id="26" name="Shape 24"/>
          <p:cNvSpPr/>
          <p:nvPr/>
        </p:nvSpPr>
        <p:spPr>
          <a:xfrm>
            <a:off x="9884664" y="2267712"/>
            <a:ext cx="1307592" cy="530352"/>
          </a:xfrm>
          <a:prstGeom prst="roundRect">
            <a:avLst>
              <a:gd name="adj" fmla="val 17241"/>
            </a:avLst>
          </a:prstGeom>
          <a:solidFill>
            <a:srgbClr val="182139"/>
          </a:solidFill>
          <a:ln w="12700">
            <a:solidFill>
              <a:srgbClr val="3DD9FF">
                <a:alpha val="35000"/>
              </a:srgbClr>
            </a:solidFill>
            <a:prstDash val="solid"/>
          </a:ln>
        </p:spPr>
        <p:txBody>
          <a:bodyPr/>
          <a:lstStyle/>
          <a:p>
            <a:endParaRPr lang="en-US"/>
          </a:p>
        </p:txBody>
      </p:sp>
      <p:sp>
        <p:nvSpPr>
          <p:cNvPr id="27" name="Text 25"/>
          <p:cNvSpPr/>
          <p:nvPr/>
        </p:nvSpPr>
        <p:spPr>
          <a:xfrm>
            <a:off x="9957816" y="2340864"/>
            <a:ext cx="274320" cy="201168"/>
          </a:xfrm>
          <a:prstGeom prst="rect">
            <a:avLst/>
          </a:prstGeom>
          <a:noFill/>
          <a:ln/>
        </p:spPr>
        <p:txBody>
          <a:bodyPr wrap="square" lIns="0" tIns="0" rIns="0" bIns="0" rtlCol="0" anchor="ctr"/>
          <a:lstStyle/>
          <a:p>
            <a:pPr marL="0" indent="0" algn="ctr">
              <a:buNone/>
            </a:pPr>
            <a:r>
              <a:rPr lang="en-US" sz="1300" dirty="0">
                <a:solidFill>
                  <a:srgbClr val="3DD9FF"/>
                </a:solidFill>
              </a:rPr>
              <a:t>🌐</a:t>
            </a:r>
            <a:endParaRPr lang="en-US" sz="1300" dirty="0"/>
          </a:p>
        </p:txBody>
      </p:sp>
      <p:sp>
        <p:nvSpPr>
          <p:cNvPr id="28" name="Text 26"/>
          <p:cNvSpPr/>
          <p:nvPr/>
        </p:nvSpPr>
        <p:spPr>
          <a:xfrm>
            <a:off x="10232136" y="2340864"/>
            <a:ext cx="859536" cy="201168"/>
          </a:xfrm>
          <a:prstGeom prst="rect">
            <a:avLst/>
          </a:prstGeom>
          <a:noFill/>
          <a:ln/>
        </p:spPr>
        <p:txBody>
          <a:bodyPr wrap="square" lIns="0" tIns="0" rIns="0" bIns="0" rtlCol="0" anchor="ctr">
            <a:normAutofit/>
          </a:bodyPr>
          <a:lstStyle/>
          <a:p>
            <a:pPr marL="0" indent="0">
              <a:buNone/>
            </a:pPr>
            <a:r>
              <a:rPr lang="en-US" sz="1050" b="1" dirty="0">
                <a:solidFill>
                  <a:srgbClr val="F7F9FC"/>
                </a:solidFill>
              </a:rPr>
              <a:t>Website mới</a:t>
            </a:r>
            <a:endParaRPr lang="en-US" sz="1050" dirty="0"/>
          </a:p>
        </p:txBody>
      </p:sp>
      <p:sp>
        <p:nvSpPr>
          <p:cNvPr id="29" name="Shape 27"/>
          <p:cNvSpPr/>
          <p:nvPr/>
        </p:nvSpPr>
        <p:spPr>
          <a:xfrm>
            <a:off x="640080" y="3584448"/>
            <a:ext cx="5074920" cy="2386584"/>
          </a:xfrm>
          <a:prstGeom prst="roundRect">
            <a:avLst>
              <a:gd name="adj" fmla="val 5106"/>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a:p>
        </p:txBody>
      </p:sp>
      <p:sp>
        <p:nvSpPr>
          <p:cNvPr id="30" name="Text 28"/>
          <p:cNvSpPr/>
          <p:nvPr/>
        </p:nvSpPr>
        <p:spPr>
          <a:xfrm>
            <a:off x="932688" y="3867912"/>
            <a:ext cx="1005840" cy="256032"/>
          </a:xfrm>
          <a:prstGeom prst="rect">
            <a:avLst/>
          </a:prstGeom>
          <a:noFill/>
          <a:ln/>
        </p:spPr>
        <p:txBody>
          <a:bodyPr wrap="square" lIns="0" tIns="0" rIns="0" bIns="0" rtlCol="0" anchor="ctr"/>
          <a:lstStyle/>
          <a:p>
            <a:pPr marL="0" indent="0">
              <a:buNone/>
            </a:pPr>
            <a:r>
              <a:rPr lang="en-US" sz="1700" b="1" dirty="0">
                <a:solidFill>
                  <a:srgbClr val="F7F9FC"/>
                </a:solidFill>
              </a:rPr>
              <a:t>Kết quả</a:t>
            </a:r>
            <a:endParaRPr lang="en-US" sz="1700" dirty="0"/>
          </a:p>
        </p:txBody>
      </p:sp>
      <p:sp>
        <p:nvSpPr>
          <p:cNvPr id="31" name="Text 29"/>
          <p:cNvSpPr/>
          <p:nvPr/>
        </p:nvSpPr>
        <p:spPr>
          <a:xfrm>
            <a:off x="932688" y="4325112"/>
            <a:ext cx="4160520" cy="365760"/>
          </a:xfrm>
          <a:prstGeom prst="rect">
            <a:avLst/>
          </a:prstGeom>
          <a:noFill/>
          <a:ln/>
        </p:spPr>
        <p:txBody>
          <a:bodyPr wrap="square" lIns="0" tIns="0" rIns="0" bIns="0" rtlCol="0" anchor="ctr"/>
          <a:lstStyle/>
          <a:p>
            <a:pPr marL="0" indent="0">
              <a:buNone/>
            </a:pPr>
            <a:r>
              <a:rPr lang="en-US" sz="2000" b="1" dirty="0">
                <a:solidFill>
                  <a:srgbClr val="35D49A"/>
                </a:solidFill>
              </a:rPr>
              <a:t>Deployment Successful ✓</a:t>
            </a:r>
            <a:endParaRPr lang="en-US" sz="2000" dirty="0"/>
          </a:p>
        </p:txBody>
      </p:sp>
      <p:sp>
        <p:nvSpPr>
          <p:cNvPr id="32" name="Text 30"/>
          <p:cNvSpPr/>
          <p:nvPr/>
        </p:nvSpPr>
        <p:spPr>
          <a:xfrm>
            <a:off x="932688" y="4892040"/>
            <a:ext cx="4160520" cy="310896"/>
          </a:xfrm>
          <a:prstGeom prst="rect">
            <a:avLst/>
          </a:prstGeom>
          <a:noFill/>
          <a:ln/>
        </p:spPr>
        <p:txBody>
          <a:bodyPr wrap="square" lIns="0" tIns="0" rIns="0" bIns="0" rtlCol="0" anchor="ctr">
            <a:normAutofit/>
          </a:bodyPr>
          <a:lstStyle/>
          <a:p>
            <a:pPr marL="0" indent="0">
              <a:buNone/>
            </a:pPr>
            <a:r>
              <a:rPr lang="en-US" sz="1250" dirty="0">
                <a:solidFill>
                  <a:srgbClr val="3DD9FF"/>
                </a:solidFill>
              </a:rPr>
              <a:t>Website: https://my-cloud-web.vercel.app</a:t>
            </a:r>
            <a:endParaRPr lang="en-US" sz="1250" dirty="0"/>
          </a:p>
        </p:txBody>
      </p:sp>
      <p:sp>
        <p:nvSpPr>
          <p:cNvPr id="36"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12</a:t>
            </a:fld>
            <a:endParaRPr lang="en-US"/>
          </a:p>
        </p:txBody>
      </p:sp>
      <p:pic>
        <p:nvPicPr>
          <p:cNvPr id="40" name="Hình ảnh 39">
            <a:extLst>
              <a:ext uri="{FF2B5EF4-FFF2-40B4-BE49-F238E27FC236}">
                <a16:creationId xmlns:a16="http://schemas.microsoft.com/office/drawing/2014/main" id="{7DFA8A35-5427-A0DD-9BDE-02C29C2AF75C}"/>
              </a:ext>
            </a:extLst>
          </p:cNvPr>
          <p:cNvPicPr>
            <a:picLocks noChangeAspect="1"/>
          </p:cNvPicPr>
          <p:nvPr/>
        </p:nvPicPr>
        <p:blipFill>
          <a:blip r:embed="rId3"/>
          <a:stretch>
            <a:fillRect/>
          </a:stretch>
        </p:blipFill>
        <p:spPr>
          <a:xfrm>
            <a:off x="6193283" y="3584447"/>
            <a:ext cx="5358637" cy="23865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09 • CLOUD DATABASE</a:t>
            </a:r>
            <a:endParaRPr lang="en-US" sz="1000" dirty="0"/>
          </a:p>
        </p:txBody>
      </p:sp>
      <p:sp>
        <p:nvSpPr>
          <p:cNvPr id="3" name="Text 1"/>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Firebase và Firestore</a:t>
            </a:r>
            <a:endParaRPr lang="en-US" sz="2700" dirty="0"/>
          </a:p>
        </p:txBody>
      </p:sp>
      <p:sp>
        <p:nvSpPr>
          <p:cNvPr id="4" name="Text 2"/>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Website online rồi, nhưng dữ liệu của người dùng sẽ được lưu ở đâu?</a:t>
            </a:r>
            <a:endParaRPr lang="en-US" sz="1250" dirty="0"/>
          </a:p>
        </p:txBody>
      </p:sp>
      <p:sp>
        <p:nvSpPr>
          <p:cNvPr id="5" name="Shape 3"/>
          <p:cNvSpPr/>
          <p:nvPr/>
        </p:nvSpPr>
        <p:spPr>
          <a:xfrm>
            <a:off x="594360" y="1901952"/>
            <a:ext cx="5257800" cy="4187952"/>
          </a:xfrm>
          <a:prstGeom prst="roundRect">
            <a:avLst>
              <a:gd name="adj" fmla="val 2620"/>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a:p>
        </p:txBody>
      </p:sp>
      <p:sp>
        <p:nvSpPr>
          <p:cNvPr id="6" name="Text 4"/>
          <p:cNvSpPr/>
          <p:nvPr/>
        </p:nvSpPr>
        <p:spPr>
          <a:xfrm>
            <a:off x="896112" y="2194560"/>
            <a:ext cx="1463040" cy="310896"/>
          </a:xfrm>
          <a:prstGeom prst="rect">
            <a:avLst/>
          </a:prstGeom>
          <a:noFill/>
          <a:ln/>
        </p:spPr>
        <p:txBody>
          <a:bodyPr wrap="square" lIns="0" tIns="0" rIns="0" bIns="0" rtlCol="0" anchor="ctr"/>
          <a:lstStyle/>
          <a:p>
            <a:pPr marL="0" indent="0">
              <a:buNone/>
            </a:pPr>
            <a:r>
              <a:rPr lang="en-US" sz="2000" b="1" dirty="0">
                <a:solidFill>
                  <a:srgbClr val="FF9E42"/>
                </a:solidFill>
              </a:rPr>
              <a:t>Firebase</a:t>
            </a:r>
            <a:endParaRPr lang="en-US" sz="2000" dirty="0"/>
          </a:p>
        </p:txBody>
      </p:sp>
      <p:sp>
        <p:nvSpPr>
          <p:cNvPr id="7" name="Text 5"/>
          <p:cNvSpPr/>
          <p:nvPr/>
        </p:nvSpPr>
        <p:spPr>
          <a:xfrm>
            <a:off x="896112" y="2670048"/>
            <a:ext cx="4389120" cy="658368"/>
          </a:xfrm>
          <a:prstGeom prst="rect">
            <a:avLst/>
          </a:prstGeom>
          <a:noFill/>
          <a:ln/>
        </p:spPr>
        <p:txBody>
          <a:bodyPr wrap="square" lIns="0" tIns="0" rIns="0" bIns="0" rtlCol="0" anchor="ctr">
            <a:normAutofit/>
          </a:bodyPr>
          <a:lstStyle/>
          <a:p>
            <a:pPr marL="0" indent="0">
              <a:buNone/>
            </a:pPr>
            <a:r>
              <a:rPr lang="en-US" sz="1500" dirty="0">
                <a:solidFill>
                  <a:srgbClr val="DDE4F2"/>
                </a:solidFill>
              </a:rPr>
              <a:t>Nền tảng cung cấp các dịch vụ backend và Cloud cho ứng dụng.</a:t>
            </a:r>
            <a:endParaRPr lang="en-US" sz="1500" dirty="0"/>
          </a:p>
        </p:txBody>
      </p:sp>
      <p:sp>
        <p:nvSpPr>
          <p:cNvPr id="8" name="Shape 6"/>
          <p:cNvSpPr/>
          <p:nvPr/>
        </p:nvSpPr>
        <p:spPr>
          <a:xfrm>
            <a:off x="896112" y="3657600"/>
            <a:ext cx="86868" cy="86868"/>
          </a:xfrm>
          <a:prstGeom prst="ellipse">
            <a:avLst/>
          </a:prstGeom>
          <a:solidFill>
            <a:srgbClr val="FF9E42"/>
          </a:solidFill>
          <a:ln w="12700">
            <a:solidFill>
              <a:srgbClr val="FF9E42"/>
            </a:solidFill>
            <a:prstDash val="solid"/>
          </a:ln>
        </p:spPr>
        <p:txBody>
          <a:bodyPr/>
          <a:lstStyle/>
          <a:p>
            <a:endParaRPr lang="en-US"/>
          </a:p>
        </p:txBody>
      </p:sp>
      <p:sp>
        <p:nvSpPr>
          <p:cNvPr id="9" name="Text 7"/>
          <p:cNvSpPr/>
          <p:nvPr/>
        </p:nvSpPr>
        <p:spPr>
          <a:xfrm>
            <a:off x="1060704" y="3547872"/>
            <a:ext cx="438912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Firestore: cơ sở dữ liệu Cloud</a:t>
            </a:r>
            <a:endParaRPr lang="en-US" sz="1350" dirty="0"/>
          </a:p>
        </p:txBody>
      </p:sp>
      <p:sp>
        <p:nvSpPr>
          <p:cNvPr id="10" name="Shape 8"/>
          <p:cNvSpPr/>
          <p:nvPr/>
        </p:nvSpPr>
        <p:spPr>
          <a:xfrm>
            <a:off x="896112" y="4114800"/>
            <a:ext cx="86868" cy="86868"/>
          </a:xfrm>
          <a:prstGeom prst="ellipse">
            <a:avLst/>
          </a:prstGeom>
          <a:solidFill>
            <a:srgbClr val="FF9E42"/>
          </a:solidFill>
          <a:ln w="12700">
            <a:solidFill>
              <a:srgbClr val="FF9E42"/>
            </a:solidFill>
            <a:prstDash val="solid"/>
          </a:ln>
        </p:spPr>
        <p:txBody>
          <a:bodyPr/>
          <a:lstStyle/>
          <a:p>
            <a:endParaRPr lang="en-US"/>
          </a:p>
        </p:txBody>
      </p:sp>
      <p:sp>
        <p:nvSpPr>
          <p:cNvPr id="11" name="Text 9"/>
          <p:cNvSpPr/>
          <p:nvPr/>
        </p:nvSpPr>
        <p:spPr>
          <a:xfrm>
            <a:off x="1060704" y="4005072"/>
            <a:ext cx="438912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Authentication: xác thực người dùng</a:t>
            </a:r>
            <a:endParaRPr lang="en-US" sz="1350" dirty="0"/>
          </a:p>
        </p:txBody>
      </p:sp>
      <p:sp>
        <p:nvSpPr>
          <p:cNvPr id="12" name="Shape 10"/>
          <p:cNvSpPr/>
          <p:nvPr/>
        </p:nvSpPr>
        <p:spPr>
          <a:xfrm>
            <a:off x="896112" y="4572000"/>
            <a:ext cx="86868" cy="86868"/>
          </a:xfrm>
          <a:prstGeom prst="ellipse">
            <a:avLst/>
          </a:prstGeom>
          <a:solidFill>
            <a:srgbClr val="FF9E42"/>
          </a:solidFill>
          <a:ln w="12700">
            <a:solidFill>
              <a:srgbClr val="FF9E42"/>
            </a:solidFill>
            <a:prstDash val="solid"/>
          </a:ln>
        </p:spPr>
        <p:txBody>
          <a:bodyPr/>
          <a:lstStyle/>
          <a:p>
            <a:endParaRPr lang="en-US"/>
          </a:p>
        </p:txBody>
      </p:sp>
      <p:sp>
        <p:nvSpPr>
          <p:cNvPr id="13" name="Text 11"/>
          <p:cNvSpPr/>
          <p:nvPr/>
        </p:nvSpPr>
        <p:spPr>
          <a:xfrm>
            <a:off x="1060704" y="4462272"/>
            <a:ext cx="438912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Storage: lưu trữ file</a:t>
            </a:r>
            <a:endParaRPr lang="en-US" sz="1350" dirty="0"/>
          </a:p>
        </p:txBody>
      </p:sp>
      <p:sp>
        <p:nvSpPr>
          <p:cNvPr id="14" name="Shape 12"/>
          <p:cNvSpPr/>
          <p:nvPr/>
        </p:nvSpPr>
        <p:spPr>
          <a:xfrm>
            <a:off x="896112" y="5029200"/>
            <a:ext cx="86868" cy="86868"/>
          </a:xfrm>
          <a:prstGeom prst="ellipse">
            <a:avLst/>
          </a:prstGeom>
          <a:solidFill>
            <a:srgbClr val="FF9E42"/>
          </a:solidFill>
          <a:ln w="12700">
            <a:solidFill>
              <a:srgbClr val="FF9E42"/>
            </a:solidFill>
            <a:prstDash val="solid"/>
          </a:ln>
        </p:spPr>
        <p:txBody>
          <a:bodyPr/>
          <a:lstStyle/>
          <a:p>
            <a:endParaRPr lang="en-US"/>
          </a:p>
        </p:txBody>
      </p:sp>
      <p:sp>
        <p:nvSpPr>
          <p:cNvPr id="15" name="Text 13"/>
          <p:cNvSpPr/>
          <p:nvPr/>
        </p:nvSpPr>
        <p:spPr>
          <a:xfrm>
            <a:off x="1060704" y="4919472"/>
            <a:ext cx="4389120" cy="310896"/>
          </a:xfrm>
          <a:prstGeom prst="rect">
            <a:avLst/>
          </a:prstGeom>
          <a:noFill/>
          <a:ln/>
        </p:spPr>
        <p:txBody>
          <a:bodyPr wrap="square" lIns="0" tIns="0" rIns="0" bIns="0" rtlCol="0" anchor="ctr">
            <a:normAutofit/>
          </a:bodyPr>
          <a:lstStyle/>
          <a:p>
            <a:pPr marL="0" indent="0">
              <a:buNone/>
            </a:pPr>
            <a:r>
              <a:rPr lang="en-US" sz="1350" dirty="0">
                <a:solidFill>
                  <a:srgbClr val="DDE4F2"/>
                </a:solidFill>
              </a:rPr>
              <a:t>SDK: kết nối từ ứng dụng</a:t>
            </a:r>
            <a:endParaRPr lang="en-US" sz="1350" dirty="0"/>
          </a:p>
        </p:txBody>
      </p:sp>
      <p:sp>
        <p:nvSpPr>
          <p:cNvPr id="19" name="Shape 17"/>
          <p:cNvSpPr/>
          <p:nvPr/>
        </p:nvSpPr>
        <p:spPr>
          <a:xfrm>
            <a:off x="6263640" y="4956048"/>
            <a:ext cx="5285232" cy="1133856"/>
          </a:xfrm>
          <a:prstGeom prst="roundRect">
            <a:avLst>
              <a:gd name="adj" fmla="val 9677"/>
            </a:avLst>
          </a:prstGeom>
          <a:solidFill>
            <a:srgbClr val="111A2F"/>
          </a:solidFill>
          <a:ln w="12700">
            <a:solidFill>
              <a:srgbClr val="FF9E42"/>
            </a:solidFill>
            <a:prstDash val="solid"/>
          </a:ln>
        </p:spPr>
        <p:txBody>
          <a:bodyPr/>
          <a:lstStyle/>
          <a:p>
            <a:endParaRPr lang="en-US"/>
          </a:p>
        </p:txBody>
      </p:sp>
      <p:sp>
        <p:nvSpPr>
          <p:cNvPr id="20" name="Text 18"/>
          <p:cNvSpPr/>
          <p:nvPr/>
        </p:nvSpPr>
        <p:spPr>
          <a:xfrm>
            <a:off x="6565392" y="5239512"/>
            <a:ext cx="1005840" cy="228600"/>
          </a:xfrm>
          <a:prstGeom prst="rect">
            <a:avLst/>
          </a:prstGeom>
          <a:noFill/>
          <a:ln/>
        </p:spPr>
        <p:txBody>
          <a:bodyPr wrap="square" lIns="0" tIns="0" rIns="0" bIns="0" rtlCol="0" anchor="ctr"/>
          <a:lstStyle/>
          <a:p>
            <a:pPr marL="0" indent="0">
              <a:buNone/>
            </a:pPr>
            <a:r>
              <a:rPr lang="en-US" sz="1500" b="1" dirty="0">
                <a:solidFill>
                  <a:srgbClr val="FF9E42"/>
                </a:solidFill>
              </a:rPr>
              <a:t>Firestore</a:t>
            </a:r>
            <a:endParaRPr lang="en-US" sz="1500" dirty="0"/>
          </a:p>
        </p:txBody>
      </p:sp>
      <p:sp>
        <p:nvSpPr>
          <p:cNvPr id="21" name="Text 19"/>
          <p:cNvSpPr/>
          <p:nvPr/>
        </p:nvSpPr>
        <p:spPr>
          <a:xfrm>
            <a:off x="7571232" y="5221224"/>
            <a:ext cx="3429000" cy="256032"/>
          </a:xfrm>
          <a:prstGeom prst="rect">
            <a:avLst/>
          </a:prstGeom>
          <a:noFill/>
          <a:ln/>
        </p:spPr>
        <p:txBody>
          <a:bodyPr wrap="square" lIns="0" tIns="0" rIns="0" bIns="0" rtlCol="0" anchor="ctr">
            <a:normAutofit/>
          </a:bodyPr>
          <a:lstStyle/>
          <a:p>
            <a:pPr marL="0" indent="0">
              <a:buNone/>
            </a:pPr>
            <a:r>
              <a:rPr lang="en-US" sz="1300" dirty="0">
                <a:solidFill>
                  <a:srgbClr val="F7F9FC"/>
                </a:solidFill>
              </a:rPr>
              <a:t>Collection → Document → Fields</a:t>
            </a:r>
            <a:endParaRPr lang="en-US" sz="1300" dirty="0"/>
          </a:p>
        </p:txBody>
      </p:sp>
      <p:sp>
        <p:nvSpPr>
          <p:cNvPr id="25"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13</a:t>
            </a:fld>
            <a:endParaRPr lang="en-US"/>
          </a:p>
        </p:txBody>
      </p:sp>
      <p:pic>
        <p:nvPicPr>
          <p:cNvPr id="23" name="Hình ảnh 22">
            <a:extLst>
              <a:ext uri="{FF2B5EF4-FFF2-40B4-BE49-F238E27FC236}">
                <a16:creationId xmlns:a16="http://schemas.microsoft.com/office/drawing/2014/main" id="{E8BCF9EE-DB7C-3027-2F84-0D4F605D476D}"/>
              </a:ext>
            </a:extLst>
          </p:cNvPr>
          <p:cNvPicPr>
            <a:picLocks noChangeAspect="1"/>
          </p:cNvPicPr>
          <p:nvPr/>
        </p:nvPicPr>
        <p:blipFill>
          <a:blip r:embed="rId3"/>
          <a:stretch>
            <a:fillRect/>
          </a:stretch>
        </p:blipFill>
        <p:spPr>
          <a:xfrm>
            <a:off x="6263641" y="1913123"/>
            <a:ext cx="5334000" cy="27023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14" name="Shape 12"/>
          <p:cNvSpPr/>
          <p:nvPr/>
        </p:nvSpPr>
        <p:spPr>
          <a:xfrm>
            <a:off x="530352" y="1965960"/>
            <a:ext cx="11147298" cy="4023360"/>
          </a:xfrm>
          <a:prstGeom prst="roundRect">
            <a:avLst>
              <a:gd name="adj" fmla="val 2727"/>
            </a:avLst>
          </a:prstGeom>
          <a:solidFill>
            <a:srgbClr val="10182B"/>
          </a:solidFill>
          <a:ln w="12700">
            <a:solidFill>
              <a:srgbClr val="2B3856"/>
            </a:solidFill>
            <a:prstDash val="solid"/>
          </a:ln>
        </p:spPr>
        <p:txBody>
          <a:bodyPr/>
          <a:lstStyle/>
          <a:p>
            <a:endParaRPr lang="en-US" dirty="0"/>
          </a:p>
        </p:txBody>
      </p:sp>
      <p:sp>
        <p:nvSpPr>
          <p:cNvPr id="15" name="Shape 13"/>
          <p:cNvSpPr/>
          <p:nvPr/>
        </p:nvSpPr>
        <p:spPr>
          <a:xfrm>
            <a:off x="1060704" y="2308860"/>
            <a:ext cx="1517904" cy="777240"/>
          </a:xfrm>
          <a:prstGeom prst="roundRect">
            <a:avLst>
              <a:gd name="adj" fmla="val 14118"/>
            </a:avLst>
          </a:prstGeom>
          <a:solidFill>
            <a:srgbClr val="19243B"/>
          </a:solidFill>
          <a:ln w="16510">
            <a:solidFill>
              <a:srgbClr val="3DD9FF"/>
            </a:solidFill>
            <a:prstDash val="solid"/>
          </a:ln>
        </p:spPr>
        <p:txBody>
          <a:bodyPr/>
          <a:lstStyle/>
          <a:p>
            <a:endParaRPr lang="en-US"/>
          </a:p>
        </p:txBody>
      </p:sp>
      <p:sp>
        <p:nvSpPr>
          <p:cNvPr id="16" name="Text 14"/>
          <p:cNvSpPr/>
          <p:nvPr/>
        </p:nvSpPr>
        <p:spPr>
          <a:xfrm>
            <a:off x="1133856" y="2564892"/>
            <a:ext cx="1371600" cy="237744"/>
          </a:xfrm>
          <a:prstGeom prst="rect">
            <a:avLst/>
          </a:prstGeom>
          <a:noFill/>
          <a:ln/>
        </p:spPr>
        <p:txBody>
          <a:bodyPr wrap="square" lIns="0" tIns="0" rIns="0" bIns="0" rtlCol="0" anchor="ctr">
            <a:normAutofit/>
          </a:bodyPr>
          <a:lstStyle/>
          <a:p>
            <a:pPr marL="0" indent="0" algn="ctr">
              <a:buNone/>
            </a:pPr>
            <a:r>
              <a:rPr lang="en-US" sz="1150" b="1" dirty="0">
                <a:solidFill>
                  <a:srgbClr val="F7F9FC"/>
                </a:solidFill>
              </a:rPr>
              <a:t>🌐 Website</a:t>
            </a:r>
            <a:endParaRPr lang="en-US" sz="1150" dirty="0"/>
          </a:p>
        </p:txBody>
      </p:sp>
      <p:sp>
        <p:nvSpPr>
          <p:cNvPr id="17" name="Shape 15"/>
          <p:cNvSpPr/>
          <p:nvPr/>
        </p:nvSpPr>
        <p:spPr>
          <a:xfrm>
            <a:off x="5115687" y="2308860"/>
            <a:ext cx="1719072" cy="777240"/>
          </a:xfrm>
          <a:prstGeom prst="roundRect">
            <a:avLst>
              <a:gd name="adj" fmla="val 14118"/>
            </a:avLst>
          </a:prstGeom>
          <a:solidFill>
            <a:srgbClr val="19243B"/>
          </a:solidFill>
          <a:ln w="16510">
            <a:solidFill>
              <a:srgbClr val="FF9E42"/>
            </a:solidFill>
            <a:prstDash val="solid"/>
          </a:ln>
        </p:spPr>
        <p:txBody>
          <a:bodyPr/>
          <a:lstStyle/>
          <a:p>
            <a:endParaRPr lang="en-US"/>
          </a:p>
        </p:txBody>
      </p:sp>
      <p:sp>
        <p:nvSpPr>
          <p:cNvPr id="18" name="Text 16"/>
          <p:cNvSpPr/>
          <p:nvPr/>
        </p:nvSpPr>
        <p:spPr>
          <a:xfrm>
            <a:off x="4983480" y="2564892"/>
            <a:ext cx="1572768" cy="237744"/>
          </a:xfrm>
          <a:prstGeom prst="rect">
            <a:avLst/>
          </a:prstGeom>
          <a:noFill/>
          <a:ln/>
        </p:spPr>
        <p:txBody>
          <a:bodyPr wrap="square" lIns="0" tIns="0" rIns="0" bIns="0" rtlCol="0" anchor="ctr">
            <a:normAutofit/>
          </a:bodyPr>
          <a:lstStyle/>
          <a:p>
            <a:pPr marL="0" indent="0" algn="ctr">
              <a:buNone/>
            </a:pPr>
            <a:r>
              <a:rPr lang="en-US" sz="1150" b="1" dirty="0">
                <a:solidFill>
                  <a:srgbClr val="F7F9FC"/>
                </a:solidFill>
              </a:rPr>
              <a:t>Firebase SDK</a:t>
            </a:r>
            <a:endParaRPr lang="en-US" sz="1150" dirty="0"/>
          </a:p>
        </p:txBody>
      </p:sp>
      <p:sp>
        <p:nvSpPr>
          <p:cNvPr id="19" name="Shape 17"/>
          <p:cNvSpPr/>
          <p:nvPr/>
        </p:nvSpPr>
        <p:spPr>
          <a:xfrm>
            <a:off x="9790176" y="2308860"/>
            <a:ext cx="960120" cy="777240"/>
          </a:xfrm>
          <a:prstGeom prst="roundRect">
            <a:avLst>
              <a:gd name="adj" fmla="val 14118"/>
            </a:avLst>
          </a:prstGeom>
          <a:solidFill>
            <a:srgbClr val="19243B"/>
          </a:solidFill>
          <a:ln w="16510">
            <a:solidFill>
              <a:srgbClr val="FF9E42"/>
            </a:solidFill>
            <a:prstDash val="solid"/>
          </a:ln>
        </p:spPr>
        <p:txBody>
          <a:bodyPr/>
          <a:lstStyle/>
          <a:p>
            <a:endParaRPr lang="en-US"/>
          </a:p>
        </p:txBody>
      </p:sp>
      <p:sp>
        <p:nvSpPr>
          <p:cNvPr id="20" name="Text 18"/>
          <p:cNvSpPr/>
          <p:nvPr/>
        </p:nvSpPr>
        <p:spPr>
          <a:xfrm>
            <a:off x="9863328" y="2564892"/>
            <a:ext cx="813816" cy="237744"/>
          </a:xfrm>
          <a:prstGeom prst="rect">
            <a:avLst/>
          </a:prstGeom>
          <a:noFill/>
          <a:ln/>
        </p:spPr>
        <p:txBody>
          <a:bodyPr wrap="square" lIns="0" tIns="0" rIns="0" bIns="0" rtlCol="0" anchor="ctr">
            <a:normAutofit/>
          </a:bodyPr>
          <a:lstStyle/>
          <a:p>
            <a:pPr marL="0" indent="0" algn="ctr">
              <a:buNone/>
            </a:pPr>
            <a:r>
              <a:rPr lang="en-US" sz="1150" b="1" dirty="0">
                <a:solidFill>
                  <a:srgbClr val="F7F9FC"/>
                </a:solidFill>
              </a:rPr>
              <a:t>🗄️</a:t>
            </a:r>
            <a:endParaRPr lang="en-US" sz="1150" dirty="0"/>
          </a:p>
        </p:txBody>
      </p:sp>
      <p:sp>
        <p:nvSpPr>
          <p:cNvPr id="21" name="Shape 19"/>
          <p:cNvSpPr/>
          <p:nvPr/>
        </p:nvSpPr>
        <p:spPr>
          <a:xfrm flipV="1">
            <a:off x="2578608" y="2686050"/>
            <a:ext cx="2537078" cy="11430"/>
          </a:xfrm>
          <a:prstGeom prst="line">
            <a:avLst/>
          </a:prstGeom>
          <a:noFill/>
          <a:ln w="27940">
            <a:solidFill>
              <a:srgbClr val="3DD9FF"/>
            </a:solidFill>
            <a:prstDash val="solid"/>
            <a:headEnd type="none"/>
            <a:tailEnd type="triangle"/>
          </a:ln>
        </p:spPr>
        <p:txBody>
          <a:bodyPr/>
          <a:lstStyle/>
          <a:p>
            <a:endParaRPr lang="en-US"/>
          </a:p>
        </p:txBody>
      </p:sp>
      <p:sp>
        <p:nvSpPr>
          <p:cNvPr id="22" name="Shape 20"/>
          <p:cNvSpPr/>
          <p:nvPr/>
        </p:nvSpPr>
        <p:spPr>
          <a:xfrm flipV="1">
            <a:off x="6834758" y="2686050"/>
            <a:ext cx="2955417" cy="11430"/>
          </a:xfrm>
          <a:prstGeom prst="line">
            <a:avLst/>
          </a:prstGeom>
          <a:noFill/>
          <a:ln w="27940">
            <a:solidFill>
              <a:srgbClr val="FF9E42"/>
            </a:solidFill>
            <a:prstDash val="solid"/>
            <a:headEnd type="none"/>
            <a:tailEnd type="triangle"/>
          </a:ln>
        </p:spPr>
        <p:txBody>
          <a:bodyPr/>
          <a:lstStyle/>
          <a:p>
            <a:endParaRPr lang="en-US"/>
          </a:p>
        </p:txBody>
      </p:sp>
      <p:sp>
        <p:nvSpPr>
          <p:cNvPr id="23" name="Text 21"/>
          <p:cNvSpPr/>
          <p:nvPr/>
        </p:nvSpPr>
        <p:spPr>
          <a:xfrm>
            <a:off x="1837944" y="3543353"/>
            <a:ext cx="1234440" cy="237744"/>
          </a:xfrm>
          <a:prstGeom prst="rect">
            <a:avLst/>
          </a:prstGeom>
          <a:noFill/>
          <a:ln/>
        </p:spPr>
        <p:txBody>
          <a:bodyPr wrap="square" lIns="0" tIns="0" rIns="0" bIns="0" rtlCol="0" anchor="ctr"/>
          <a:lstStyle/>
          <a:p>
            <a:pPr marL="0" indent="0">
              <a:buNone/>
            </a:pPr>
            <a:r>
              <a:rPr lang="en-US" sz="1400" b="1" dirty="0">
                <a:solidFill>
                  <a:srgbClr val="F7F9FC"/>
                </a:solidFill>
              </a:rPr>
              <a:t>CRUD cơ bản</a:t>
            </a:r>
            <a:endParaRPr lang="en-US" sz="1400" dirty="0"/>
          </a:p>
        </p:txBody>
      </p:sp>
      <p:sp>
        <p:nvSpPr>
          <p:cNvPr id="24" name="Shape 22"/>
          <p:cNvSpPr/>
          <p:nvPr/>
        </p:nvSpPr>
        <p:spPr>
          <a:xfrm>
            <a:off x="1856232" y="4082849"/>
            <a:ext cx="86868" cy="86868"/>
          </a:xfrm>
          <a:prstGeom prst="ellipse">
            <a:avLst/>
          </a:prstGeom>
          <a:solidFill>
            <a:srgbClr val="35D49A"/>
          </a:solidFill>
          <a:ln w="12700">
            <a:solidFill>
              <a:srgbClr val="35D49A"/>
            </a:solidFill>
            <a:prstDash val="solid"/>
          </a:ln>
        </p:spPr>
        <p:txBody>
          <a:bodyPr/>
          <a:lstStyle/>
          <a:p>
            <a:endParaRPr lang="en-US"/>
          </a:p>
        </p:txBody>
      </p:sp>
      <p:sp>
        <p:nvSpPr>
          <p:cNvPr id="25" name="Text 23"/>
          <p:cNvSpPr/>
          <p:nvPr/>
        </p:nvSpPr>
        <p:spPr>
          <a:xfrm>
            <a:off x="2020824" y="3973121"/>
            <a:ext cx="3749040" cy="310896"/>
          </a:xfrm>
          <a:prstGeom prst="rect">
            <a:avLst/>
          </a:prstGeom>
          <a:noFill/>
          <a:ln/>
        </p:spPr>
        <p:txBody>
          <a:bodyPr wrap="square" lIns="0" tIns="0" rIns="0" bIns="0" rtlCol="0" anchor="ctr">
            <a:normAutofit/>
          </a:bodyPr>
          <a:lstStyle/>
          <a:p>
            <a:pPr marL="0" indent="0">
              <a:buNone/>
            </a:pPr>
            <a:r>
              <a:rPr lang="en-US" sz="1280" dirty="0">
                <a:solidFill>
                  <a:srgbClr val="DDE4F2"/>
                </a:solidFill>
              </a:rPr>
              <a:t>Create: thêm dữ liệu</a:t>
            </a:r>
            <a:endParaRPr lang="en-US" sz="1280" dirty="0"/>
          </a:p>
        </p:txBody>
      </p:sp>
      <p:sp>
        <p:nvSpPr>
          <p:cNvPr id="26" name="Shape 24"/>
          <p:cNvSpPr/>
          <p:nvPr/>
        </p:nvSpPr>
        <p:spPr>
          <a:xfrm>
            <a:off x="1856232" y="4512617"/>
            <a:ext cx="86868" cy="86868"/>
          </a:xfrm>
          <a:prstGeom prst="ellipse">
            <a:avLst/>
          </a:prstGeom>
          <a:solidFill>
            <a:srgbClr val="3DD9FF"/>
          </a:solidFill>
          <a:ln w="12700">
            <a:solidFill>
              <a:srgbClr val="3DD9FF"/>
            </a:solidFill>
            <a:prstDash val="solid"/>
          </a:ln>
        </p:spPr>
        <p:txBody>
          <a:bodyPr/>
          <a:lstStyle/>
          <a:p>
            <a:endParaRPr lang="en-US"/>
          </a:p>
        </p:txBody>
      </p:sp>
      <p:sp>
        <p:nvSpPr>
          <p:cNvPr id="27" name="Text 25"/>
          <p:cNvSpPr/>
          <p:nvPr/>
        </p:nvSpPr>
        <p:spPr>
          <a:xfrm>
            <a:off x="2020824" y="4402889"/>
            <a:ext cx="3749040" cy="310896"/>
          </a:xfrm>
          <a:prstGeom prst="rect">
            <a:avLst/>
          </a:prstGeom>
          <a:noFill/>
          <a:ln/>
        </p:spPr>
        <p:txBody>
          <a:bodyPr wrap="square" lIns="0" tIns="0" rIns="0" bIns="0" rtlCol="0" anchor="ctr">
            <a:normAutofit/>
          </a:bodyPr>
          <a:lstStyle/>
          <a:p>
            <a:pPr marL="0" indent="0">
              <a:buNone/>
            </a:pPr>
            <a:r>
              <a:rPr lang="en-US" sz="1280" dirty="0">
                <a:solidFill>
                  <a:srgbClr val="DDE4F2"/>
                </a:solidFill>
              </a:rPr>
              <a:t>Read: đọc dữ liệu</a:t>
            </a:r>
            <a:endParaRPr lang="en-US" sz="1280" dirty="0"/>
          </a:p>
        </p:txBody>
      </p:sp>
      <p:sp>
        <p:nvSpPr>
          <p:cNvPr id="28" name="Shape 26"/>
          <p:cNvSpPr/>
          <p:nvPr/>
        </p:nvSpPr>
        <p:spPr>
          <a:xfrm>
            <a:off x="1856232" y="4942385"/>
            <a:ext cx="86868" cy="86868"/>
          </a:xfrm>
          <a:prstGeom prst="ellipse">
            <a:avLst/>
          </a:prstGeom>
          <a:solidFill>
            <a:srgbClr val="5B7CFF"/>
          </a:solidFill>
          <a:ln w="12700">
            <a:solidFill>
              <a:srgbClr val="5B7CFF"/>
            </a:solidFill>
            <a:prstDash val="solid"/>
          </a:ln>
        </p:spPr>
        <p:txBody>
          <a:bodyPr/>
          <a:lstStyle/>
          <a:p>
            <a:endParaRPr lang="en-US"/>
          </a:p>
        </p:txBody>
      </p:sp>
      <p:sp>
        <p:nvSpPr>
          <p:cNvPr id="29" name="Text 27"/>
          <p:cNvSpPr/>
          <p:nvPr/>
        </p:nvSpPr>
        <p:spPr>
          <a:xfrm>
            <a:off x="2020824" y="4832657"/>
            <a:ext cx="3749040" cy="310896"/>
          </a:xfrm>
          <a:prstGeom prst="rect">
            <a:avLst/>
          </a:prstGeom>
          <a:noFill/>
          <a:ln/>
        </p:spPr>
        <p:txBody>
          <a:bodyPr wrap="square" lIns="0" tIns="0" rIns="0" bIns="0" rtlCol="0" anchor="ctr">
            <a:normAutofit/>
          </a:bodyPr>
          <a:lstStyle/>
          <a:p>
            <a:pPr marL="0" indent="0">
              <a:buNone/>
            </a:pPr>
            <a:r>
              <a:rPr lang="en-US" sz="1280" dirty="0">
                <a:solidFill>
                  <a:srgbClr val="DDE4F2"/>
                </a:solidFill>
              </a:rPr>
              <a:t>Update: cập nhật dữ liệu</a:t>
            </a:r>
            <a:endParaRPr lang="en-US" sz="1280" dirty="0"/>
          </a:p>
        </p:txBody>
      </p:sp>
      <p:sp>
        <p:nvSpPr>
          <p:cNvPr id="30" name="Shape 28"/>
          <p:cNvSpPr/>
          <p:nvPr/>
        </p:nvSpPr>
        <p:spPr>
          <a:xfrm>
            <a:off x="1856232" y="5372153"/>
            <a:ext cx="86868" cy="86868"/>
          </a:xfrm>
          <a:prstGeom prst="ellipse">
            <a:avLst/>
          </a:prstGeom>
          <a:solidFill>
            <a:srgbClr val="FF6B7A"/>
          </a:solidFill>
          <a:ln w="12700">
            <a:solidFill>
              <a:srgbClr val="FF6B7A"/>
            </a:solidFill>
            <a:prstDash val="solid"/>
          </a:ln>
        </p:spPr>
        <p:txBody>
          <a:bodyPr/>
          <a:lstStyle/>
          <a:p>
            <a:endParaRPr lang="en-US"/>
          </a:p>
        </p:txBody>
      </p:sp>
      <p:sp>
        <p:nvSpPr>
          <p:cNvPr id="31" name="Text 29"/>
          <p:cNvSpPr/>
          <p:nvPr/>
        </p:nvSpPr>
        <p:spPr>
          <a:xfrm>
            <a:off x="2020824" y="5262425"/>
            <a:ext cx="3749040" cy="310896"/>
          </a:xfrm>
          <a:prstGeom prst="rect">
            <a:avLst/>
          </a:prstGeom>
          <a:noFill/>
          <a:ln/>
        </p:spPr>
        <p:txBody>
          <a:bodyPr wrap="square" lIns="0" tIns="0" rIns="0" bIns="0" rtlCol="0" anchor="ctr">
            <a:normAutofit/>
          </a:bodyPr>
          <a:lstStyle/>
          <a:p>
            <a:pPr marL="0" indent="0">
              <a:buNone/>
            </a:pPr>
            <a:r>
              <a:rPr lang="en-US" sz="1280" dirty="0">
                <a:solidFill>
                  <a:srgbClr val="DDE4F2"/>
                </a:solidFill>
              </a:rPr>
              <a:t>Delete: xóa dữ liệu</a:t>
            </a:r>
            <a:endParaRPr lang="en-US" sz="1280" dirty="0"/>
          </a:p>
        </p:txBody>
      </p:sp>
      <p:sp>
        <p:nvSpPr>
          <p:cNvPr id="35"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14</a:t>
            </a:fld>
            <a:endParaRPr lang="en-US"/>
          </a:p>
        </p:txBody>
      </p:sp>
      <p:pic>
        <p:nvPicPr>
          <p:cNvPr id="36" name="Hình ảnh 35" descr="Add a Blog to your website using Firebase Firestore. (part 1/2) | by Roy  Levy | Medium">
            <a:extLst>
              <a:ext uri="{FF2B5EF4-FFF2-40B4-BE49-F238E27FC236}">
                <a16:creationId xmlns:a16="http://schemas.microsoft.com/office/drawing/2014/main" id="{699A66C1-76EB-5343-2D31-19F21D7DD0E2}"/>
              </a:ext>
            </a:extLst>
          </p:cNvPr>
          <p:cNvPicPr>
            <a:picLocks noChangeAspect="1"/>
          </p:cNvPicPr>
          <p:nvPr/>
        </p:nvPicPr>
        <p:blipFill>
          <a:blip r:embed="rId3"/>
          <a:stretch>
            <a:fillRect/>
          </a:stretch>
        </p:blipFill>
        <p:spPr>
          <a:xfrm>
            <a:off x="5769864" y="3397049"/>
            <a:ext cx="4568326" cy="26033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21F5-F895-05EF-57C2-697BD5ACC8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88EE280-ED74-D347-BB42-AB2962616B7A}"/>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94B3690B-7281-3F19-3A33-E2A6A11C8306}"/>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6DCF5F17-3C7A-4C08-42EB-CB2ECCC20C8F}"/>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B4DD9395-A57E-FAD8-48BF-5BCC65D7CF7E}"/>
              </a:ext>
            </a:extLst>
          </p:cNvPr>
          <p:cNvSpPr/>
          <p:nvPr/>
        </p:nvSpPr>
        <p:spPr>
          <a:xfrm>
            <a:off x="530352" y="1721612"/>
            <a:ext cx="4773168" cy="5461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a:p>
        </p:txBody>
      </p:sp>
      <p:sp>
        <p:nvSpPr>
          <p:cNvPr id="6" name="Text 4">
            <a:extLst>
              <a:ext uri="{FF2B5EF4-FFF2-40B4-BE49-F238E27FC236}">
                <a16:creationId xmlns:a16="http://schemas.microsoft.com/office/drawing/2014/main" id="{00D0F8E6-1C67-7A7B-1ADE-55347D5E3DC6}"/>
              </a:ext>
            </a:extLst>
          </p:cNvPr>
          <p:cNvSpPr/>
          <p:nvPr/>
        </p:nvSpPr>
        <p:spPr>
          <a:xfrm>
            <a:off x="1819656" y="1850898"/>
            <a:ext cx="2194560" cy="274320"/>
          </a:xfrm>
          <a:prstGeom prst="rect">
            <a:avLst/>
          </a:prstGeom>
          <a:noFill/>
          <a:ln/>
        </p:spPr>
        <p:txBody>
          <a:bodyPr wrap="square" lIns="0" tIns="0" rIns="0" bIns="0" rtlCol="0" anchor="ctr"/>
          <a:lstStyle/>
          <a:p>
            <a:pPr marL="0" indent="0">
              <a:buNone/>
            </a:pPr>
            <a:r>
              <a:rPr lang="en-US" sz="1600" b="1" dirty="0">
                <a:solidFill>
                  <a:srgbClr val="F7F9FC"/>
                </a:solidFill>
              </a:rPr>
              <a:t>1. Khởi tạo Firebase</a:t>
            </a:r>
            <a:endParaRPr lang="en-US" sz="1600" dirty="0"/>
          </a:p>
        </p:txBody>
      </p:sp>
      <p:sp>
        <p:nvSpPr>
          <p:cNvPr id="35" name="Slide Number Placeholder 0">
            <a:extLst>
              <a:ext uri="{FF2B5EF4-FFF2-40B4-BE49-F238E27FC236}">
                <a16:creationId xmlns:a16="http://schemas.microsoft.com/office/drawing/2014/main" id="{1EF4A231-5F05-AFBF-3ABE-FCDA27EB566D}"/>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15</a:t>
            </a:fld>
            <a:endParaRPr lang="en-US"/>
          </a:p>
        </p:txBody>
      </p:sp>
      <p:pic>
        <p:nvPicPr>
          <p:cNvPr id="37" name="Hình ảnh 36">
            <a:extLst>
              <a:ext uri="{FF2B5EF4-FFF2-40B4-BE49-F238E27FC236}">
                <a16:creationId xmlns:a16="http://schemas.microsoft.com/office/drawing/2014/main" id="{2D23E873-9684-27BC-4976-D12865301781}"/>
              </a:ext>
            </a:extLst>
          </p:cNvPr>
          <p:cNvPicPr>
            <a:picLocks noChangeAspect="1"/>
          </p:cNvPicPr>
          <p:nvPr/>
        </p:nvPicPr>
        <p:blipFill>
          <a:blip r:embed="rId3"/>
          <a:srcRect r="24677"/>
          <a:stretch>
            <a:fillRect/>
          </a:stretch>
        </p:blipFill>
        <p:spPr>
          <a:xfrm>
            <a:off x="456184" y="3106420"/>
            <a:ext cx="6287516" cy="3316280"/>
          </a:xfrm>
          <a:prstGeom prst="rect">
            <a:avLst/>
          </a:prstGeom>
        </p:spPr>
      </p:pic>
      <p:pic>
        <p:nvPicPr>
          <p:cNvPr id="39" name="Hình ảnh 38">
            <a:extLst>
              <a:ext uri="{FF2B5EF4-FFF2-40B4-BE49-F238E27FC236}">
                <a16:creationId xmlns:a16="http://schemas.microsoft.com/office/drawing/2014/main" id="{602B590C-2BD1-2DD3-6086-D9980337E7F5}"/>
              </a:ext>
            </a:extLst>
          </p:cNvPr>
          <p:cNvPicPr>
            <a:picLocks noChangeAspect="1"/>
          </p:cNvPicPr>
          <p:nvPr/>
        </p:nvPicPr>
        <p:blipFill>
          <a:blip r:embed="rId4"/>
          <a:stretch>
            <a:fillRect/>
          </a:stretch>
        </p:blipFill>
        <p:spPr>
          <a:xfrm>
            <a:off x="6869085" y="3139863"/>
            <a:ext cx="4606635" cy="3296015"/>
          </a:xfrm>
          <a:prstGeom prst="rect">
            <a:avLst/>
          </a:prstGeom>
        </p:spPr>
      </p:pic>
    </p:spTree>
    <p:extLst>
      <p:ext uri="{BB962C8B-B14F-4D97-AF65-F5344CB8AC3E}">
        <p14:creationId xmlns:p14="http://schemas.microsoft.com/office/powerpoint/2010/main" val="4140237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360D8-E865-29E6-D3FD-DE1CEBC9B5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CBB28C-81E9-E437-FAA5-BFCB5A75AEA9}"/>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7C1A73F5-4AC4-A1F1-1BCE-3528F9F8C229}"/>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FE997BFB-EA2B-0C4F-8733-7EFF7E2705A5}"/>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35" name="Slide Number Placeholder 0">
            <a:extLst>
              <a:ext uri="{FF2B5EF4-FFF2-40B4-BE49-F238E27FC236}">
                <a16:creationId xmlns:a16="http://schemas.microsoft.com/office/drawing/2014/main" id="{F903782A-C576-FADA-264F-129AF05B9D72}"/>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16</a:t>
            </a:fld>
            <a:endParaRPr lang="en-US"/>
          </a:p>
        </p:txBody>
      </p:sp>
      <p:pic>
        <p:nvPicPr>
          <p:cNvPr id="10" name="Hình ảnh 9">
            <a:extLst>
              <a:ext uri="{FF2B5EF4-FFF2-40B4-BE49-F238E27FC236}">
                <a16:creationId xmlns:a16="http://schemas.microsoft.com/office/drawing/2014/main" id="{705A4098-1366-A42A-1816-3336C58693E3}"/>
              </a:ext>
            </a:extLst>
          </p:cNvPr>
          <p:cNvPicPr>
            <a:picLocks noChangeAspect="1"/>
          </p:cNvPicPr>
          <p:nvPr/>
        </p:nvPicPr>
        <p:blipFill>
          <a:blip r:embed="rId3"/>
          <a:stretch>
            <a:fillRect/>
          </a:stretch>
        </p:blipFill>
        <p:spPr>
          <a:xfrm>
            <a:off x="530352" y="3142996"/>
            <a:ext cx="3482848" cy="2706239"/>
          </a:xfrm>
          <a:prstGeom prst="rect">
            <a:avLst/>
          </a:prstGeom>
        </p:spPr>
      </p:pic>
      <p:pic>
        <p:nvPicPr>
          <p:cNvPr id="12" name="Hình ảnh 11">
            <a:extLst>
              <a:ext uri="{FF2B5EF4-FFF2-40B4-BE49-F238E27FC236}">
                <a16:creationId xmlns:a16="http://schemas.microsoft.com/office/drawing/2014/main" id="{E071D0E4-6B39-6477-30B7-DBAEBF408E76}"/>
              </a:ext>
            </a:extLst>
          </p:cNvPr>
          <p:cNvPicPr>
            <a:picLocks noChangeAspect="1"/>
          </p:cNvPicPr>
          <p:nvPr/>
        </p:nvPicPr>
        <p:blipFill>
          <a:blip r:embed="rId4"/>
          <a:stretch>
            <a:fillRect/>
          </a:stretch>
        </p:blipFill>
        <p:spPr>
          <a:xfrm>
            <a:off x="4013200" y="3124707"/>
            <a:ext cx="3806237" cy="2742815"/>
          </a:xfrm>
          <a:prstGeom prst="rect">
            <a:avLst/>
          </a:prstGeom>
        </p:spPr>
      </p:pic>
      <p:pic>
        <p:nvPicPr>
          <p:cNvPr id="14" name="Hình ảnh 13">
            <a:extLst>
              <a:ext uri="{FF2B5EF4-FFF2-40B4-BE49-F238E27FC236}">
                <a16:creationId xmlns:a16="http://schemas.microsoft.com/office/drawing/2014/main" id="{70D69837-6662-3628-A81E-FFF1B4F893FA}"/>
              </a:ext>
            </a:extLst>
          </p:cNvPr>
          <p:cNvPicPr>
            <a:picLocks noChangeAspect="1"/>
          </p:cNvPicPr>
          <p:nvPr/>
        </p:nvPicPr>
        <p:blipFill>
          <a:blip r:embed="rId5"/>
          <a:stretch>
            <a:fillRect/>
          </a:stretch>
        </p:blipFill>
        <p:spPr>
          <a:xfrm>
            <a:off x="7814357" y="3106420"/>
            <a:ext cx="3661363" cy="2837180"/>
          </a:xfrm>
          <a:prstGeom prst="rect">
            <a:avLst/>
          </a:prstGeom>
        </p:spPr>
      </p:pic>
      <p:sp>
        <p:nvSpPr>
          <p:cNvPr id="16" name="Shape 3">
            <a:extLst>
              <a:ext uri="{FF2B5EF4-FFF2-40B4-BE49-F238E27FC236}">
                <a16:creationId xmlns:a16="http://schemas.microsoft.com/office/drawing/2014/main" id="{35C4EF90-2E93-7952-AE2E-8000A3273D02}"/>
              </a:ext>
            </a:extLst>
          </p:cNvPr>
          <p:cNvSpPr/>
          <p:nvPr/>
        </p:nvSpPr>
        <p:spPr>
          <a:xfrm>
            <a:off x="530352" y="1721612"/>
            <a:ext cx="4773168" cy="5461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a:p>
        </p:txBody>
      </p:sp>
      <p:sp>
        <p:nvSpPr>
          <p:cNvPr id="18" name="Text 4">
            <a:extLst>
              <a:ext uri="{FF2B5EF4-FFF2-40B4-BE49-F238E27FC236}">
                <a16:creationId xmlns:a16="http://schemas.microsoft.com/office/drawing/2014/main" id="{8F3A6485-3358-0621-3D8C-28642AF1C0B3}"/>
              </a:ext>
            </a:extLst>
          </p:cNvPr>
          <p:cNvSpPr/>
          <p:nvPr/>
        </p:nvSpPr>
        <p:spPr>
          <a:xfrm>
            <a:off x="1819656" y="1850898"/>
            <a:ext cx="2194560" cy="274320"/>
          </a:xfrm>
          <a:prstGeom prst="rect">
            <a:avLst/>
          </a:prstGeom>
          <a:noFill/>
          <a:ln/>
        </p:spPr>
        <p:txBody>
          <a:bodyPr wrap="square" lIns="0" tIns="0" rIns="0" bIns="0" rtlCol="0" anchor="ctr"/>
          <a:lstStyle/>
          <a:p>
            <a:pPr marL="0" indent="0">
              <a:buNone/>
            </a:pPr>
            <a:r>
              <a:rPr lang="en-US" sz="1600" b="1" dirty="0">
                <a:solidFill>
                  <a:srgbClr val="F7F9FC"/>
                </a:solidFill>
              </a:rPr>
              <a:t>1. Khởi tạo Firebase</a:t>
            </a:r>
            <a:endParaRPr lang="en-US" sz="1600" dirty="0"/>
          </a:p>
        </p:txBody>
      </p:sp>
    </p:spTree>
    <p:extLst>
      <p:ext uri="{BB962C8B-B14F-4D97-AF65-F5344CB8AC3E}">
        <p14:creationId xmlns:p14="http://schemas.microsoft.com/office/powerpoint/2010/main" val="1595836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4966B-C1AE-BF90-9A99-10527C5D4A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F69CB2E-9F93-5D45-480C-CF0E3AE153D3}"/>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02B9D620-4CCB-B311-800C-FD2FCDE13B1E}"/>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9E61E8A0-3361-58F4-F093-B10DFD67BBA2}"/>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FBB1398A-D5F1-0AA7-DA43-7AD488D5E25C}"/>
              </a:ext>
            </a:extLst>
          </p:cNvPr>
          <p:cNvSpPr/>
          <p:nvPr/>
        </p:nvSpPr>
        <p:spPr>
          <a:xfrm>
            <a:off x="530352" y="1783080"/>
            <a:ext cx="4773168" cy="5715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dirty="0"/>
          </a:p>
        </p:txBody>
      </p:sp>
      <p:sp>
        <p:nvSpPr>
          <p:cNvPr id="10" name="Text 8">
            <a:extLst>
              <a:ext uri="{FF2B5EF4-FFF2-40B4-BE49-F238E27FC236}">
                <a16:creationId xmlns:a16="http://schemas.microsoft.com/office/drawing/2014/main" id="{44A9DC0D-6CDB-C826-3D39-55DF56A2F145}"/>
              </a:ext>
            </a:extLst>
          </p:cNvPr>
          <p:cNvSpPr/>
          <p:nvPr/>
        </p:nvSpPr>
        <p:spPr>
          <a:xfrm>
            <a:off x="2231136" y="1943100"/>
            <a:ext cx="1371600" cy="274320"/>
          </a:xfrm>
          <a:prstGeom prst="rect">
            <a:avLst/>
          </a:prstGeom>
          <a:noFill/>
          <a:ln/>
        </p:spPr>
        <p:txBody>
          <a:bodyPr wrap="square" lIns="0" tIns="0" rIns="0" bIns="0" rtlCol="0" anchor="ctr"/>
          <a:lstStyle/>
          <a:p>
            <a:pPr marL="0" indent="0">
              <a:buNone/>
            </a:pPr>
            <a:r>
              <a:rPr lang="en-US" sz="1600" b="1" dirty="0">
                <a:solidFill>
                  <a:srgbClr val="F7F9FC"/>
                </a:solidFill>
              </a:rPr>
              <a:t>2. </a:t>
            </a:r>
            <a:r>
              <a:rPr lang="vi-VN" sz="1600" b="1" dirty="0">
                <a:solidFill>
                  <a:srgbClr val="F7F9FC"/>
                </a:solidFill>
              </a:rPr>
              <a:t>Cấu hình</a:t>
            </a:r>
            <a:endParaRPr lang="en-US" sz="1600" dirty="0"/>
          </a:p>
        </p:txBody>
      </p:sp>
      <p:sp>
        <p:nvSpPr>
          <p:cNvPr id="35" name="Slide Number Placeholder 0">
            <a:extLst>
              <a:ext uri="{FF2B5EF4-FFF2-40B4-BE49-F238E27FC236}">
                <a16:creationId xmlns:a16="http://schemas.microsoft.com/office/drawing/2014/main" id="{EB6B6B72-80CE-CCD8-37F3-F18E921FF853}"/>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17</a:t>
            </a:fld>
            <a:endParaRPr lang="en-US"/>
          </a:p>
        </p:txBody>
      </p:sp>
      <p:pic>
        <p:nvPicPr>
          <p:cNvPr id="37" name="Hình ảnh 36">
            <a:extLst>
              <a:ext uri="{FF2B5EF4-FFF2-40B4-BE49-F238E27FC236}">
                <a16:creationId xmlns:a16="http://schemas.microsoft.com/office/drawing/2014/main" id="{A95098CD-7213-32A7-028E-A1713C1991BB}"/>
              </a:ext>
            </a:extLst>
          </p:cNvPr>
          <p:cNvPicPr>
            <a:picLocks noChangeAspect="1"/>
          </p:cNvPicPr>
          <p:nvPr/>
        </p:nvPicPr>
        <p:blipFill>
          <a:blip r:embed="rId3"/>
          <a:srcRect r="20374"/>
          <a:stretch>
            <a:fillRect/>
          </a:stretch>
        </p:blipFill>
        <p:spPr>
          <a:xfrm>
            <a:off x="530353" y="2514600"/>
            <a:ext cx="5972048" cy="3646251"/>
          </a:xfrm>
          <a:prstGeom prst="rect">
            <a:avLst/>
          </a:prstGeom>
        </p:spPr>
      </p:pic>
      <p:pic>
        <p:nvPicPr>
          <p:cNvPr id="39" name="Hình ảnh 38">
            <a:extLst>
              <a:ext uri="{FF2B5EF4-FFF2-40B4-BE49-F238E27FC236}">
                <a16:creationId xmlns:a16="http://schemas.microsoft.com/office/drawing/2014/main" id="{C898F7DF-F46D-FA19-F877-672B19DAD558}"/>
              </a:ext>
            </a:extLst>
          </p:cNvPr>
          <p:cNvPicPr>
            <a:picLocks noChangeAspect="1"/>
          </p:cNvPicPr>
          <p:nvPr/>
        </p:nvPicPr>
        <p:blipFill>
          <a:blip r:embed="rId4"/>
          <a:stretch>
            <a:fillRect/>
          </a:stretch>
        </p:blipFill>
        <p:spPr>
          <a:xfrm>
            <a:off x="6706843" y="2514599"/>
            <a:ext cx="5146307" cy="3646251"/>
          </a:xfrm>
          <a:prstGeom prst="rect">
            <a:avLst/>
          </a:prstGeom>
        </p:spPr>
      </p:pic>
    </p:spTree>
    <p:extLst>
      <p:ext uri="{BB962C8B-B14F-4D97-AF65-F5344CB8AC3E}">
        <p14:creationId xmlns:p14="http://schemas.microsoft.com/office/powerpoint/2010/main" val="1489230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2C7DB-4B2A-1667-67AB-D07F86AE7AA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4FF309-DF9A-E8A4-C376-D5270A5DCA62}"/>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FBFD39A3-5E9E-8BAE-14A1-33F3A0306D87}"/>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3F7EFAC7-9253-C14D-7EBF-AE0E6D717457}"/>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90651DB8-91C8-7851-6269-7B8AAB0EA145}"/>
              </a:ext>
            </a:extLst>
          </p:cNvPr>
          <p:cNvSpPr/>
          <p:nvPr/>
        </p:nvSpPr>
        <p:spPr>
          <a:xfrm>
            <a:off x="530352" y="1783080"/>
            <a:ext cx="4773168" cy="5715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dirty="0"/>
          </a:p>
        </p:txBody>
      </p:sp>
      <p:sp>
        <p:nvSpPr>
          <p:cNvPr id="10" name="Text 8">
            <a:extLst>
              <a:ext uri="{FF2B5EF4-FFF2-40B4-BE49-F238E27FC236}">
                <a16:creationId xmlns:a16="http://schemas.microsoft.com/office/drawing/2014/main" id="{F9E40FD6-8898-45F7-F8CA-1EC7897F5555}"/>
              </a:ext>
            </a:extLst>
          </p:cNvPr>
          <p:cNvSpPr/>
          <p:nvPr/>
        </p:nvSpPr>
        <p:spPr>
          <a:xfrm>
            <a:off x="2231136" y="1943100"/>
            <a:ext cx="1371600" cy="274320"/>
          </a:xfrm>
          <a:prstGeom prst="rect">
            <a:avLst/>
          </a:prstGeom>
          <a:noFill/>
          <a:ln/>
        </p:spPr>
        <p:txBody>
          <a:bodyPr wrap="square" lIns="0" tIns="0" rIns="0" bIns="0" rtlCol="0" anchor="ctr"/>
          <a:lstStyle/>
          <a:p>
            <a:pPr marL="0" indent="0">
              <a:buNone/>
            </a:pPr>
            <a:r>
              <a:rPr lang="en-US" sz="1600" b="1" dirty="0">
                <a:solidFill>
                  <a:srgbClr val="F7F9FC"/>
                </a:solidFill>
              </a:rPr>
              <a:t>2. </a:t>
            </a:r>
            <a:r>
              <a:rPr lang="vi-VN" sz="1600" b="1" dirty="0">
                <a:solidFill>
                  <a:srgbClr val="F7F9FC"/>
                </a:solidFill>
              </a:rPr>
              <a:t>Cấu hình</a:t>
            </a:r>
            <a:endParaRPr lang="en-US" sz="1600" dirty="0"/>
          </a:p>
        </p:txBody>
      </p:sp>
      <p:sp>
        <p:nvSpPr>
          <p:cNvPr id="35" name="Slide Number Placeholder 0">
            <a:extLst>
              <a:ext uri="{FF2B5EF4-FFF2-40B4-BE49-F238E27FC236}">
                <a16:creationId xmlns:a16="http://schemas.microsoft.com/office/drawing/2014/main" id="{10265C31-5123-942E-033C-D518E09287D3}"/>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18</a:t>
            </a:fld>
            <a:endParaRPr lang="en-US"/>
          </a:p>
        </p:txBody>
      </p:sp>
      <p:pic>
        <p:nvPicPr>
          <p:cNvPr id="12" name="Hình ảnh 11">
            <a:extLst>
              <a:ext uri="{FF2B5EF4-FFF2-40B4-BE49-F238E27FC236}">
                <a16:creationId xmlns:a16="http://schemas.microsoft.com/office/drawing/2014/main" id="{DE0FF385-E965-49DE-33A1-61AA1D4A4A0F}"/>
              </a:ext>
            </a:extLst>
          </p:cNvPr>
          <p:cNvPicPr>
            <a:picLocks noChangeAspect="1"/>
          </p:cNvPicPr>
          <p:nvPr/>
        </p:nvPicPr>
        <p:blipFill>
          <a:blip r:embed="rId3"/>
          <a:stretch>
            <a:fillRect/>
          </a:stretch>
        </p:blipFill>
        <p:spPr>
          <a:xfrm>
            <a:off x="530352" y="2491740"/>
            <a:ext cx="4277422" cy="3641111"/>
          </a:xfrm>
          <a:prstGeom prst="rect">
            <a:avLst/>
          </a:prstGeom>
        </p:spPr>
      </p:pic>
      <p:grpSp>
        <p:nvGrpSpPr>
          <p:cNvPr id="17" name="Nhóm 16">
            <a:extLst>
              <a:ext uri="{FF2B5EF4-FFF2-40B4-BE49-F238E27FC236}">
                <a16:creationId xmlns:a16="http://schemas.microsoft.com/office/drawing/2014/main" id="{93140AD0-4B09-81CA-8E22-07857D9C1BCB}"/>
              </a:ext>
            </a:extLst>
          </p:cNvPr>
          <p:cNvGrpSpPr/>
          <p:nvPr/>
        </p:nvGrpSpPr>
        <p:grpSpPr>
          <a:xfrm>
            <a:off x="7568900" y="4914820"/>
            <a:ext cx="360" cy="360"/>
            <a:chOff x="7568900" y="4914820"/>
            <a:chExt cx="360" cy="360"/>
          </a:xfrm>
        </p:grpSpPr>
        <mc:AlternateContent xmlns:mc="http://schemas.openxmlformats.org/markup-compatibility/2006">
          <mc:Choice xmlns:p14="http://schemas.microsoft.com/office/powerpoint/2010/main" Requires="p14">
            <p:contentPart p14:bwMode="auto" r:id="rId4">
              <p14:nvContentPartPr>
                <p14:cNvPr id="14" name="Viết tay 13">
                  <a:extLst>
                    <a:ext uri="{FF2B5EF4-FFF2-40B4-BE49-F238E27FC236}">
                      <a16:creationId xmlns:a16="http://schemas.microsoft.com/office/drawing/2014/main" id="{83895906-58DD-C0F9-824D-6D9711173611}"/>
                    </a:ext>
                  </a:extLst>
                </p14:cNvPr>
                <p14:cNvContentPartPr/>
                <p14:nvPr/>
              </p14:nvContentPartPr>
              <p14:xfrm>
                <a:off x="7568900" y="4914820"/>
                <a:ext cx="360" cy="360"/>
              </p14:xfrm>
            </p:contentPart>
          </mc:Choice>
          <mc:Fallback>
            <p:pic>
              <p:nvPicPr>
                <p:cNvPr id="14" name="Viết tay 13">
                  <a:extLst>
                    <a:ext uri="{FF2B5EF4-FFF2-40B4-BE49-F238E27FC236}">
                      <a16:creationId xmlns:a16="http://schemas.microsoft.com/office/drawing/2014/main" id="{83895906-58DD-C0F9-824D-6D9711173611}"/>
                    </a:ext>
                  </a:extLst>
                </p:cNvPr>
                <p:cNvPicPr/>
                <p:nvPr/>
              </p:nvPicPr>
              <p:blipFill>
                <a:blip r:embed="rId5"/>
                <a:stretch>
                  <a:fillRect/>
                </a:stretch>
              </p:blipFill>
              <p:spPr>
                <a:xfrm>
                  <a:off x="7562780" y="490870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Viết tay 14">
                  <a:extLst>
                    <a:ext uri="{FF2B5EF4-FFF2-40B4-BE49-F238E27FC236}">
                      <a16:creationId xmlns:a16="http://schemas.microsoft.com/office/drawing/2014/main" id="{629C4AD2-1B06-315D-0809-802E89875807}"/>
                    </a:ext>
                  </a:extLst>
                </p14:cNvPr>
                <p14:cNvContentPartPr/>
                <p14:nvPr/>
              </p14:nvContentPartPr>
              <p14:xfrm>
                <a:off x="7568900" y="4914820"/>
                <a:ext cx="360" cy="360"/>
              </p14:xfrm>
            </p:contentPart>
          </mc:Choice>
          <mc:Fallback>
            <p:pic>
              <p:nvPicPr>
                <p:cNvPr id="15" name="Viết tay 14">
                  <a:extLst>
                    <a:ext uri="{FF2B5EF4-FFF2-40B4-BE49-F238E27FC236}">
                      <a16:creationId xmlns:a16="http://schemas.microsoft.com/office/drawing/2014/main" id="{629C4AD2-1B06-315D-0809-802E89875807}"/>
                    </a:ext>
                  </a:extLst>
                </p:cNvPr>
                <p:cNvPicPr/>
                <p:nvPr/>
              </p:nvPicPr>
              <p:blipFill>
                <a:blip r:embed="rId5"/>
                <a:stretch>
                  <a:fillRect/>
                </a:stretch>
              </p:blipFill>
              <p:spPr>
                <a:xfrm>
                  <a:off x="7562780" y="4908700"/>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16" name="Viết tay 15">
                <a:extLst>
                  <a:ext uri="{FF2B5EF4-FFF2-40B4-BE49-F238E27FC236}">
                    <a16:creationId xmlns:a16="http://schemas.microsoft.com/office/drawing/2014/main" id="{670737D7-122B-143F-6F75-87FF4FD42111}"/>
                  </a:ext>
                </a:extLst>
              </p14:cNvPr>
              <p14:cNvContentPartPr/>
              <p14:nvPr/>
            </p14:nvContentPartPr>
            <p14:xfrm>
              <a:off x="9570500" y="3136780"/>
              <a:ext cx="5400" cy="360"/>
            </p14:xfrm>
          </p:contentPart>
        </mc:Choice>
        <mc:Fallback>
          <p:pic>
            <p:nvPicPr>
              <p:cNvPr id="16" name="Viết tay 15">
                <a:extLst>
                  <a:ext uri="{FF2B5EF4-FFF2-40B4-BE49-F238E27FC236}">
                    <a16:creationId xmlns:a16="http://schemas.microsoft.com/office/drawing/2014/main" id="{670737D7-122B-143F-6F75-87FF4FD42111}"/>
                  </a:ext>
                </a:extLst>
              </p:cNvPr>
              <p:cNvPicPr/>
              <p:nvPr/>
            </p:nvPicPr>
            <p:blipFill>
              <a:blip r:embed="rId8"/>
              <a:stretch>
                <a:fillRect/>
              </a:stretch>
            </p:blipFill>
            <p:spPr>
              <a:xfrm>
                <a:off x="9564380" y="3130660"/>
                <a:ext cx="176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Viết tay 17">
                <a:extLst>
                  <a:ext uri="{FF2B5EF4-FFF2-40B4-BE49-F238E27FC236}">
                    <a16:creationId xmlns:a16="http://schemas.microsoft.com/office/drawing/2014/main" id="{D04B4567-B69D-45FC-1472-E3DEA477DC22}"/>
                  </a:ext>
                </a:extLst>
              </p14:cNvPr>
              <p14:cNvContentPartPr/>
              <p14:nvPr/>
            </p14:nvContentPartPr>
            <p14:xfrm>
              <a:off x="7695980" y="5447980"/>
              <a:ext cx="360" cy="360"/>
            </p14:xfrm>
          </p:contentPart>
        </mc:Choice>
        <mc:Fallback>
          <p:pic>
            <p:nvPicPr>
              <p:cNvPr id="18" name="Viết tay 17">
                <a:extLst>
                  <a:ext uri="{FF2B5EF4-FFF2-40B4-BE49-F238E27FC236}">
                    <a16:creationId xmlns:a16="http://schemas.microsoft.com/office/drawing/2014/main" id="{D04B4567-B69D-45FC-1472-E3DEA477DC22}"/>
                  </a:ext>
                </a:extLst>
              </p:cNvPr>
              <p:cNvPicPr/>
              <p:nvPr/>
            </p:nvPicPr>
            <p:blipFill>
              <a:blip r:embed="rId5"/>
              <a:stretch>
                <a:fillRect/>
              </a:stretch>
            </p:blipFill>
            <p:spPr>
              <a:xfrm>
                <a:off x="7689860" y="5441860"/>
                <a:ext cx="12600" cy="12600"/>
              </a:xfrm>
              <a:prstGeom prst="rect">
                <a:avLst/>
              </a:prstGeom>
            </p:spPr>
          </p:pic>
        </mc:Fallback>
      </mc:AlternateContent>
      <p:pic>
        <p:nvPicPr>
          <p:cNvPr id="20" name="Hình ảnh 19">
            <a:extLst>
              <a:ext uri="{FF2B5EF4-FFF2-40B4-BE49-F238E27FC236}">
                <a16:creationId xmlns:a16="http://schemas.microsoft.com/office/drawing/2014/main" id="{AA4B17C8-6FAE-EB78-9C2B-6C489A584B8A}"/>
              </a:ext>
            </a:extLst>
          </p:cNvPr>
          <p:cNvPicPr>
            <a:picLocks noChangeAspect="1"/>
          </p:cNvPicPr>
          <p:nvPr/>
        </p:nvPicPr>
        <p:blipFill>
          <a:blip r:embed="rId10"/>
          <a:stretch>
            <a:fillRect/>
          </a:stretch>
        </p:blipFill>
        <p:spPr>
          <a:xfrm>
            <a:off x="5513832" y="883854"/>
            <a:ext cx="4801270" cy="5496692"/>
          </a:xfrm>
          <a:prstGeom prst="rect">
            <a:avLst/>
          </a:prstGeom>
        </p:spPr>
      </p:pic>
      <p:sp>
        <p:nvSpPr>
          <p:cNvPr id="24" name="Text 8">
            <a:extLst>
              <a:ext uri="{FF2B5EF4-FFF2-40B4-BE49-F238E27FC236}">
                <a16:creationId xmlns:a16="http://schemas.microsoft.com/office/drawing/2014/main" id="{C196BC56-41E2-DDBC-B93F-B5EF0AE3AC72}"/>
              </a:ext>
            </a:extLst>
          </p:cNvPr>
          <p:cNvSpPr/>
          <p:nvPr/>
        </p:nvSpPr>
        <p:spPr>
          <a:xfrm>
            <a:off x="10452430" y="4325274"/>
            <a:ext cx="1739570" cy="602525"/>
          </a:xfrm>
          <a:prstGeom prst="rect">
            <a:avLst/>
          </a:prstGeom>
          <a:noFill/>
          <a:ln/>
        </p:spPr>
        <p:txBody>
          <a:bodyPr wrap="square" lIns="0" tIns="0" rIns="0" bIns="0" rtlCol="0" anchor="ctr"/>
          <a:lstStyle/>
          <a:p>
            <a:pPr marL="0" indent="0">
              <a:buNone/>
            </a:pPr>
            <a:r>
              <a:rPr lang="vi-VN" sz="1600" dirty="0">
                <a:solidFill>
                  <a:schemeClr val="bg1"/>
                </a:solidFill>
              </a:rPr>
              <a:t>Đoạn mã</a:t>
            </a:r>
            <a:br>
              <a:rPr lang="vi-VN" sz="1600" dirty="0">
                <a:solidFill>
                  <a:schemeClr val="bg1"/>
                </a:solidFill>
              </a:rPr>
            </a:br>
            <a:r>
              <a:rPr lang="vi-VN" sz="1600" dirty="0">
                <a:solidFill>
                  <a:schemeClr val="bg1"/>
                </a:solidFill>
              </a:rPr>
              <a:t>SKD liên kết</a:t>
            </a:r>
            <a:endParaRPr lang="en-US" sz="1600" dirty="0">
              <a:solidFill>
                <a:schemeClr val="bg1"/>
              </a:solidFill>
            </a:endParaRPr>
          </a:p>
        </p:txBody>
      </p:sp>
    </p:spTree>
    <p:extLst>
      <p:ext uri="{BB962C8B-B14F-4D97-AF65-F5344CB8AC3E}">
        <p14:creationId xmlns:p14="http://schemas.microsoft.com/office/powerpoint/2010/main" val="1052161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1C6CE-1B9F-5686-3449-06C8D97FB3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A27E13-F669-1A7B-2204-B80688C7FBAD}"/>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F37474B1-E2B8-DA9B-91FF-C1DCA9946111}"/>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D0327A89-A97A-36CA-B5E5-3243A14D7CBE}"/>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E1807D50-9735-2DD2-2E9E-AE9D8114F982}"/>
              </a:ext>
            </a:extLst>
          </p:cNvPr>
          <p:cNvSpPr/>
          <p:nvPr/>
        </p:nvSpPr>
        <p:spPr>
          <a:xfrm>
            <a:off x="530352" y="1783080"/>
            <a:ext cx="4773168" cy="5715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dirty="0"/>
          </a:p>
        </p:txBody>
      </p:sp>
      <p:sp>
        <p:nvSpPr>
          <p:cNvPr id="10" name="Text 8">
            <a:extLst>
              <a:ext uri="{FF2B5EF4-FFF2-40B4-BE49-F238E27FC236}">
                <a16:creationId xmlns:a16="http://schemas.microsoft.com/office/drawing/2014/main" id="{8DFCC57C-94F9-02C4-B145-0AFC996C320C}"/>
              </a:ext>
            </a:extLst>
          </p:cNvPr>
          <p:cNvSpPr/>
          <p:nvPr/>
        </p:nvSpPr>
        <p:spPr>
          <a:xfrm>
            <a:off x="2231136" y="1943100"/>
            <a:ext cx="1371600" cy="274320"/>
          </a:xfrm>
          <a:prstGeom prst="rect">
            <a:avLst/>
          </a:prstGeom>
          <a:noFill/>
          <a:ln/>
        </p:spPr>
        <p:txBody>
          <a:bodyPr wrap="square" lIns="0" tIns="0" rIns="0" bIns="0" rtlCol="0" anchor="ctr"/>
          <a:lstStyle/>
          <a:p>
            <a:pPr marL="0" indent="0">
              <a:buNone/>
            </a:pPr>
            <a:r>
              <a:rPr lang="en-US" sz="1600" b="1" dirty="0">
                <a:solidFill>
                  <a:srgbClr val="F7F9FC"/>
                </a:solidFill>
              </a:rPr>
              <a:t>2. </a:t>
            </a:r>
            <a:r>
              <a:rPr lang="vi-VN" sz="1600" b="1" dirty="0">
                <a:solidFill>
                  <a:srgbClr val="F7F9FC"/>
                </a:solidFill>
              </a:rPr>
              <a:t>Cấu hình</a:t>
            </a:r>
            <a:endParaRPr lang="en-US" sz="1600" dirty="0"/>
          </a:p>
        </p:txBody>
      </p:sp>
      <p:sp>
        <p:nvSpPr>
          <p:cNvPr id="35" name="Slide Number Placeholder 0">
            <a:extLst>
              <a:ext uri="{FF2B5EF4-FFF2-40B4-BE49-F238E27FC236}">
                <a16:creationId xmlns:a16="http://schemas.microsoft.com/office/drawing/2014/main" id="{C907089F-032D-502C-BC30-9CE82933A065}"/>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19</a:t>
            </a:fld>
            <a:endParaRPr lang="en-US"/>
          </a:p>
        </p:txBody>
      </p:sp>
      <p:pic>
        <p:nvPicPr>
          <p:cNvPr id="7" name="Hình ảnh 6">
            <a:extLst>
              <a:ext uri="{FF2B5EF4-FFF2-40B4-BE49-F238E27FC236}">
                <a16:creationId xmlns:a16="http://schemas.microsoft.com/office/drawing/2014/main" id="{3BA8E81B-BE6A-4AE5-D5D8-F5F48856EC2A}"/>
              </a:ext>
            </a:extLst>
          </p:cNvPr>
          <p:cNvPicPr>
            <a:picLocks noChangeAspect="1"/>
          </p:cNvPicPr>
          <p:nvPr/>
        </p:nvPicPr>
        <p:blipFill>
          <a:blip r:embed="rId3"/>
          <a:stretch>
            <a:fillRect/>
          </a:stretch>
        </p:blipFill>
        <p:spPr>
          <a:xfrm>
            <a:off x="530352" y="2739758"/>
            <a:ext cx="4562348" cy="3710041"/>
          </a:xfrm>
          <a:prstGeom prst="rect">
            <a:avLst/>
          </a:prstGeom>
        </p:spPr>
      </p:pic>
      <p:pic>
        <p:nvPicPr>
          <p:cNvPr id="9" name="Hình ảnh 8">
            <a:extLst>
              <a:ext uri="{FF2B5EF4-FFF2-40B4-BE49-F238E27FC236}">
                <a16:creationId xmlns:a16="http://schemas.microsoft.com/office/drawing/2014/main" id="{CED2BC6E-55F5-6D17-35CA-EFDB998A8315}"/>
              </a:ext>
            </a:extLst>
          </p:cNvPr>
          <p:cNvPicPr>
            <a:picLocks noChangeAspect="1"/>
          </p:cNvPicPr>
          <p:nvPr/>
        </p:nvPicPr>
        <p:blipFill>
          <a:blip r:embed="rId4"/>
          <a:stretch>
            <a:fillRect/>
          </a:stretch>
        </p:blipFill>
        <p:spPr>
          <a:xfrm>
            <a:off x="6096000" y="2730232"/>
            <a:ext cx="4921738" cy="3710041"/>
          </a:xfrm>
          <a:prstGeom prst="rect">
            <a:avLst/>
          </a:prstGeom>
        </p:spPr>
      </p:pic>
    </p:spTree>
    <p:extLst>
      <p:ext uri="{BB962C8B-B14F-4D97-AF65-F5344CB8AC3E}">
        <p14:creationId xmlns:p14="http://schemas.microsoft.com/office/powerpoint/2010/main" val="3088938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EFA94-FE4C-909F-DE6A-3A761D25AD3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8C0A7E-F1E8-3A1E-F158-E5A1A5B70951}"/>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5027FD6A-9CC0-2B9D-85A5-37C209DD97AC}"/>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CD45E653-FB2F-2F69-0ECB-8F7A91E002E2}"/>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E3E803E4-4847-7211-1A6B-98D6495374D7}"/>
              </a:ext>
            </a:extLst>
          </p:cNvPr>
          <p:cNvSpPr/>
          <p:nvPr/>
        </p:nvSpPr>
        <p:spPr>
          <a:xfrm>
            <a:off x="530352" y="1783080"/>
            <a:ext cx="4773168" cy="5715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dirty="0"/>
          </a:p>
        </p:txBody>
      </p:sp>
      <p:sp>
        <p:nvSpPr>
          <p:cNvPr id="10" name="Text 8">
            <a:extLst>
              <a:ext uri="{FF2B5EF4-FFF2-40B4-BE49-F238E27FC236}">
                <a16:creationId xmlns:a16="http://schemas.microsoft.com/office/drawing/2014/main" id="{A2F0E0C3-A73F-FA6E-23CC-BFD5270A781C}"/>
              </a:ext>
            </a:extLst>
          </p:cNvPr>
          <p:cNvSpPr/>
          <p:nvPr/>
        </p:nvSpPr>
        <p:spPr>
          <a:xfrm>
            <a:off x="2231136" y="1943100"/>
            <a:ext cx="1371600" cy="274320"/>
          </a:xfrm>
          <a:prstGeom prst="rect">
            <a:avLst/>
          </a:prstGeom>
          <a:noFill/>
          <a:ln/>
        </p:spPr>
        <p:txBody>
          <a:bodyPr wrap="square" lIns="0" tIns="0" rIns="0" bIns="0" rtlCol="0" anchor="ctr"/>
          <a:lstStyle/>
          <a:p>
            <a:pPr marL="0" indent="0">
              <a:buNone/>
            </a:pPr>
            <a:r>
              <a:rPr lang="en-US" sz="1600" b="1" dirty="0">
                <a:solidFill>
                  <a:srgbClr val="F7F9FC"/>
                </a:solidFill>
              </a:rPr>
              <a:t>2. </a:t>
            </a:r>
            <a:r>
              <a:rPr lang="vi-VN" sz="1600" b="1" dirty="0">
                <a:solidFill>
                  <a:srgbClr val="F7F9FC"/>
                </a:solidFill>
              </a:rPr>
              <a:t>Cấu hình</a:t>
            </a:r>
            <a:endParaRPr lang="en-US" sz="1600" dirty="0"/>
          </a:p>
        </p:txBody>
      </p:sp>
      <p:sp>
        <p:nvSpPr>
          <p:cNvPr id="35" name="Slide Number Placeholder 0">
            <a:extLst>
              <a:ext uri="{FF2B5EF4-FFF2-40B4-BE49-F238E27FC236}">
                <a16:creationId xmlns:a16="http://schemas.microsoft.com/office/drawing/2014/main" id="{27BADE37-A72A-AB25-4E69-54135190DDB0}"/>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20</a:t>
            </a:fld>
            <a:endParaRPr lang="en-US"/>
          </a:p>
        </p:txBody>
      </p:sp>
      <p:pic>
        <p:nvPicPr>
          <p:cNvPr id="8" name="Hình ảnh 7">
            <a:extLst>
              <a:ext uri="{FF2B5EF4-FFF2-40B4-BE49-F238E27FC236}">
                <a16:creationId xmlns:a16="http://schemas.microsoft.com/office/drawing/2014/main" id="{F42B61D0-30D3-AAD3-E4ED-E8DEF1C99803}"/>
              </a:ext>
            </a:extLst>
          </p:cNvPr>
          <p:cNvPicPr>
            <a:picLocks noChangeAspect="1"/>
          </p:cNvPicPr>
          <p:nvPr/>
        </p:nvPicPr>
        <p:blipFill>
          <a:blip r:embed="rId3"/>
          <a:srcRect r="12914"/>
          <a:stretch>
            <a:fillRect/>
          </a:stretch>
        </p:blipFill>
        <p:spPr>
          <a:xfrm>
            <a:off x="530352" y="2422385"/>
            <a:ext cx="4914958" cy="4051567"/>
          </a:xfrm>
          <a:prstGeom prst="rect">
            <a:avLst/>
          </a:prstGeom>
        </p:spPr>
      </p:pic>
      <p:pic>
        <p:nvPicPr>
          <p:cNvPr id="12" name="Hình ảnh 11">
            <a:extLst>
              <a:ext uri="{FF2B5EF4-FFF2-40B4-BE49-F238E27FC236}">
                <a16:creationId xmlns:a16="http://schemas.microsoft.com/office/drawing/2014/main" id="{2E76CBD7-40DB-31F1-DBF2-0594F91BD659}"/>
              </a:ext>
            </a:extLst>
          </p:cNvPr>
          <p:cNvPicPr>
            <a:picLocks noChangeAspect="1"/>
          </p:cNvPicPr>
          <p:nvPr/>
        </p:nvPicPr>
        <p:blipFill>
          <a:blip r:embed="rId4"/>
          <a:stretch>
            <a:fillRect/>
          </a:stretch>
        </p:blipFill>
        <p:spPr>
          <a:xfrm>
            <a:off x="5879592" y="2422385"/>
            <a:ext cx="4757742" cy="4033406"/>
          </a:xfrm>
          <a:prstGeom prst="rect">
            <a:avLst/>
          </a:prstGeom>
        </p:spPr>
      </p:pic>
    </p:spTree>
    <p:extLst>
      <p:ext uri="{BB962C8B-B14F-4D97-AF65-F5344CB8AC3E}">
        <p14:creationId xmlns:p14="http://schemas.microsoft.com/office/powerpoint/2010/main" val="3865821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E529D-1968-4025-E4DE-5F861ACA5B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1BF79B8-405F-0BF2-99FE-143EEF45F346}"/>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C3DCD27E-6D96-8594-92A8-9E5AA0E09A07}"/>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03673E3F-6BAB-D639-01F0-3A565D77D23B}"/>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9BA23B37-E840-797C-F3D3-9CEA7D8908DF}"/>
              </a:ext>
            </a:extLst>
          </p:cNvPr>
          <p:cNvSpPr/>
          <p:nvPr/>
        </p:nvSpPr>
        <p:spPr>
          <a:xfrm>
            <a:off x="530352" y="1783080"/>
            <a:ext cx="4773168" cy="5715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dirty="0"/>
          </a:p>
        </p:txBody>
      </p:sp>
      <p:sp>
        <p:nvSpPr>
          <p:cNvPr id="10" name="Text 8">
            <a:extLst>
              <a:ext uri="{FF2B5EF4-FFF2-40B4-BE49-F238E27FC236}">
                <a16:creationId xmlns:a16="http://schemas.microsoft.com/office/drawing/2014/main" id="{4A40AC5A-15AA-F513-5AC5-FD06BFAE1209}"/>
              </a:ext>
            </a:extLst>
          </p:cNvPr>
          <p:cNvSpPr/>
          <p:nvPr/>
        </p:nvSpPr>
        <p:spPr>
          <a:xfrm>
            <a:off x="2231136" y="1943100"/>
            <a:ext cx="1371600" cy="274320"/>
          </a:xfrm>
          <a:prstGeom prst="rect">
            <a:avLst/>
          </a:prstGeom>
          <a:noFill/>
          <a:ln/>
        </p:spPr>
        <p:txBody>
          <a:bodyPr wrap="square" lIns="0" tIns="0" rIns="0" bIns="0" rtlCol="0" anchor="ctr"/>
          <a:lstStyle/>
          <a:p>
            <a:pPr marL="0" indent="0">
              <a:buNone/>
            </a:pPr>
            <a:r>
              <a:rPr lang="en-US" sz="1600" b="1" dirty="0">
                <a:solidFill>
                  <a:srgbClr val="F7F9FC"/>
                </a:solidFill>
              </a:rPr>
              <a:t>2. </a:t>
            </a:r>
            <a:r>
              <a:rPr lang="vi-VN" sz="1600" b="1" dirty="0">
                <a:solidFill>
                  <a:srgbClr val="F7F9FC"/>
                </a:solidFill>
              </a:rPr>
              <a:t>Cấu hình</a:t>
            </a:r>
            <a:endParaRPr lang="en-US" sz="1600" dirty="0"/>
          </a:p>
        </p:txBody>
      </p:sp>
      <p:sp>
        <p:nvSpPr>
          <p:cNvPr id="35" name="Slide Number Placeholder 0">
            <a:extLst>
              <a:ext uri="{FF2B5EF4-FFF2-40B4-BE49-F238E27FC236}">
                <a16:creationId xmlns:a16="http://schemas.microsoft.com/office/drawing/2014/main" id="{A778A99C-F53B-0D9C-BA68-BF920410A29F}"/>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21</a:t>
            </a:fld>
            <a:endParaRPr lang="en-US"/>
          </a:p>
        </p:txBody>
      </p:sp>
      <p:pic>
        <p:nvPicPr>
          <p:cNvPr id="8" name="Hình ảnh 7">
            <a:extLst>
              <a:ext uri="{FF2B5EF4-FFF2-40B4-BE49-F238E27FC236}">
                <a16:creationId xmlns:a16="http://schemas.microsoft.com/office/drawing/2014/main" id="{BB31540F-DF81-789F-2806-B036E33278DD}"/>
              </a:ext>
            </a:extLst>
          </p:cNvPr>
          <p:cNvPicPr>
            <a:picLocks noChangeAspect="1"/>
          </p:cNvPicPr>
          <p:nvPr/>
        </p:nvPicPr>
        <p:blipFill>
          <a:blip r:embed="rId3"/>
          <a:stretch>
            <a:fillRect/>
          </a:stretch>
        </p:blipFill>
        <p:spPr>
          <a:xfrm>
            <a:off x="530352" y="2668249"/>
            <a:ext cx="4773168" cy="3795481"/>
          </a:xfrm>
          <a:prstGeom prst="rect">
            <a:avLst/>
          </a:prstGeom>
        </p:spPr>
      </p:pic>
      <p:pic>
        <p:nvPicPr>
          <p:cNvPr id="12" name="Hình ảnh 11">
            <a:extLst>
              <a:ext uri="{FF2B5EF4-FFF2-40B4-BE49-F238E27FC236}">
                <a16:creationId xmlns:a16="http://schemas.microsoft.com/office/drawing/2014/main" id="{7EB73D54-7718-F2E0-DA81-E9F864175665}"/>
              </a:ext>
            </a:extLst>
          </p:cNvPr>
          <p:cNvPicPr>
            <a:picLocks noChangeAspect="1"/>
          </p:cNvPicPr>
          <p:nvPr/>
        </p:nvPicPr>
        <p:blipFill>
          <a:blip r:embed="rId4"/>
          <a:stretch>
            <a:fillRect/>
          </a:stretch>
        </p:blipFill>
        <p:spPr>
          <a:xfrm>
            <a:off x="5513832" y="2668249"/>
            <a:ext cx="6557021" cy="3795481"/>
          </a:xfrm>
          <a:prstGeom prst="rect">
            <a:avLst/>
          </a:prstGeom>
        </p:spPr>
      </p:pic>
    </p:spTree>
    <p:extLst>
      <p:ext uri="{BB962C8B-B14F-4D97-AF65-F5344CB8AC3E}">
        <p14:creationId xmlns:p14="http://schemas.microsoft.com/office/powerpoint/2010/main" val="3682983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63F6-1553-030C-DA72-50397BE7B1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9986E8-E113-0725-9DE1-E18A3F03B10C}"/>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202F4B87-D6F5-1DD4-BC75-80DE7FEF0E98}"/>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6B067638-81E6-4CD7-5862-AA58AE851C2E}"/>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C032255B-36DD-E2F5-B8A4-59F60AE814E8}"/>
              </a:ext>
            </a:extLst>
          </p:cNvPr>
          <p:cNvSpPr/>
          <p:nvPr/>
        </p:nvSpPr>
        <p:spPr>
          <a:xfrm>
            <a:off x="530352" y="1783080"/>
            <a:ext cx="4773168" cy="5715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dirty="0"/>
          </a:p>
        </p:txBody>
      </p:sp>
      <p:sp>
        <p:nvSpPr>
          <p:cNvPr id="10" name="Text 8">
            <a:extLst>
              <a:ext uri="{FF2B5EF4-FFF2-40B4-BE49-F238E27FC236}">
                <a16:creationId xmlns:a16="http://schemas.microsoft.com/office/drawing/2014/main" id="{582ADAF8-CD86-CA0A-EE6D-0FF2246BF2C6}"/>
              </a:ext>
            </a:extLst>
          </p:cNvPr>
          <p:cNvSpPr/>
          <p:nvPr/>
        </p:nvSpPr>
        <p:spPr>
          <a:xfrm>
            <a:off x="1345375" y="1910151"/>
            <a:ext cx="3143121" cy="274320"/>
          </a:xfrm>
          <a:prstGeom prst="rect">
            <a:avLst/>
          </a:prstGeom>
          <a:noFill/>
          <a:ln/>
        </p:spPr>
        <p:txBody>
          <a:bodyPr wrap="square" lIns="0" tIns="0" rIns="0" bIns="0" rtlCol="0" anchor="ctr"/>
          <a:lstStyle/>
          <a:p>
            <a:pPr marL="0" indent="0">
              <a:buNone/>
            </a:pPr>
            <a:r>
              <a:rPr lang="vi-VN" sz="1600" b="1" dirty="0">
                <a:solidFill>
                  <a:srgbClr val="F7F9FC"/>
                </a:solidFill>
              </a:rPr>
              <a:t>3.Thêm </a:t>
            </a:r>
            <a:r>
              <a:rPr lang="vi-VN" sz="1600" b="1" dirty="0" err="1">
                <a:solidFill>
                  <a:srgbClr val="F7F9FC"/>
                </a:solidFill>
              </a:rPr>
              <a:t>skd</a:t>
            </a:r>
            <a:r>
              <a:rPr lang="vi-VN" sz="1600" b="1" dirty="0">
                <a:solidFill>
                  <a:srgbClr val="F7F9FC"/>
                </a:solidFill>
              </a:rPr>
              <a:t> </a:t>
            </a:r>
            <a:r>
              <a:rPr lang="vi-VN" sz="1600" b="1" dirty="0" err="1">
                <a:solidFill>
                  <a:srgbClr val="F7F9FC"/>
                </a:solidFill>
              </a:rPr>
              <a:t>Firebase</a:t>
            </a:r>
            <a:r>
              <a:rPr lang="vi-VN" sz="1600" b="1" dirty="0">
                <a:solidFill>
                  <a:srgbClr val="F7F9FC"/>
                </a:solidFill>
              </a:rPr>
              <a:t> vào </a:t>
            </a:r>
            <a:r>
              <a:rPr lang="vi-VN" sz="1600" b="1" dirty="0" err="1">
                <a:solidFill>
                  <a:srgbClr val="F7F9FC"/>
                </a:solidFill>
              </a:rPr>
              <a:t>file</a:t>
            </a:r>
            <a:endParaRPr lang="en-US" sz="1600" dirty="0"/>
          </a:p>
        </p:txBody>
      </p:sp>
      <p:sp>
        <p:nvSpPr>
          <p:cNvPr id="35" name="Slide Number Placeholder 0">
            <a:extLst>
              <a:ext uri="{FF2B5EF4-FFF2-40B4-BE49-F238E27FC236}">
                <a16:creationId xmlns:a16="http://schemas.microsoft.com/office/drawing/2014/main" id="{18A53523-5DE9-76AB-C100-36843E40294B}"/>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22</a:t>
            </a:fld>
            <a:endParaRPr lang="en-US"/>
          </a:p>
        </p:txBody>
      </p:sp>
      <p:pic>
        <p:nvPicPr>
          <p:cNvPr id="7" name="Hình ảnh 6">
            <a:extLst>
              <a:ext uri="{FF2B5EF4-FFF2-40B4-BE49-F238E27FC236}">
                <a16:creationId xmlns:a16="http://schemas.microsoft.com/office/drawing/2014/main" id="{A4DD4759-CBBC-880F-C266-E25661CC78C8}"/>
              </a:ext>
            </a:extLst>
          </p:cNvPr>
          <p:cNvPicPr>
            <a:picLocks noChangeAspect="1"/>
          </p:cNvPicPr>
          <p:nvPr/>
        </p:nvPicPr>
        <p:blipFill>
          <a:blip r:embed="rId3"/>
          <a:stretch>
            <a:fillRect/>
          </a:stretch>
        </p:blipFill>
        <p:spPr>
          <a:xfrm>
            <a:off x="530352" y="2550231"/>
            <a:ext cx="4773168" cy="3594537"/>
          </a:xfrm>
          <a:prstGeom prst="rect">
            <a:avLst/>
          </a:prstGeom>
        </p:spPr>
      </p:pic>
      <p:pic>
        <p:nvPicPr>
          <p:cNvPr id="11" name="Hình ảnh 10">
            <a:extLst>
              <a:ext uri="{FF2B5EF4-FFF2-40B4-BE49-F238E27FC236}">
                <a16:creationId xmlns:a16="http://schemas.microsoft.com/office/drawing/2014/main" id="{6A3F4CB2-89A6-2802-EFAD-84C6A7C09374}"/>
              </a:ext>
            </a:extLst>
          </p:cNvPr>
          <p:cNvPicPr>
            <a:picLocks noChangeAspect="1"/>
          </p:cNvPicPr>
          <p:nvPr/>
        </p:nvPicPr>
        <p:blipFill>
          <a:blip r:embed="rId4"/>
          <a:stretch>
            <a:fillRect/>
          </a:stretch>
        </p:blipFill>
        <p:spPr>
          <a:xfrm>
            <a:off x="5645874" y="2550230"/>
            <a:ext cx="6015774" cy="3594537"/>
          </a:xfrm>
          <a:prstGeom prst="rect">
            <a:avLst/>
          </a:prstGeom>
        </p:spPr>
      </p:pic>
    </p:spTree>
    <p:extLst>
      <p:ext uri="{BB962C8B-B14F-4D97-AF65-F5344CB8AC3E}">
        <p14:creationId xmlns:p14="http://schemas.microsoft.com/office/powerpoint/2010/main" val="2642981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4F501-0545-B3DD-0964-79AEF504EB9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B75C33-F7B1-58F5-8665-00CC1A298AAB}"/>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E0E22B95-ABF5-4924-41CD-FDE35A4E2F6F}"/>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1CEAFC58-0BD4-C453-DC9E-C849EF4E52C8}"/>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371B098D-9AED-27FE-C9C0-9B48121EEF4B}"/>
              </a:ext>
            </a:extLst>
          </p:cNvPr>
          <p:cNvSpPr/>
          <p:nvPr/>
        </p:nvSpPr>
        <p:spPr>
          <a:xfrm>
            <a:off x="530352" y="1670247"/>
            <a:ext cx="4773168" cy="5715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dirty="0"/>
          </a:p>
        </p:txBody>
      </p:sp>
      <p:sp>
        <p:nvSpPr>
          <p:cNvPr id="10" name="Text 8">
            <a:extLst>
              <a:ext uri="{FF2B5EF4-FFF2-40B4-BE49-F238E27FC236}">
                <a16:creationId xmlns:a16="http://schemas.microsoft.com/office/drawing/2014/main" id="{A7F1B105-0720-A5CA-A4D1-CED18FF98ECD}"/>
              </a:ext>
            </a:extLst>
          </p:cNvPr>
          <p:cNvSpPr/>
          <p:nvPr/>
        </p:nvSpPr>
        <p:spPr>
          <a:xfrm>
            <a:off x="1241858" y="1818837"/>
            <a:ext cx="3350155" cy="274320"/>
          </a:xfrm>
          <a:prstGeom prst="rect">
            <a:avLst/>
          </a:prstGeom>
          <a:noFill/>
          <a:ln/>
        </p:spPr>
        <p:txBody>
          <a:bodyPr wrap="square" lIns="0" tIns="0" rIns="0" bIns="0" rtlCol="0" anchor="ctr"/>
          <a:lstStyle/>
          <a:p>
            <a:pPr marL="0" indent="0">
              <a:buNone/>
            </a:pPr>
            <a:r>
              <a:rPr lang="vi-VN" sz="1600" b="1" dirty="0">
                <a:solidFill>
                  <a:srgbClr val="F7F9FC"/>
                </a:solidFill>
              </a:rPr>
              <a:t>4</a:t>
            </a:r>
            <a:r>
              <a:rPr lang="en-US" sz="1600" b="1" dirty="0">
                <a:solidFill>
                  <a:srgbClr val="F7F9FC"/>
                </a:solidFill>
              </a:rPr>
              <a:t>. </a:t>
            </a:r>
            <a:r>
              <a:rPr lang="vi-VN" sz="1600" b="1" dirty="0">
                <a:solidFill>
                  <a:srgbClr val="F7F9FC"/>
                </a:solidFill>
              </a:rPr>
              <a:t>Cập nhật lại dự án trên </a:t>
            </a:r>
            <a:r>
              <a:rPr lang="vi-VN" sz="1600" b="1" dirty="0" err="1">
                <a:solidFill>
                  <a:srgbClr val="F7F9FC"/>
                </a:solidFill>
              </a:rPr>
              <a:t>github</a:t>
            </a:r>
            <a:endParaRPr lang="en-US" sz="1600" dirty="0"/>
          </a:p>
        </p:txBody>
      </p:sp>
      <p:sp>
        <p:nvSpPr>
          <p:cNvPr id="35" name="Slide Number Placeholder 0">
            <a:extLst>
              <a:ext uri="{FF2B5EF4-FFF2-40B4-BE49-F238E27FC236}">
                <a16:creationId xmlns:a16="http://schemas.microsoft.com/office/drawing/2014/main" id="{A46EB2A6-C2F8-6F30-79AE-A3DF437878C4}"/>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23</a:t>
            </a:fld>
            <a:endParaRPr lang="en-US"/>
          </a:p>
        </p:txBody>
      </p:sp>
      <p:pic>
        <p:nvPicPr>
          <p:cNvPr id="7" name="Hình ảnh 6">
            <a:extLst>
              <a:ext uri="{FF2B5EF4-FFF2-40B4-BE49-F238E27FC236}">
                <a16:creationId xmlns:a16="http://schemas.microsoft.com/office/drawing/2014/main" id="{33760636-C17B-985B-3C2A-E9BDDDB3CCC5}"/>
              </a:ext>
            </a:extLst>
          </p:cNvPr>
          <p:cNvPicPr>
            <a:picLocks noChangeAspect="1"/>
          </p:cNvPicPr>
          <p:nvPr/>
        </p:nvPicPr>
        <p:blipFill>
          <a:blip r:embed="rId3"/>
          <a:stretch>
            <a:fillRect/>
          </a:stretch>
        </p:blipFill>
        <p:spPr>
          <a:xfrm>
            <a:off x="530353" y="2747058"/>
            <a:ext cx="4773168" cy="3116157"/>
          </a:xfrm>
          <a:prstGeom prst="rect">
            <a:avLst/>
          </a:prstGeom>
        </p:spPr>
      </p:pic>
      <p:pic>
        <p:nvPicPr>
          <p:cNvPr id="11" name="Hình ảnh 10">
            <a:extLst>
              <a:ext uri="{FF2B5EF4-FFF2-40B4-BE49-F238E27FC236}">
                <a16:creationId xmlns:a16="http://schemas.microsoft.com/office/drawing/2014/main" id="{E917F219-E446-13CF-54FF-93C14F891C8F}"/>
              </a:ext>
            </a:extLst>
          </p:cNvPr>
          <p:cNvPicPr>
            <a:picLocks noChangeAspect="1"/>
          </p:cNvPicPr>
          <p:nvPr/>
        </p:nvPicPr>
        <p:blipFill>
          <a:blip r:embed="rId4"/>
          <a:stretch>
            <a:fillRect/>
          </a:stretch>
        </p:blipFill>
        <p:spPr>
          <a:xfrm>
            <a:off x="6319538" y="1617293"/>
            <a:ext cx="4523865" cy="4262453"/>
          </a:xfrm>
          <a:prstGeom prst="rect">
            <a:avLst/>
          </a:prstGeom>
        </p:spPr>
      </p:pic>
    </p:spTree>
    <p:extLst>
      <p:ext uri="{BB962C8B-B14F-4D97-AF65-F5344CB8AC3E}">
        <p14:creationId xmlns:p14="http://schemas.microsoft.com/office/powerpoint/2010/main" val="2624598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04566-04AF-AA35-5027-003873B17D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673778A-FD91-6732-9702-E56EA041B4C3}"/>
              </a:ext>
            </a:extLst>
          </p:cNvPr>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10 • KẾT NỐI DỮ LIỆU</a:t>
            </a:r>
            <a:endParaRPr lang="en-US" sz="1000" dirty="0"/>
          </a:p>
        </p:txBody>
      </p:sp>
      <p:sp>
        <p:nvSpPr>
          <p:cNvPr id="3" name="Text 1">
            <a:extLst>
              <a:ext uri="{FF2B5EF4-FFF2-40B4-BE49-F238E27FC236}">
                <a16:creationId xmlns:a16="http://schemas.microsoft.com/office/drawing/2014/main" id="{2295D286-777F-BC2B-F5D4-FBA91C3625F6}"/>
              </a:ext>
            </a:extLst>
          </p:cNvPr>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Website ↔ Firebase Firestore</a:t>
            </a:r>
            <a:endParaRPr lang="en-US" sz="2700" dirty="0"/>
          </a:p>
        </p:txBody>
      </p:sp>
      <p:sp>
        <p:nvSpPr>
          <p:cNvPr id="4" name="Text 2">
            <a:extLst>
              <a:ext uri="{FF2B5EF4-FFF2-40B4-BE49-F238E27FC236}">
                <a16:creationId xmlns:a16="http://schemas.microsoft.com/office/drawing/2014/main" id="{A34B7C78-5387-2CFE-F4EC-A0BBF00575F7}"/>
              </a:ext>
            </a:extLst>
          </p:cNvPr>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Ứng dụng dùng SDK để đọc và ghi dữ liệu lên Cloud.</a:t>
            </a:r>
            <a:endParaRPr lang="en-US" sz="1250" dirty="0"/>
          </a:p>
        </p:txBody>
      </p:sp>
      <p:sp>
        <p:nvSpPr>
          <p:cNvPr id="5" name="Shape 3">
            <a:extLst>
              <a:ext uri="{FF2B5EF4-FFF2-40B4-BE49-F238E27FC236}">
                <a16:creationId xmlns:a16="http://schemas.microsoft.com/office/drawing/2014/main" id="{B367D263-BDBF-7B8E-D0A2-63C905600782}"/>
              </a:ext>
            </a:extLst>
          </p:cNvPr>
          <p:cNvSpPr/>
          <p:nvPr/>
        </p:nvSpPr>
        <p:spPr>
          <a:xfrm>
            <a:off x="392330" y="1851493"/>
            <a:ext cx="4773168" cy="571500"/>
          </a:xfrm>
          <a:prstGeom prst="roundRect">
            <a:avLst>
              <a:gd name="adj" fmla="val 2727"/>
            </a:avLst>
          </a:prstGeom>
          <a:solidFill>
            <a:srgbClr val="141B2D"/>
          </a:solidFill>
          <a:ln w="12700">
            <a:solidFill>
              <a:srgbClr val="2B3856"/>
            </a:solidFill>
            <a:prstDash val="solid"/>
          </a:ln>
          <a:effectLst>
            <a:outerShdw blurRad="25400" dist="12700" dir="2700000" algn="bl" rotWithShape="0">
              <a:srgbClr val="000000">
                <a:alpha val="18000"/>
              </a:srgbClr>
            </a:outerShdw>
          </a:effectLst>
        </p:spPr>
        <p:txBody>
          <a:bodyPr/>
          <a:lstStyle/>
          <a:p>
            <a:endParaRPr lang="en-US" dirty="0"/>
          </a:p>
        </p:txBody>
      </p:sp>
      <p:sp>
        <p:nvSpPr>
          <p:cNvPr id="10" name="Text 8">
            <a:extLst>
              <a:ext uri="{FF2B5EF4-FFF2-40B4-BE49-F238E27FC236}">
                <a16:creationId xmlns:a16="http://schemas.microsoft.com/office/drawing/2014/main" id="{F9922400-10AB-C0B6-B0E4-B2DDD85076F7}"/>
              </a:ext>
            </a:extLst>
          </p:cNvPr>
          <p:cNvSpPr/>
          <p:nvPr/>
        </p:nvSpPr>
        <p:spPr>
          <a:xfrm>
            <a:off x="2231136" y="1943100"/>
            <a:ext cx="1371600" cy="274320"/>
          </a:xfrm>
          <a:prstGeom prst="rect">
            <a:avLst/>
          </a:prstGeom>
          <a:noFill/>
          <a:ln/>
        </p:spPr>
        <p:txBody>
          <a:bodyPr wrap="square" lIns="0" tIns="0" rIns="0" bIns="0" rtlCol="0" anchor="ctr"/>
          <a:lstStyle/>
          <a:p>
            <a:pPr marL="0" indent="0">
              <a:buNone/>
            </a:pPr>
            <a:r>
              <a:rPr lang="vi-VN" sz="1600" b="1" dirty="0">
                <a:solidFill>
                  <a:srgbClr val="F7F9FC"/>
                </a:solidFill>
              </a:rPr>
              <a:t>Kiểm thử</a:t>
            </a:r>
            <a:endParaRPr lang="en-US" sz="1600" dirty="0"/>
          </a:p>
        </p:txBody>
      </p:sp>
      <p:sp>
        <p:nvSpPr>
          <p:cNvPr id="35" name="Slide Number Placeholder 0">
            <a:extLst>
              <a:ext uri="{FF2B5EF4-FFF2-40B4-BE49-F238E27FC236}">
                <a16:creationId xmlns:a16="http://schemas.microsoft.com/office/drawing/2014/main" id="{B12A50B6-4A74-47AE-628C-552E0BD1692C}"/>
              </a:ext>
            </a:extLst>
          </p:cNvPr>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24</a:t>
            </a:fld>
            <a:endParaRPr lang="en-US"/>
          </a:p>
        </p:txBody>
      </p:sp>
      <p:pic>
        <p:nvPicPr>
          <p:cNvPr id="7" name="Hình ảnh 6">
            <a:extLst>
              <a:ext uri="{FF2B5EF4-FFF2-40B4-BE49-F238E27FC236}">
                <a16:creationId xmlns:a16="http://schemas.microsoft.com/office/drawing/2014/main" id="{53E51DE5-B636-0DFE-C7C8-95E5DCA28BE4}"/>
              </a:ext>
            </a:extLst>
          </p:cNvPr>
          <p:cNvPicPr>
            <a:picLocks noChangeAspect="1"/>
          </p:cNvPicPr>
          <p:nvPr/>
        </p:nvPicPr>
        <p:blipFill>
          <a:blip r:embed="rId3"/>
          <a:stretch>
            <a:fillRect/>
          </a:stretch>
        </p:blipFill>
        <p:spPr>
          <a:xfrm>
            <a:off x="359377" y="2628566"/>
            <a:ext cx="5736623" cy="3579963"/>
          </a:xfrm>
          <a:prstGeom prst="rect">
            <a:avLst/>
          </a:prstGeom>
        </p:spPr>
      </p:pic>
      <p:pic>
        <p:nvPicPr>
          <p:cNvPr id="11" name="Hình ảnh 10">
            <a:extLst>
              <a:ext uri="{FF2B5EF4-FFF2-40B4-BE49-F238E27FC236}">
                <a16:creationId xmlns:a16="http://schemas.microsoft.com/office/drawing/2014/main" id="{DA4F00E5-2040-8791-EDE3-E5BDB248B5AE}"/>
              </a:ext>
            </a:extLst>
          </p:cNvPr>
          <p:cNvPicPr>
            <a:picLocks noChangeAspect="1"/>
          </p:cNvPicPr>
          <p:nvPr/>
        </p:nvPicPr>
        <p:blipFill>
          <a:blip r:embed="rId4"/>
          <a:stretch>
            <a:fillRect/>
          </a:stretch>
        </p:blipFill>
        <p:spPr>
          <a:xfrm>
            <a:off x="6465290" y="1774347"/>
            <a:ext cx="5010430" cy="4434182"/>
          </a:xfrm>
          <a:prstGeom prst="rect">
            <a:avLst/>
          </a:prstGeom>
        </p:spPr>
      </p:pic>
      <p:sp>
        <p:nvSpPr>
          <p:cNvPr id="14" name="Text 2">
            <a:extLst>
              <a:ext uri="{FF2B5EF4-FFF2-40B4-BE49-F238E27FC236}">
                <a16:creationId xmlns:a16="http://schemas.microsoft.com/office/drawing/2014/main" id="{EC0F4245-F77B-5AE3-3369-F0184E6FEC04}"/>
              </a:ext>
            </a:extLst>
          </p:cNvPr>
          <p:cNvSpPr/>
          <p:nvPr/>
        </p:nvSpPr>
        <p:spPr>
          <a:xfrm>
            <a:off x="1984345" y="6227064"/>
            <a:ext cx="2486685" cy="347472"/>
          </a:xfrm>
          <a:prstGeom prst="rect">
            <a:avLst/>
          </a:prstGeom>
          <a:noFill/>
          <a:ln/>
        </p:spPr>
        <p:txBody>
          <a:bodyPr wrap="square" lIns="0" tIns="0" rIns="0" bIns="0" rtlCol="0" anchor="ctr">
            <a:normAutofit/>
          </a:bodyPr>
          <a:lstStyle/>
          <a:p>
            <a:pPr marL="0" indent="0">
              <a:buNone/>
            </a:pPr>
            <a:r>
              <a:rPr lang="vi-VN" sz="1250" dirty="0" err="1">
                <a:solidFill>
                  <a:schemeClr val="bg1"/>
                </a:solidFill>
              </a:rPr>
              <a:t>Fire</a:t>
            </a:r>
            <a:r>
              <a:rPr lang="vi-VN" sz="1250" dirty="0">
                <a:solidFill>
                  <a:schemeClr val="bg1"/>
                </a:solidFill>
              </a:rPr>
              <a:t> </a:t>
            </a:r>
            <a:r>
              <a:rPr lang="vi-VN" sz="1250" dirty="0" err="1">
                <a:solidFill>
                  <a:schemeClr val="bg1"/>
                </a:solidFill>
              </a:rPr>
              <a:t>base</a:t>
            </a:r>
            <a:r>
              <a:rPr lang="vi-VN" sz="1250" dirty="0">
                <a:solidFill>
                  <a:schemeClr val="bg1"/>
                </a:solidFill>
              </a:rPr>
              <a:t> nhận dữ liệu từ </a:t>
            </a:r>
            <a:r>
              <a:rPr lang="vi-VN" sz="1250" dirty="0" err="1">
                <a:solidFill>
                  <a:schemeClr val="bg1"/>
                </a:solidFill>
              </a:rPr>
              <a:t>Vercel</a:t>
            </a:r>
            <a:r>
              <a:rPr lang="en-US" sz="1250" dirty="0">
                <a:solidFill>
                  <a:schemeClr val="bg1"/>
                </a:solidFill>
              </a:rPr>
              <a:t>.</a:t>
            </a:r>
          </a:p>
        </p:txBody>
      </p:sp>
      <p:sp>
        <p:nvSpPr>
          <p:cNvPr id="17" name="Text 2">
            <a:extLst>
              <a:ext uri="{FF2B5EF4-FFF2-40B4-BE49-F238E27FC236}">
                <a16:creationId xmlns:a16="http://schemas.microsoft.com/office/drawing/2014/main" id="{8889D955-DC72-DC02-43BD-559FDB6386C9}"/>
              </a:ext>
            </a:extLst>
          </p:cNvPr>
          <p:cNvSpPr/>
          <p:nvPr/>
        </p:nvSpPr>
        <p:spPr>
          <a:xfrm>
            <a:off x="8106724" y="6221773"/>
            <a:ext cx="2486685" cy="347472"/>
          </a:xfrm>
          <a:prstGeom prst="rect">
            <a:avLst/>
          </a:prstGeom>
          <a:noFill/>
          <a:ln/>
        </p:spPr>
        <p:txBody>
          <a:bodyPr wrap="square" lIns="0" tIns="0" rIns="0" bIns="0" rtlCol="0" anchor="ctr">
            <a:normAutofit/>
          </a:bodyPr>
          <a:lstStyle/>
          <a:p>
            <a:pPr marL="0" indent="0">
              <a:buNone/>
            </a:pPr>
            <a:r>
              <a:rPr lang="vi-VN" sz="1250" dirty="0">
                <a:solidFill>
                  <a:schemeClr val="bg1"/>
                </a:solidFill>
              </a:rPr>
              <a:t>Project hoạt động ổn định</a:t>
            </a:r>
            <a:endParaRPr lang="en-US" sz="1250" dirty="0">
              <a:solidFill>
                <a:schemeClr val="bg1"/>
              </a:solidFill>
            </a:endParaRPr>
          </a:p>
        </p:txBody>
      </p:sp>
    </p:spTree>
    <p:extLst>
      <p:ext uri="{BB962C8B-B14F-4D97-AF65-F5344CB8AC3E}">
        <p14:creationId xmlns:p14="http://schemas.microsoft.com/office/powerpoint/2010/main" val="3983737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384048"/>
            <a:ext cx="2926080" cy="256032"/>
          </a:xfrm>
          <a:prstGeom prst="rect">
            <a:avLst/>
          </a:prstGeom>
          <a:noFill/>
          <a:ln/>
        </p:spPr>
        <p:txBody>
          <a:bodyPr wrap="square" lIns="0" tIns="0" rIns="0" bIns="0" rtlCol="0" anchor="ctr"/>
          <a:lstStyle/>
          <a:p>
            <a:pPr marL="0" indent="0">
              <a:buNone/>
            </a:pPr>
            <a:r>
              <a:rPr lang="en-US" sz="1000" b="1" kern="0" spc="160" dirty="0">
                <a:solidFill>
                  <a:srgbClr val="3DD9FF"/>
                </a:solidFill>
              </a:rPr>
              <a:t>11 • TỔNG KẾT</a:t>
            </a:r>
            <a:endParaRPr lang="en-US" sz="1000" dirty="0"/>
          </a:p>
        </p:txBody>
      </p:sp>
      <p:sp>
        <p:nvSpPr>
          <p:cNvPr id="3" name="Text 1"/>
          <p:cNvSpPr/>
          <p:nvPr/>
        </p:nvSpPr>
        <p:spPr>
          <a:xfrm>
            <a:off x="530352" y="713232"/>
            <a:ext cx="9966960" cy="566928"/>
          </a:xfrm>
          <a:prstGeom prst="rect">
            <a:avLst/>
          </a:prstGeom>
          <a:noFill/>
          <a:ln/>
        </p:spPr>
        <p:txBody>
          <a:bodyPr wrap="square" lIns="0" tIns="0" rIns="0" bIns="0" rtlCol="0" anchor="ctr">
            <a:normAutofit/>
          </a:bodyPr>
          <a:lstStyle/>
          <a:p>
            <a:pPr marL="0" indent="0">
              <a:buNone/>
            </a:pPr>
            <a:r>
              <a:rPr lang="en-US" sz="2700" b="1" dirty="0">
                <a:solidFill>
                  <a:srgbClr val="F7F9FC"/>
                </a:solidFill>
              </a:rPr>
              <a:t>Từ Code → Cloud → Website</a:t>
            </a:r>
            <a:endParaRPr lang="en-US" sz="2700" dirty="0"/>
          </a:p>
        </p:txBody>
      </p:sp>
      <p:sp>
        <p:nvSpPr>
          <p:cNvPr id="4" name="Text 2"/>
          <p:cNvSpPr/>
          <p:nvPr/>
        </p:nvSpPr>
        <p:spPr>
          <a:xfrm>
            <a:off x="530352" y="1298448"/>
            <a:ext cx="10698480" cy="347472"/>
          </a:xfrm>
          <a:prstGeom prst="rect">
            <a:avLst/>
          </a:prstGeom>
          <a:noFill/>
          <a:ln/>
        </p:spPr>
        <p:txBody>
          <a:bodyPr wrap="square" lIns="0" tIns="0" rIns="0" bIns="0" rtlCol="0" anchor="ctr">
            <a:normAutofit/>
          </a:bodyPr>
          <a:lstStyle/>
          <a:p>
            <a:pPr marL="0" indent="0">
              <a:buNone/>
            </a:pPr>
            <a:r>
              <a:rPr lang="en-US" sz="1250" dirty="0">
                <a:solidFill>
                  <a:srgbClr val="9AA6BF"/>
                </a:solidFill>
              </a:rPr>
              <a:t>Ba dịch vụ ghép lại thành một quy trình triển khai đơn giản.</a:t>
            </a:r>
            <a:endParaRPr lang="en-US" sz="1250" dirty="0"/>
          </a:p>
        </p:txBody>
      </p:sp>
      <p:sp>
        <p:nvSpPr>
          <p:cNvPr id="5" name="Shape 3"/>
          <p:cNvSpPr/>
          <p:nvPr/>
        </p:nvSpPr>
        <p:spPr>
          <a:xfrm>
            <a:off x="658368" y="1993392"/>
            <a:ext cx="1965960" cy="1481328"/>
          </a:xfrm>
          <a:prstGeom prst="roundRect">
            <a:avLst>
              <a:gd name="adj" fmla="val 7407"/>
            </a:avLst>
          </a:prstGeom>
          <a:solidFill>
            <a:srgbClr val="19223A"/>
          </a:solidFill>
          <a:ln w="15240">
            <a:solidFill>
              <a:srgbClr val="2B3856"/>
            </a:solidFill>
            <a:prstDash val="solid"/>
          </a:ln>
        </p:spPr>
        <p:txBody>
          <a:bodyPr/>
          <a:lstStyle/>
          <a:p>
            <a:endParaRPr lang="en-US"/>
          </a:p>
        </p:txBody>
      </p:sp>
      <p:sp>
        <p:nvSpPr>
          <p:cNvPr id="6" name="Shape 4"/>
          <p:cNvSpPr/>
          <p:nvPr/>
        </p:nvSpPr>
        <p:spPr>
          <a:xfrm>
            <a:off x="822960" y="2194560"/>
            <a:ext cx="1636776" cy="274320"/>
          </a:xfrm>
          <a:prstGeom prst="roundRect">
            <a:avLst>
              <a:gd name="adj" fmla="val 40000"/>
            </a:avLst>
          </a:prstGeom>
          <a:solidFill>
            <a:srgbClr val="3DD9FF">
              <a:alpha val="16000"/>
            </a:srgbClr>
          </a:solidFill>
          <a:ln w="12700">
            <a:solidFill>
              <a:srgbClr val="3DD9FF">
                <a:alpha val="0"/>
              </a:srgbClr>
            </a:solidFill>
            <a:prstDash val="solid"/>
          </a:ln>
        </p:spPr>
        <p:txBody>
          <a:bodyPr/>
          <a:lstStyle/>
          <a:p>
            <a:endParaRPr lang="en-US"/>
          </a:p>
        </p:txBody>
      </p:sp>
      <p:sp>
        <p:nvSpPr>
          <p:cNvPr id="7" name="Text 5"/>
          <p:cNvSpPr/>
          <p:nvPr/>
        </p:nvSpPr>
        <p:spPr>
          <a:xfrm>
            <a:off x="822960" y="2240280"/>
            <a:ext cx="1636776" cy="146304"/>
          </a:xfrm>
          <a:prstGeom prst="rect">
            <a:avLst/>
          </a:prstGeom>
          <a:noFill/>
          <a:ln/>
        </p:spPr>
        <p:txBody>
          <a:bodyPr wrap="square" lIns="0" tIns="0" rIns="0" bIns="0" rtlCol="0" anchor="ctr"/>
          <a:lstStyle/>
          <a:p>
            <a:pPr marL="0" indent="0" algn="ctr">
              <a:buNone/>
            </a:pPr>
            <a:r>
              <a:rPr lang="en-US" sz="900" b="1" dirty="0">
                <a:solidFill>
                  <a:srgbClr val="3DD9FF"/>
                </a:solidFill>
              </a:rPr>
              <a:t>SOURCE</a:t>
            </a:r>
            <a:endParaRPr lang="en-US" sz="900" dirty="0"/>
          </a:p>
        </p:txBody>
      </p:sp>
      <p:sp>
        <p:nvSpPr>
          <p:cNvPr id="8" name="Text 6"/>
          <p:cNvSpPr/>
          <p:nvPr/>
        </p:nvSpPr>
        <p:spPr>
          <a:xfrm>
            <a:off x="768096" y="2606040"/>
            <a:ext cx="1746504" cy="274320"/>
          </a:xfrm>
          <a:prstGeom prst="rect">
            <a:avLst/>
          </a:prstGeom>
          <a:noFill/>
          <a:ln/>
        </p:spPr>
        <p:txBody>
          <a:bodyPr wrap="square" lIns="0" tIns="0" rIns="0" bIns="0" rtlCol="0" anchor="ctr"/>
          <a:lstStyle/>
          <a:p>
            <a:pPr marL="0" indent="0" algn="ctr">
              <a:buNone/>
            </a:pPr>
            <a:r>
              <a:rPr lang="en-US" sz="1600" b="1" dirty="0">
                <a:solidFill>
                  <a:srgbClr val="F7F9FC"/>
                </a:solidFill>
              </a:rPr>
              <a:t>💻 Code</a:t>
            </a:r>
            <a:endParaRPr lang="en-US" sz="1600" dirty="0"/>
          </a:p>
        </p:txBody>
      </p:sp>
      <p:sp>
        <p:nvSpPr>
          <p:cNvPr id="9" name="Text 7"/>
          <p:cNvSpPr/>
          <p:nvPr/>
        </p:nvSpPr>
        <p:spPr>
          <a:xfrm>
            <a:off x="768096" y="2926080"/>
            <a:ext cx="1746504" cy="219456"/>
          </a:xfrm>
          <a:prstGeom prst="rect">
            <a:avLst/>
          </a:prstGeom>
          <a:noFill/>
          <a:ln/>
        </p:spPr>
        <p:txBody>
          <a:bodyPr wrap="square" lIns="0" tIns="0" rIns="0" bIns="0" rtlCol="0" anchor="ctr">
            <a:normAutofit/>
          </a:bodyPr>
          <a:lstStyle/>
          <a:p>
            <a:pPr marL="0" indent="0" algn="ctr">
              <a:buNone/>
            </a:pPr>
            <a:r>
              <a:rPr lang="en-US" sz="1050" dirty="0">
                <a:solidFill>
                  <a:srgbClr val="9AA6BF"/>
                </a:solidFill>
              </a:rPr>
              <a:t>Project trên máy</a:t>
            </a:r>
            <a:endParaRPr lang="en-US" sz="1050" dirty="0"/>
          </a:p>
        </p:txBody>
      </p:sp>
      <p:sp>
        <p:nvSpPr>
          <p:cNvPr id="10" name="Shape 8"/>
          <p:cNvSpPr/>
          <p:nvPr/>
        </p:nvSpPr>
        <p:spPr>
          <a:xfrm>
            <a:off x="2670048" y="2734056"/>
            <a:ext cx="210312" cy="0"/>
          </a:xfrm>
          <a:prstGeom prst="line">
            <a:avLst/>
          </a:prstGeom>
          <a:noFill/>
          <a:ln w="25400">
            <a:solidFill>
              <a:srgbClr val="3DD9FF"/>
            </a:solidFill>
            <a:prstDash val="solid"/>
            <a:headEnd type="none"/>
            <a:tailEnd type="triangle"/>
          </a:ln>
        </p:spPr>
        <p:txBody>
          <a:bodyPr/>
          <a:lstStyle/>
          <a:p>
            <a:endParaRPr lang="en-US"/>
          </a:p>
        </p:txBody>
      </p:sp>
      <p:sp>
        <p:nvSpPr>
          <p:cNvPr id="11" name="Shape 9"/>
          <p:cNvSpPr/>
          <p:nvPr/>
        </p:nvSpPr>
        <p:spPr>
          <a:xfrm>
            <a:off x="2889504" y="1993392"/>
            <a:ext cx="1965960" cy="1481328"/>
          </a:xfrm>
          <a:prstGeom prst="roundRect">
            <a:avLst>
              <a:gd name="adj" fmla="val 7407"/>
            </a:avLst>
          </a:prstGeom>
          <a:solidFill>
            <a:srgbClr val="19223A"/>
          </a:solidFill>
          <a:ln w="15240">
            <a:solidFill>
              <a:srgbClr val="A77BFF"/>
            </a:solidFill>
            <a:prstDash val="solid"/>
          </a:ln>
        </p:spPr>
        <p:txBody>
          <a:bodyPr/>
          <a:lstStyle/>
          <a:p>
            <a:endParaRPr lang="en-US"/>
          </a:p>
        </p:txBody>
      </p:sp>
      <p:sp>
        <p:nvSpPr>
          <p:cNvPr id="12" name="Shape 10"/>
          <p:cNvSpPr/>
          <p:nvPr/>
        </p:nvSpPr>
        <p:spPr>
          <a:xfrm>
            <a:off x="3054096" y="2194560"/>
            <a:ext cx="1636776" cy="274320"/>
          </a:xfrm>
          <a:prstGeom prst="roundRect">
            <a:avLst>
              <a:gd name="adj" fmla="val 40000"/>
            </a:avLst>
          </a:prstGeom>
          <a:solidFill>
            <a:srgbClr val="A77BFF">
              <a:alpha val="16000"/>
            </a:srgbClr>
          </a:solidFill>
          <a:ln w="12700">
            <a:solidFill>
              <a:srgbClr val="A77BFF">
                <a:alpha val="0"/>
              </a:srgbClr>
            </a:solidFill>
            <a:prstDash val="solid"/>
          </a:ln>
        </p:spPr>
        <p:txBody>
          <a:bodyPr/>
          <a:lstStyle/>
          <a:p>
            <a:endParaRPr lang="en-US"/>
          </a:p>
        </p:txBody>
      </p:sp>
      <p:sp>
        <p:nvSpPr>
          <p:cNvPr id="13" name="Text 11"/>
          <p:cNvSpPr/>
          <p:nvPr/>
        </p:nvSpPr>
        <p:spPr>
          <a:xfrm>
            <a:off x="3054096" y="2240280"/>
            <a:ext cx="1636776" cy="146304"/>
          </a:xfrm>
          <a:prstGeom prst="rect">
            <a:avLst/>
          </a:prstGeom>
          <a:noFill/>
          <a:ln/>
        </p:spPr>
        <p:txBody>
          <a:bodyPr wrap="square" lIns="0" tIns="0" rIns="0" bIns="0" rtlCol="0" anchor="ctr"/>
          <a:lstStyle/>
          <a:p>
            <a:pPr marL="0" indent="0" algn="ctr">
              <a:buNone/>
            </a:pPr>
            <a:r>
              <a:rPr lang="en-US" sz="900" b="1" dirty="0">
                <a:solidFill>
                  <a:srgbClr val="A77BFF"/>
                </a:solidFill>
              </a:rPr>
              <a:t>REPOSITORY</a:t>
            </a:r>
            <a:endParaRPr lang="en-US" sz="900" dirty="0"/>
          </a:p>
        </p:txBody>
      </p:sp>
      <p:sp>
        <p:nvSpPr>
          <p:cNvPr id="14" name="Text 12"/>
          <p:cNvSpPr/>
          <p:nvPr/>
        </p:nvSpPr>
        <p:spPr>
          <a:xfrm>
            <a:off x="2999232" y="2606040"/>
            <a:ext cx="1746504" cy="274320"/>
          </a:xfrm>
          <a:prstGeom prst="rect">
            <a:avLst/>
          </a:prstGeom>
          <a:noFill/>
          <a:ln/>
        </p:spPr>
        <p:txBody>
          <a:bodyPr wrap="square" lIns="0" tIns="0" rIns="0" bIns="0" rtlCol="0" anchor="ctr"/>
          <a:lstStyle/>
          <a:p>
            <a:pPr marL="0" indent="0" algn="ctr">
              <a:buNone/>
            </a:pPr>
            <a:r>
              <a:rPr lang="en-US" sz="1600" b="1" dirty="0">
                <a:solidFill>
                  <a:srgbClr val="F7F9FC"/>
                </a:solidFill>
              </a:rPr>
              <a:t>🐙 GitHub</a:t>
            </a:r>
            <a:endParaRPr lang="en-US" sz="1600" dirty="0"/>
          </a:p>
        </p:txBody>
      </p:sp>
      <p:sp>
        <p:nvSpPr>
          <p:cNvPr id="15" name="Text 13"/>
          <p:cNvSpPr/>
          <p:nvPr/>
        </p:nvSpPr>
        <p:spPr>
          <a:xfrm>
            <a:off x="2999232" y="2926080"/>
            <a:ext cx="1746504" cy="219456"/>
          </a:xfrm>
          <a:prstGeom prst="rect">
            <a:avLst/>
          </a:prstGeom>
          <a:noFill/>
          <a:ln/>
        </p:spPr>
        <p:txBody>
          <a:bodyPr wrap="square" lIns="0" tIns="0" rIns="0" bIns="0" rtlCol="0" anchor="ctr">
            <a:normAutofit/>
          </a:bodyPr>
          <a:lstStyle/>
          <a:p>
            <a:pPr marL="0" indent="0" algn="ctr">
              <a:buNone/>
            </a:pPr>
            <a:r>
              <a:rPr lang="en-US" sz="1050" dirty="0">
                <a:solidFill>
                  <a:srgbClr val="9AA6BF"/>
                </a:solidFill>
              </a:rPr>
              <a:t>Lưu source code</a:t>
            </a:r>
            <a:endParaRPr lang="en-US" sz="1050" dirty="0"/>
          </a:p>
        </p:txBody>
      </p:sp>
      <p:sp>
        <p:nvSpPr>
          <p:cNvPr id="16" name="Shape 14"/>
          <p:cNvSpPr/>
          <p:nvPr/>
        </p:nvSpPr>
        <p:spPr>
          <a:xfrm>
            <a:off x="4901184" y="2734056"/>
            <a:ext cx="210312" cy="0"/>
          </a:xfrm>
          <a:prstGeom prst="line">
            <a:avLst/>
          </a:prstGeom>
          <a:noFill/>
          <a:ln w="25400">
            <a:solidFill>
              <a:srgbClr val="3DD9FF"/>
            </a:solidFill>
            <a:prstDash val="solid"/>
            <a:headEnd type="none"/>
            <a:tailEnd type="triangle"/>
          </a:ln>
        </p:spPr>
        <p:txBody>
          <a:bodyPr/>
          <a:lstStyle/>
          <a:p>
            <a:endParaRPr lang="en-US"/>
          </a:p>
        </p:txBody>
      </p:sp>
      <p:sp>
        <p:nvSpPr>
          <p:cNvPr id="17" name="Shape 15"/>
          <p:cNvSpPr/>
          <p:nvPr/>
        </p:nvSpPr>
        <p:spPr>
          <a:xfrm>
            <a:off x="5120640" y="1993392"/>
            <a:ext cx="1965960" cy="1481328"/>
          </a:xfrm>
          <a:prstGeom prst="roundRect">
            <a:avLst>
              <a:gd name="adj" fmla="val 7407"/>
            </a:avLst>
          </a:prstGeom>
          <a:solidFill>
            <a:srgbClr val="19223A"/>
          </a:solidFill>
          <a:ln w="15240">
            <a:solidFill>
              <a:srgbClr val="5B7CFF"/>
            </a:solidFill>
            <a:prstDash val="solid"/>
          </a:ln>
        </p:spPr>
        <p:txBody>
          <a:bodyPr/>
          <a:lstStyle/>
          <a:p>
            <a:endParaRPr lang="en-US"/>
          </a:p>
        </p:txBody>
      </p:sp>
      <p:sp>
        <p:nvSpPr>
          <p:cNvPr id="18" name="Shape 16"/>
          <p:cNvSpPr/>
          <p:nvPr/>
        </p:nvSpPr>
        <p:spPr>
          <a:xfrm>
            <a:off x="5285232" y="2194560"/>
            <a:ext cx="1636776" cy="274320"/>
          </a:xfrm>
          <a:prstGeom prst="roundRect">
            <a:avLst>
              <a:gd name="adj" fmla="val 40000"/>
            </a:avLst>
          </a:prstGeom>
          <a:solidFill>
            <a:srgbClr val="5B7CFF">
              <a:alpha val="16000"/>
            </a:srgbClr>
          </a:solidFill>
          <a:ln w="12700">
            <a:solidFill>
              <a:srgbClr val="5B7CFF">
                <a:alpha val="0"/>
              </a:srgbClr>
            </a:solidFill>
            <a:prstDash val="solid"/>
          </a:ln>
        </p:spPr>
        <p:txBody>
          <a:bodyPr/>
          <a:lstStyle/>
          <a:p>
            <a:endParaRPr lang="en-US"/>
          </a:p>
        </p:txBody>
      </p:sp>
      <p:sp>
        <p:nvSpPr>
          <p:cNvPr id="19" name="Text 17"/>
          <p:cNvSpPr/>
          <p:nvPr/>
        </p:nvSpPr>
        <p:spPr>
          <a:xfrm>
            <a:off x="5285232" y="2240280"/>
            <a:ext cx="1636776" cy="146304"/>
          </a:xfrm>
          <a:prstGeom prst="rect">
            <a:avLst/>
          </a:prstGeom>
          <a:noFill/>
          <a:ln/>
        </p:spPr>
        <p:txBody>
          <a:bodyPr wrap="square" lIns="0" tIns="0" rIns="0" bIns="0" rtlCol="0" anchor="ctr"/>
          <a:lstStyle/>
          <a:p>
            <a:pPr marL="0" indent="0" algn="ctr">
              <a:buNone/>
            </a:pPr>
            <a:r>
              <a:rPr lang="en-US" sz="900" b="1" dirty="0">
                <a:solidFill>
                  <a:srgbClr val="5B7CFF"/>
                </a:solidFill>
              </a:rPr>
              <a:t>HOSTING</a:t>
            </a:r>
            <a:endParaRPr lang="en-US" sz="900" dirty="0"/>
          </a:p>
        </p:txBody>
      </p:sp>
      <p:sp>
        <p:nvSpPr>
          <p:cNvPr id="20" name="Text 18"/>
          <p:cNvSpPr/>
          <p:nvPr/>
        </p:nvSpPr>
        <p:spPr>
          <a:xfrm>
            <a:off x="5230368" y="2606040"/>
            <a:ext cx="1746504" cy="274320"/>
          </a:xfrm>
          <a:prstGeom prst="rect">
            <a:avLst/>
          </a:prstGeom>
          <a:noFill/>
          <a:ln/>
        </p:spPr>
        <p:txBody>
          <a:bodyPr wrap="square" lIns="0" tIns="0" rIns="0" bIns="0" rtlCol="0" anchor="ctr"/>
          <a:lstStyle/>
          <a:p>
            <a:pPr marL="0" indent="0" algn="ctr">
              <a:buNone/>
            </a:pPr>
            <a:r>
              <a:rPr lang="en-US" sz="1600" b="1" dirty="0">
                <a:solidFill>
                  <a:srgbClr val="F7F9FC"/>
                </a:solidFill>
              </a:rPr>
              <a:t>▲ Vercel</a:t>
            </a:r>
            <a:endParaRPr lang="en-US" sz="1600" dirty="0"/>
          </a:p>
        </p:txBody>
      </p:sp>
      <p:sp>
        <p:nvSpPr>
          <p:cNvPr id="21" name="Text 19"/>
          <p:cNvSpPr/>
          <p:nvPr/>
        </p:nvSpPr>
        <p:spPr>
          <a:xfrm>
            <a:off x="5230368" y="2926080"/>
            <a:ext cx="1746504" cy="219456"/>
          </a:xfrm>
          <a:prstGeom prst="rect">
            <a:avLst/>
          </a:prstGeom>
          <a:noFill/>
          <a:ln/>
        </p:spPr>
        <p:txBody>
          <a:bodyPr wrap="square" lIns="0" tIns="0" rIns="0" bIns="0" rtlCol="0" anchor="ctr">
            <a:normAutofit/>
          </a:bodyPr>
          <a:lstStyle/>
          <a:p>
            <a:pPr marL="0" indent="0" algn="ctr">
              <a:buNone/>
            </a:pPr>
            <a:r>
              <a:rPr lang="en-US" sz="1050" dirty="0">
                <a:solidFill>
                  <a:srgbClr val="9AA6BF"/>
                </a:solidFill>
              </a:rPr>
              <a:t>Deploy website</a:t>
            </a:r>
            <a:endParaRPr lang="en-US" sz="1050" dirty="0"/>
          </a:p>
        </p:txBody>
      </p:sp>
      <p:sp>
        <p:nvSpPr>
          <p:cNvPr id="22" name="Shape 20"/>
          <p:cNvSpPr/>
          <p:nvPr/>
        </p:nvSpPr>
        <p:spPr>
          <a:xfrm>
            <a:off x="7132320" y="2734056"/>
            <a:ext cx="210312" cy="0"/>
          </a:xfrm>
          <a:prstGeom prst="line">
            <a:avLst/>
          </a:prstGeom>
          <a:noFill/>
          <a:ln w="25400">
            <a:solidFill>
              <a:srgbClr val="3DD9FF"/>
            </a:solidFill>
            <a:prstDash val="solid"/>
            <a:headEnd type="none"/>
            <a:tailEnd type="triangle"/>
          </a:ln>
        </p:spPr>
        <p:txBody>
          <a:bodyPr/>
          <a:lstStyle/>
          <a:p>
            <a:endParaRPr lang="en-US"/>
          </a:p>
        </p:txBody>
      </p:sp>
      <p:sp>
        <p:nvSpPr>
          <p:cNvPr id="23" name="Shape 21"/>
          <p:cNvSpPr/>
          <p:nvPr/>
        </p:nvSpPr>
        <p:spPr>
          <a:xfrm>
            <a:off x="7351776" y="1993392"/>
            <a:ext cx="1965960" cy="1481328"/>
          </a:xfrm>
          <a:prstGeom prst="roundRect">
            <a:avLst>
              <a:gd name="adj" fmla="val 7407"/>
            </a:avLst>
          </a:prstGeom>
          <a:solidFill>
            <a:srgbClr val="19223A"/>
          </a:solidFill>
          <a:ln w="15240">
            <a:solidFill>
              <a:srgbClr val="3DD9FF"/>
            </a:solidFill>
            <a:prstDash val="solid"/>
          </a:ln>
        </p:spPr>
        <p:txBody>
          <a:bodyPr/>
          <a:lstStyle/>
          <a:p>
            <a:endParaRPr lang="en-US"/>
          </a:p>
        </p:txBody>
      </p:sp>
      <p:sp>
        <p:nvSpPr>
          <p:cNvPr id="24" name="Shape 22"/>
          <p:cNvSpPr/>
          <p:nvPr/>
        </p:nvSpPr>
        <p:spPr>
          <a:xfrm>
            <a:off x="7516368" y="2194560"/>
            <a:ext cx="1636776" cy="274320"/>
          </a:xfrm>
          <a:prstGeom prst="roundRect">
            <a:avLst>
              <a:gd name="adj" fmla="val 40000"/>
            </a:avLst>
          </a:prstGeom>
          <a:solidFill>
            <a:srgbClr val="3DD9FF">
              <a:alpha val="16000"/>
            </a:srgbClr>
          </a:solidFill>
          <a:ln w="12700">
            <a:solidFill>
              <a:srgbClr val="3DD9FF">
                <a:alpha val="0"/>
              </a:srgbClr>
            </a:solidFill>
            <a:prstDash val="solid"/>
          </a:ln>
        </p:spPr>
        <p:txBody>
          <a:bodyPr/>
          <a:lstStyle/>
          <a:p>
            <a:endParaRPr lang="en-US"/>
          </a:p>
        </p:txBody>
      </p:sp>
      <p:sp>
        <p:nvSpPr>
          <p:cNvPr id="25" name="Text 23"/>
          <p:cNvSpPr/>
          <p:nvPr/>
        </p:nvSpPr>
        <p:spPr>
          <a:xfrm>
            <a:off x="7516368" y="2240280"/>
            <a:ext cx="1636776" cy="146304"/>
          </a:xfrm>
          <a:prstGeom prst="rect">
            <a:avLst/>
          </a:prstGeom>
          <a:noFill/>
          <a:ln/>
        </p:spPr>
        <p:txBody>
          <a:bodyPr wrap="square" lIns="0" tIns="0" rIns="0" bIns="0" rtlCol="0" anchor="ctr"/>
          <a:lstStyle/>
          <a:p>
            <a:pPr marL="0" indent="0" algn="ctr">
              <a:buNone/>
            </a:pPr>
            <a:r>
              <a:rPr lang="en-US" sz="900" b="1" dirty="0">
                <a:solidFill>
                  <a:srgbClr val="3DD9FF"/>
                </a:solidFill>
              </a:rPr>
              <a:t>APP</a:t>
            </a:r>
            <a:endParaRPr lang="en-US" sz="900" dirty="0"/>
          </a:p>
        </p:txBody>
      </p:sp>
      <p:sp>
        <p:nvSpPr>
          <p:cNvPr id="26" name="Text 24"/>
          <p:cNvSpPr/>
          <p:nvPr/>
        </p:nvSpPr>
        <p:spPr>
          <a:xfrm>
            <a:off x="7461504" y="2606040"/>
            <a:ext cx="1746504" cy="274320"/>
          </a:xfrm>
          <a:prstGeom prst="rect">
            <a:avLst/>
          </a:prstGeom>
          <a:noFill/>
          <a:ln/>
        </p:spPr>
        <p:txBody>
          <a:bodyPr wrap="square" lIns="0" tIns="0" rIns="0" bIns="0" rtlCol="0" anchor="ctr"/>
          <a:lstStyle/>
          <a:p>
            <a:pPr marL="0" indent="0" algn="ctr">
              <a:buNone/>
            </a:pPr>
            <a:r>
              <a:rPr lang="en-US" sz="1600" b="1" dirty="0">
                <a:solidFill>
                  <a:srgbClr val="F7F9FC"/>
                </a:solidFill>
              </a:rPr>
              <a:t>🌐 Website</a:t>
            </a:r>
            <a:endParaRPr lang="en-US" sz="1600" dirty="0"/>
          </a:p>
        </p:txBody>
      </p:sp>
      <p:sp>
        <p:nvSpPr>
          <p:cNvPr id="27" name="Text 25"/>
          <p:cNvSpPr/>
          <p:nvPr/>
        </p:nvSpPr>
        <p:spPr>
          <a:xfrm>
            <a:off x="7461504" y="2926080"/>
            <a:ext cx="1746504" cy="219456"/>
          </a:xfrm>
          <a:prstGeom prst="rect">
            <a:avLst/>
          </a:prstGeom>
          <a:noFill/>
          <a:ln/>
        </p:spPr>
        <p:txBody>
          <a:bodyPr wrap="square" lIns="0" tIns="0" rIns="0" bIns="0" rtlCol="0" anchor="ctr">
            <a:normAutofit/>
          </a:bodyPr>
          <a:lstStyle/>
          <a:p>
            <a:pPr marL="0" indent="0" algn="ctr">
              <a:buNone/>
            </a:pPr>
            <a:r>
              <a:rPr lang="en-US" sz="1050" dirty="0">
                <a:solidFill>
                  <a:srgbClr val="9AA6BF"/>
                </a:solidFill>
              </a:rPr>
              <a:t>Người dùng truy cập</a:t>
            </a:r>
            <a:endParaRPr lang="en-US" sz="1050" dirty="0"/>
          </a:p>
        </p:txBody>
      </p:sp>
      <p:sp>
        <p:nvSpPr>
          <p:cNvPr id="28" name="Shape 26"/>
          <p:cNvSpPr/>
          <p:nvPr/>
        </p:nvSpPr>
        <p:spPr>
          <a:xfrm>
            <a:off x="9363456" y="2734056"/>
            <a:ext cx="210312" cy="0"/>
          </a:xfrm>
          <a:prstGeom prst="line">
            <a:avLst/>
          </a:prstGeom>
          <a:noFill/>
          <a:ln w="25400">
            <a:solidFill>
              <a:srgbClr val="3DD9FF"/>
            </a:solidFill>
            <a:prstDash val="solid"/>
            <a:headEnd type="none"/>
            <a:tailEnd type="triangle"/>
          </a:ln>
        </p:spPr>
        <p:txBody>
          <a:bodyPr/>
          <a:lstStyle/>
          <a:p>
            <a:endParaRPr lang="en-US"/>
          </a:p>
        </p:txBody>
      </p:sp>
      <p:sp>
        <p:nvSpPr>
          <p:cNvPr id="29" name="Shape 27"/>
          <p:cNvSpPr/>
          <p:nvPr/>
        </p:nvSpPr>
        <p:spPr>
          <a:xfrm>
            <a:off x="9582912" y="1993392"/>
            <a:ext cx="1965960" cy="1481328"/>
          </a:xfrm>
          <a:prstGeom prst="roundRect">
            <a:avLst>
              <a:gd name="adj" fmla="val 7407"/>
            </a:avLst>
          </a:prstGeom>
          <a:solidFill>
            <a:srgbClr val="19223A"/>
          </a:solidFill>
          <a:ln w="15240">
            <a:solidFill>
              <a:srgbClr val="FF9E42"/>
            </a:solidFill>
            <a:prstDash val="solid"/>
          </a:ln>
        </p:spPr>
        <p:txBody>
          <a:bodyPr/>
          <a:lstStyle/>
          <a:p>
            <a:endParaRPr lang="en-US"/>
          </a:p>
        </p:txBody>
      </p:sp>
      <p:sp>
        <p:nvSpPr>
          <p:cNvPr id="30" name="Shape 28"/>
          <p:cNvSpPr/>
          <p:nvPr/>
        </p:nvSpPr>
        <p:spPr>
          <a:xfrm>
            <a:off x="9747504" y="2194560"/>
            <a:ext cx="1636776" cy="274320"/>
          </a:xfrm>
          <a:prstGeom prst="roundRect">
            <a:avLst>
              <a:gd name="adj" fmla="val 40000"/>
            </a:avLst>
          </a:prstGeom>
          <a:solidFill>
            <a:srgbClr val="FF9E42">
              <a:alpha val="16000"/>
            </a:srgbClr>
          </a:solidFill>
          <a:ln w="12700">
            <a:solidFill>
              <a:srgbClr val="FF9E42">
                <a:alpha val="0"/>
              </a:srgbClr>
            </a:solidFill>
            <a:prstDash val="solid"/>
          </a:ln>
        </p:spPr>
        <p:txBody>
          <a:bodyPr/>
          <a:lstStyle/>
          <a:p>
            <a:endParaRPr lang="en-US"/>
          </a:p>
        </p:txBody>
      </p:sp>
      <p:sp>
        <p:nvSpPr>
          <p:cNvPr id="31" name="Text 29"/>
          <p:cNvSpPr/>
          <p:nvPr/>
        </p:nvSpPr>
        <p:spPr>
          <a:xfrm>
            <a:off x="9747504" y="2240280"/>
            <a:ext cx="1636776" cy="146304"/>
          </a:xfrm>
          <a:prstGeom prst="rect">
            <a:avLst/>
          </a:prstGeom>
          <a:noFill/>
          <a:ln/>
        </p:spPr>
        <p:txBody>
          <a:bodyPr wrap="square" lIns="0" tIns="0" rIns="0" bIns="0" rtlCol="0" anchor="ctr"/>
          <a:lstStyle/>
          <a:p>
            <a:pPr marL="0" indent="0" algn="ctr">
              <a:buNone/>
            </a:pPr>
            <a:r>
              <a:rPr lang="en-US" sz="900" b="1" dirty="0">
                <a:solidFill>
                  <a:srgbClr val="FF9E42"/>
                </a:solidFill>
              </a:rPr>
              <a:t>DATABASE</a:t>
            </a:r>
            <a:endParaRPr lang="en-US" sz="900" dirty="0"/>
          </a:p>
        </p:txBody>
      </p:sp>
      <p:sp>
        <p:nvSpPr>
          <p:cNvPr id="32" name="Text 30"/>
          <p:cNvSpPr/>
          <p:nvPr/>
        </p:nvSpPr>
        <p:spPr>
          <a:xfrm>
            <a:off x="9692640" y="2606040"/>
            <a:ext cx="1746504" cy="274320"/>
          </a:xfrm>
          <a:prstGeom prst="rect">
            <a:avLst/>
          </a:prstGeom>
          <a:noFill/>
          <a:ln/>
        </p:spPr>
        <p:txBody>
          <a:bodyPr wrap="square" lIns="0" tIns="0" rIns="0" bIns="0" rtlCol="0" anchor="ctr"/>
          <a:lstStyle/>
          <a:p>
            <a:pPr marL="0" indent="0" algn="ctr">
              <a:buNone/>
            </a:pPr>
            <a:r>
              <a:rPr lang="en-US" sz="1600" b="1" dirty="0">
                <a:solidFill>
                  <a:srgbClr val="F7F9FC"/>
                </a:solidFill>
              </a:rPr>
              <a:t>🔥 Firebase</a:t>
            </a:r>
            <a:endParaRPr lang="en-US" sz="1600" dirty="0"/>
          </a:p>
        </p:txBody>
      </p:sp>
      <p:sp>
        <p:nvSpPr>
          <p:cNvPr id="33" name="Text 31"/>
          <p:cNvSpPr/>
          <p:nvPr/>
        </p:nvSpPr>
        <p:spPr>
          <a:xfrm>
            <a:off x="9692640" y="2926080"/>
            <a:ext cx="1746504" cy="219456"/>
          </a:xfrm>
          <a:prstGeom prst="rect">
            <a:avLst/>
          </a:prstGeom>
          <a:noFill/>
          <a:ln/>
        </p:spPr>
        <p:txBody>
          <a:bodyPr wrap="square" lIns="0" tIns="0" rIns="0" bIns="0" rtlCol="0" anchor="ctr">
            <a:normAutofit/>
          </a:bodyPr>
          <a:lstStyle/>
          <a:p>
            <a:pPr marL="0" indent="0" algn="ctr">
              <a:buNone/>
            </a:pPr>
            <a:r>
              <a:rPr lang="en-US" sz="1050" dirty="0">
                <a:solidFill>
                  <a:srgbClr val="9AA6BF"/>
                </a:solidFill>
              </a:rPr>
              <a:t>Firestore</a:t>
            </a:r>
            <a:endParaRPr lang="en-US" sz="1050" dirty="0"/>
          </a:p>
        </p:txBody>
      </p:sp>
      <p:sp>
        <p:nvSpPr>
          <p:cNvPr id="34" name="Shape 32"/>
          <p:cNvSpPr/>
          <p:nvPr/>
        </p:nvSpPr>
        <p:spPr>
          <a:xfrm>
            <a:off x="1115568" y="4041648"/>
            <a:ext cx="9966960" cy="1216152"/>
          </a:xfrm>
          <a:prstGeom prst="roundRect">
            <a:avLst>
              <a:gd name="adj" fmla="val 9023"/>
            </a:avLst>
          </a:prstGeom>
          <a:solidFill>
            <a:srgbClr val="10192C"/>
          </a:solidFill>
          <a:ln w="12700">
            <a:solidFill>
              <a:srgbClr val="273551"/>
            </a:solidFill>
            <a:prstDash val="solid"/>
          </a:ln>
        </p:spPr>
        <p:txBody>
          <a:bodyPr/>
          <a:lstStyle/>
          <a:p>
            <a:endParaRPr lang="en-US"/>
          </a:p>
        </p:txBody>
      </p:sp>
      <p:sp>
        <p:nvSpPr>
          <p:cNvPr id="35" name="Text 33"/>
          <p:cNvSpPr/>
          <p:nvPr/>
        </p:nvSpPr>
        <p:spPr>
          <a:xfrm>
            <a:off x="1444752" y="4352544"/>
            <a:ext cx="1508760" cy="256032"/>
          </a:xfrm>
          <a:prstGeom prst="rect">
            <a:avLst/>
          </a:prstGeom>
          <a:noFill/>
          <a:ln/>
        </p:spPr>
        <p:txBody>
          <a:bodyPr wrap="square" lIns="0" tIns="0" rIns="0" bIns="0" rtlCol="0" anchor="ctr"/>
          <a:lstStyle/>
          <a:p>
            <a:pPr marL="0" indent="0">
              <a:buNone/>
            </a:pPr>
            <a:r>
              <a:rPr lang="en-US" sz="1500" b="1" dirty="0">
                <a:solidFill>
                  <a:srgbClr val="F7F9FC"/>
                </a:solidFill>
              </a:rPr>
              <a:t>Điều đã đạt được</a:t>
            </a:r>
            <a:endParaRPr lang="en-US" sz="1500" dirty="0"/>
          </a:p>
        </p:txBody>
      </p:sp>
      <p:sp>
        <p:nvSpPr>
          <p:cNvPr id="36" name="Text 34"/>
          <p:cNvSpPr/>
          <p:nvPr/>
        </p:nvSpPr>
        <p:spPr>
          <a:xfrm>
            <a:off x="2999232" y="4325112"/>
            <a:ext cx="7635240" cy="292608"/>
          </a:xfrm>
          <a:prstGeom prst="rect">
            <a:avLst/>
          </a:prstGeom>
          <a:noFill/>
          <a:ln/>
        </p:spPr>
        <p:txBody>
          <a:bodyPr wrap="square" lIns="0" tIns="0" rIns="0" bIns="0" rtlCol="0" anchor="ctr">
            <a:normAutofit/>
          </a:bodyPr>
          <a:lstStyle/>
          <a:p>
            <a:pPr marL="0" indent="0">
              <a:buNone/>
            </a:pPr>
            <a:r>
              <a:rPr lang="en-US" sz="1400" dirty="0">
                <a:solidFill>
                  <a:srgbClr val="DDE4F2"/>
                </a:solidFill>
              </a:rPr>
              <a:t>✓ Lưu source code   ✓ Deploy website   ✓ Tự động cập nhật   ✓ Lưu dữ liệu trên Cloud</a:t>
            </a:r>
            <a:endParaRPr lang="en-US" sz="1400" dirty="0"/>
          </a:p>
        </p:txBody>
      </p:sp>
      <p:sp>
        <p:nvSpPr>
          <p:cNvPr id="37" name="Text 35"/>
          <p:cNvSpPr/>
          <p:nvPr/>
        </p:nvSpPr>
        <p:spPr>
          <a:xfrm>
            <a:off x="658368" y="5596128"/>
            <a:ext cx="3840480" cy="438912"/>
          </a:xfrm>
          <a:prstGeom prst="rect">
            <a:avLst/>
          </a:prstGeom>
          <a:noFill/>
          <a:ln/>
        </p:spPr>
        <p:txBody>
          <a:bodyPr wrap="square" lIns="0" tIns="0" rIns="0" bIns="0" rtlCol="0" anchor="ctr"/>
          <a:lstStyle/>
          <a:p>
            <a:pPr marL="0" indent="0">
              <a:buNone/>
            </a:pPr>
            <a:r>
              <a:rPr lang="en-US" sz="2200" b="1" dirty="0">
                <a:solidFill>
                  <a:srgbClr val="3DD9FF"/>
                </a:solidFill>
              </a:rPr>
              <a:t>THANK YOU</a:t>
            </a:r>
            <a:endParaRPr lang="en-US" sz="2200" dirty="0"/>
          </a:p>
        </p:txBody>
      </p:sp>
      <p:sp>
        <p:nvSpPr>
          <p:cNvPr id="38" name="Text 36"/>
          <p:cNvSpPr/>
          <p:nvPr/>
        </p:nvSpPr>
        <p:spPr>
          <a:xfrm>
            <a:off x="9875520" y="5577840"/>
            <a:ext cx="1371600" cy="457200"/>
          </a:xfrm>
          <a:prstGeom prst="rect">
            <a:avLst/>
          </a:prstGeom>
          <a:noFill/>
          <a:ln/>
        </p:spPr>
        <p:txBody>
          <a:bodyPr wrap="square" lIns="0" tIns="0" rIns="0" bIns="0" rtlCol="0" anchor="ctr"/>
          <a:lstStyle/>
          <a:p>
            <a:pPr marL="0" indent="0" algn="r">
              <a:buNone/>
            </a:pPr>
            <a:r>
              <a:rPr lang="en-US" sz="2400" b="1" dirty="0">
                <a:solidFill>
                  <a:srgbClr val="F7F9FC"/>
                </a:solidFill>
              </a:rPr>
              <a:t>Q&amp;A</a:t>
            </a:r>
            <a:endParaRPr lang="en-US" sz="2400" dirty="0"/>
          </a:p>
        </p:txBody>
      </p:sp>
      <p:sp>
        <p:nvSpPr>
          <p:cNvPr id="39" name="Slide Number Placeholder 0"/>
          <p:cNvSpPr>
            <a:spLocks noGrp="1"/>
          </p:cNvSpPr>
          <p:nvPr>
            <p:ph type="sldNum" sz="quarter" idx="4294967295"/>
          </p:nvPr>
        </p:nvSpPr>
        <p:spPr>
          <a:xfrm>
            <a:off x="11475720" y="657453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6809B"/>
                </a:solidFill>
                <a:latin typeface="Aptos"/>
                <a:ea typeface="Aptos"/>
                <a:cs typeface="Aptos"/>
              </a:defRPr>
            </a:lvl1pPr>
          </a:lstStyle>
          <a:p>
            <a:pPr algn="l"/>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3049</Words>
  <Application>Microsoft Office PowerPoint</Application>
  <PresentationFormat>Màn hình rộng</PresentationFormat>
  <Paragraphs>290</Paragraphs>
  <Slides>25</Slides>
  <Notes>25</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25</vt:i4>
      </vt:variant>
    </vt:vector>
  </HeadingPairs>
  <TitlesOfParts>
    <vt:vector size="28" baseType="lpstr">
      <vt:lpstr>Aptos</vt:lpstr>
      <vt:lpstr>Arial</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Triển khai Website trên nền tảng điện toán đám mây</dc:title>
  <dc:subject>Điện toán đám mây: GitHub, Vercel và Firebase</dc:subject>
  <dc:creator>OpenAI</dc:creator>
  <cp:lastModifiedBy>Bình Phạm</cp:lastModifiedBy>
  <cp:revision>2</cp:revision>
  <dcterms:created xsi:type="dcterms:W3CDTF">2026-09-27T12:54:51Z</dcterms:created>
  <dcterms:modified xsi:type="dcterms:W3CDTF">2026-09-27T17:55:47Z</dcterms:modified>
</cp:coreProperties>
</file>